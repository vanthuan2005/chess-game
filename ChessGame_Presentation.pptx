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44" autoAdjust="0"/>
    <p:restoredTop sz="94610"/>
  </p:normalViewPr>
  <p:slideViewPr>
    <p:cSldViewPr snapToGrid="0" snapToObjects="1">
      <p:cViewPr varScale="1">
        <p:scale>
          <a:sx n="82" d="100"/>
          <a:sy n="82" d="100"/>
        </p:scale>
        <p:origin x="66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516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025"/>
        </a:solidFill>
        <a:effectLst/>
      </p:bgPr>
    </p:bg>
    <p:spTree>
      <p:nvGrpSpPr>
        <p:cNvPr id="1" name=""/>
        <p:cNvGrpSpPr/>
        <p:nvPr/>
      </p:nvGrpSpPr>
      <p:grpSpPr>
        <a:xfrm>
          <a:off x="0" y="0"/>
          <a:ext cx="0" cy="0"/>
          <a:chOff x="0" y="0"/>
          <a:chExt cx="0" cy="0"/>
        </a:xfrm>
      </p:grpSpPr>
      <p:pic>
        <p:nvPicPr>
          <p:cNvPr id="2" name="Image 0" descr="/home/claude/unpacked/ppt/media/image3.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F2025">
              <a:alpha val="58000"/>
            </a:srgbClr>
          </a:solidFill>
          <a:ln/>
        </p:spPr>
        <p:txBody>
          <a:bodyPr/>
          <a:lstStyle/>
          <a:p>
            <a:endParaRPr lang="en-US"/>
          </a:p>
        </p:txBody>
      </p:sp>
      <p:sp>
        <p:nvSpPr>
          <p:cNvPr id="4" name="Text 1"/>
          <p:cNvSpPr txBox="1"/>
          <p:nvPr/>
        </p:nvSpPr>
        <p:spPr>
          <a:xfrm>
            <a:off x="822960" y="2148840"/>
            <a:ext cx="8229600" cy="365760"/>
          </a:xfrm>
          <a:prstGeom prst="rect">
            <a:avLst/>
          </a:prstGeom>
          <a:noFill/>
          <a:ln/>
        </p:spPr>
        <p:txBody>
          <a:bodyPr wrap="square" lIns="0" tIns="0" rIns="0" bIns="0" rtlCol="0" anchor="ctr"/>
          <a:lstStyle/>
          <a:p>
            <a:pPr marL="0" indent="0">
              <a:buNone/>
            </a:pPr>
            <a:endParaRPr lang="en-US" sz="1400" dirty="0"/>
          </a:p>
        </p:txBody>
      </p:sp>
      <p:sp>
        <p:nvSpPr>
          <p:cNvPr id="5" name="Text 2"/>
          <p:cNvSpPr txBox="1"/>
          <p:nvPr/>
        </p:nvSpPr>
        <p:spPr>
          <a:xfrm>
            <a:off x="777240" y="2514600"/>
            <a:ext cx="9601200" cy="1188720"/>
          </a:xfrm>
          <a:prstGeom prst="rect">
            <a:avLst/>
          </a:prstGeom>
          <a:noFill/>
          <a:ln/>
        </p:spPr>
        <p:txBody>
          <a:bodyPr wrap="square" lIns="0" tIns="0" rIns="0" bIns="0" rtlCol="0" anchor="ctr"/>
          <a:lstStyle/>
          <a:p>
            <a:pPr marL="0" indent="0">
              <a:buNone/>
            </a:pPr>
            <a:r>
              <a:rPr lang="en-US" sz="6200" b="1" dirty="0">
                <a:solidFill>
                  <a:srgbClr val="FFFFFF"/>
                </a:solidFill>
                <a:latin typeface="Cambria" pitchFamily="34" charset="0"/>
                <a:ea typeface="Cambria" pitchFamily="34" charset="-122"/>
                <a:cs typeface="Cambria" pitchFamily="34" charset="-120"/>
              </a:rPr>
              <a:t>Chess Game App</a:t>
            </a:r>
            <a:endParaRPr lang="en-US" sz="6200" dirty="0"/>
          </a:p>
        </p:txBody>
      </p:sp>
      <p:sp>
        <p:nvSpPr>
          <p:cNvPr id="6" name="Text 3"/>
          <p:cNvSpPr txBox="1"/>
          <p:nvPr/>
        </p:nvSpPr>
        <p:spPr>
          <a:xfrm>
            <a:off x="822960" y="3584448"/>
            <a:ext cx="8686800" cy="502920"/>
          </a:xfrm>
          <a:prstGeom prst="rect">
            <a:avLst/>
          </a:prstGeom>
          <a:noFill/>
          <a:ln/>
        </p:spPr>
        <p:txBody>
          <a:bodyPr wrap="square" lIns="0" tIns="0" rIns="0" bIns="0" rtlCol="0" anchor="ctr"/>
          <a:lstStyle/>
          <a:p>
            <a:pPr marL="0" indent="0">
              <a:buNone/>
            </a:pPr>
            <a:r>
              <a:rPr lang="en-US" sz="2000" dirty="0">
                <a:solidFill>
                  <a:srgbClr val="E4E6EA"/>
                </a:solidFill>
                <a:latin typeface="Calibri" pitchFamily="34" charset="0"/>
                <a:ea typeface="Calibri" pitchFamily="34" charset="-122"/>
                <a:cs typeface="Calibri" pitchFamily="34" charset="-120"/>
              </a:rPr>
              <a:t>Ứng dụng Cờ Vua trên nền tảng Android</a:t>
            </a:r>
            <a:endParaRPr lang="en-US" sz="2000" dirty="0"/>
          </a:p>
        </p:txBody>
      </p:sp>
      <p:sp>
        <p:nvSpPr>
          <p:cNvPr id="7" name="Shape 4"/>
          <p:cNvSpPr/>
          <p:nvPr/>
        </p:nvSpPr>
        <p:spPr>
          <a:xfrm>
            <a:off x="822960" y="4224528"/>
            <a:ext cx="1920240" cy="0"/>
          </a:xfrm>
          <a:prstGeom prst="line">
            <a:avLst/>
          </a:prstGeom>
          <a:noFill/>
          <a:ln w="25400">
            <a:solidFill>
              <a:srgbClr val="D4AF37"/>
            </a:solidFill>
            <a:prstDash val="solid"/>
          </a:ln>
        </p:spPr>
        <p:txBody>
          <a:bodyPr/>
          <a:lstStyle/>
          <a:p>
            <a:endParaRPr lang="en-US"/>
          </a:p>
        </p:txBody>
      </p:sp>
      <p:sp>
        <p:nvSpPr>
          <p:cNvPr id="8" name="Text 5"/>
          <p:cNvSpPr txBox="1"/>
          <p:nvPr/>
        </p:nvSpPr>
        <p:spPr>
          <a:xfrm>
            <a:off x="822960" y="4370832"/>
            <a:ext cx="8229600" cy="365760"/>
          </a:xfrm>
          <a:prstGeom prst="rect">
            <a:avLst/>
          </a:prstGeom>
          <a:noFill/>
          <a:ln/>
        </p:spPr>
        <p:txBody>
          <a:bodyPr wrap="square" lIns="0" tIns="0" rIns="0" bIns="0" rtlCol="0" anchor="ctr"/>
          <a:lstStyle/>
          <a:p>
            <a:pPr marL="0" indent="0">
              <a:buNone/>
            </a:pPr>
            <a:endParaRPr lang="en-US" sz="1300" dirty="0"/>
          </a:p>
        </p:txBody>
      </p:sp>
      <p:pic>
        <p:nvPicPr>
          <p:cNvPr id="9" name="Picture 8" descr="SamsungVietnam RnD | Hanoi">
            <a:extLst>
              <a:ext uri="{FF2B5EF4-FFF2-40B4-BE49-F238E27FC236}">
                <a16:creationId xmlns:a16="http://schemas.microsoft.com/office/drawing/2014/main" id="{A0A2C826-5BEF-8AAF-E9EB-B5A46AF29E1F}"/>
              </a:ext>
            </a:extLst>
          </p:cNvPr>
          <p:cNvPicPr>
            <a:picLocks noChangeAspect="1"/>
          </p:cNvPicPr>
          <p:nvPr/>
        </p:nvPicPr>
        <p:blipFill>
          <a:blip r:embed="rId4"/>
          <a:stretch>
            <a:fillRect/>
          </a:stretch>
        </p:blipFill>
        <p:spPr>
          <a:xfrm>
            <a:off x="0" y="-1229"/>
            <a:ext cx="2165212" cy="12585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2025"/>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marL="0" indent="0">
              <a:buNone/>
            </a:pPr>
            <a:r>
              <a:rPr lang="en-US" sz="1300" b="1" kern="0" spc="200" dirty="0">
                <a:solidFill>
                  <a:srgbClr val="D4AF37"/>
                </a:solidFill>
                <a:latin typeface="Calibri" pitchFamily="34" charset="0"/>
                <a:ea typeface="Calibri" pitchFamily="34" charset="-122"/>
                <a:cs typeface="Calibri" pitchFamily="34" charset="-120"/>
              </a:rPr>
              <a:t>NỘI DUNG TRÌNH BÀY</a:t>
            </a:r>
            <a:endParaRPr lang="en-US" sz="1300" dirty="0"/>
          </a:p>
        </p:txBody>
      </p:sp>
      <p:sp>
        <p:nvSpPr>
          <p:cNvPr id="3" name="Text 1"/>
          <p:cNvSpPr txBox="1"/>
          <p:nvPr/>
        </p:nvSpPr>
        <p:spPr>
          <a:xfrm>
            <a:off x="621792" y="768096"/>
            <a:ext cx="1088136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Mục lục</a:t>
            </a:r>
            <a:endParaRPr lang="en-US" sz="3200" dirty="0"/>
          </a:p>
        </p:txBody>
      </p:sp>
      <p:sp>
        <p:nvSpPr>
          <p:cNvPr id="4" name="Text 2"/>
          <p:cNvSpPr txBox="1"/>
          <p:nvPr/>
        </p:nvSpPr>
        <p:spPr>
          <a:xfrm>
            <a:off x="685800" y="1691640"/>
            <a:ext cx="914400" cy="822960"/>
          </a:xfrm>
          <a:prstGeom prst="rect">
            <a:avLst/>
          </a:prstGeom>
          <a:noFill/>
          <a:ln/>
        </p:spPr>
        <p:txBody>
          <a:bodyPr wrap="square" lIns="0" tIns="0" rIns="0" bIns="0" rtlCol="0" anchor="t"/>
          <a:lstStyle/>
          <a:p>
            <a:pPr marL="0" indent="0">
              <a:buNone/>
            </a:pPr>
            <a:r>
              <a:rPr lang="en-US" sz="3000" b="1" dirty="0">
                <a:solidFill>
                  <a:srgbClr val="D4AF37"/>
                </a:solidFill>
                <a:latin typeface="Cambria" pitchFamily="34" charset="0"/>
                <a:ea typeface="Cambria" pitchFamily="34" charset="-122"/>
                <a:cs typeface="Cambria" pitchFamily="34" charset="-120"/>
              </a:rPr>
              <a:t>01</a:t>
            </a:r>
            <a:endParaRPr lang="en-US" sz="3000" dirty="0"/>
          </a:p>
        </p:txBody>
      </p:sp>
      <p:sp>
        <p:nvSpPr>
          <p:cNvPr id="5" name="Text 3"/>
          <p:cNvSpPr txBox="1"/>
          <p:nvPr/>
        </p:nvSpPr>
        <p:spPr>
          <a:xfrm>
            <a:off x="1737360" y="1709928"/>
            <a:ext cx="512064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Tổng quan dự án</a:t>
            </a:r>
            <a:endParaRPr lang="en-US" sz="1700" dirty="0"/>
          </a:p>
        </p:txBody>
      </p:sp>
      <p:sp>
        <p:nvSpPr>
          <p:cNvPr id="6" name="Text 4"/>
          <p:cNvSpPr txBox="1"/>
          <p:nvPr/>
        </p:nvSpPr>
        <p:spPr>
          <a:xfrm>
            <a:off x="1737360" y="2075688"/>
            <a:ext cx="8961120" cy="365760"/>
          </a:xfrm>
          <a:prstGeom prst="rect">
            <a:avLst/>
          </a:prstGeom>
          <a:noFill/>
          <a:ln/>
        </p:spPr>
        <p:txBody>
          <a:bodyPr wrap="square" lIns="0" tIns="0" rIns="0" bIns="0" rtlCol="0" anchor="ctr"/>
          <a:lstStyle/>
          <a:p>
            <a:pPr marL="0" indent="0">
              <a:buNone/>
            </a:pPr>
            <a:r>
              <a:rPr lang="en-US" sz="1200" dirty="0">
                <a:solidFill>
                  <a:srgbClr val="A7ABB4"/>
                </a:solidFill>
                <a:latin typeface="Calibri" pitchFamily="34" charset="0"/>
                <a:ea typeface="Calibri" pitchFamily="34" charset="-122"/>
                <a:cs typeface="Calibri" pitchFamily="34" charset="-120"/>
              </a:rPr>
              <a:t>Mục tiêu, đặc điểm nổi bật và cấu trúc cốt lõi</a:t>
            </a:r>
            <a:endParaRPr lang="en-US" sz="1200" dirty="0"/>
          </a:p>
        </p:txBody>
      </p:sp>
      <p:sp>
        <p:nvSpPr>
          <p:cNvPr id="7" name="Shape 5"/>
          <p:cNvSpPr/>
          <p:nvPr/>
        </p:nvSpPr>
        <p:spPr>
          <a:xfrm>
            <a:off x="685800" y="2542032"/>
            <a:ext cx="10607040" cy="0"/>
          </a:xfrm>
          <a:prstGeom prst="line">
            <a:avLst/>
          </a:prstGeom>
          <a:noFill/>
          <a:ln w="12700">
            <a:solidFill>
              <a:srgbClr val="3D404A"/>
            </a:solidFill>
            <a:prstDash val="solid"/>
          </a:ln>
        </p:spPr>
        <p:txBody>
          <a:bodyPr/>
          <a:lstStyle/>
          <a:p>
            <a:endParaRPr lang="en-US"/>
          </a:p>
        </p:txBody>
      </p:sp>
      <p:sp>
        <p:nvSpPr>
          <p:cNvPr id="8" name="Text 6"/>
          <p:cNvSpPr txBox="1"/>
          <p:nvPr/>
        </p:nvSpPr>
        <p:spPr>
          <a:xfrm>
            <a:off x="685800" y="2624328"/>
            <a:ext cx="914400" cy="822960"/>
          </a:xfrm>
          <a:prstGeom prst="rect">
            <a:avLst/>
          </a:prstGeom>
          <a:noFill/>
          <a:ln/>
        </p:spPr>
        <p:txBody>
          <a:bodyPr wrap="square" lIns="0" tIns="0" rIns="0" bIns="0" rtlCol="0" anchor="t"/>
          <a:lstStyle/>
          <a:p>
            <a:pPr marL="0" indent="0">
              <a:buNone/>
            </a:pPr>
            <a:r>
              <a:rPr lang="en-US" sz="3000" b="1" dirty="0">
                <a:solidFill>
                  <a:srgbClr val="D4AF37"/>
                </a:solidFill>
                <a:latin typeface="Cambria" pitchFamily="34" charset="0"/>
                <a:ea typeface="Cambria" pitchFamily="34" charset="-122"/>
                <a:cs typeface="Cambria" pitchFamily="34" charset="-120"/>
              </a:rPr>
              <a:t>02</a:t>
            </a:r>
            <a:endParaRPr lang="en-US" sz="3000" dirty="0"/>
          </a:p>
        </p:txBody>
      </p:sp>
      <p:sp>
        <p:nvSpPr>
          <p:cNvPr id="9" name="Text 7"/>
          <p:cNvSpPr txBox="1"/>
          <p:nvPr/>
        </p:nvSpPr>
        <p:spPr>
          <a:xfrm>
            <a:off x="1737360" y="2642616"/>
            <a:ext cx="512064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Công nghệ &amp; Thuật toán</a:t>
            </a:r>
            <a:endParaRPr lang="en-US" sz="1700" dirty="0"/>
          </a:p>
        </p:txBody>
      </p:sp>
      <p:sp>
        <p:nvSpPr>
          <p:cNvPr id="10" name="Text 8"/>
          <p:cNvSpPr txBox="1"/>
          <p:nvPr/>
        </p:nvSpPr>
        <p:spPr>
          <a:xfrm>
            <a:off x="1737360" y="3008376"/>
            <a:ext cx="8961120" cy="365760"/>
          </a:xfrm>
          <a:prstGeom prst="rect">
            <a:avLst/>
          </a:prstGeom>
          <a:noFill/>
          <a:ln/>
        </p:spPr>
        <p:txBody>
          <a:bodyPr wrap="square" lIns="0" tIns="0" rIns="0" bIns="0" rtlCol="0" anchor="ctr"/>
          <a:lstStyle/>
          <a:p>
            <a:pPr marL="0" indent="0">
              <a:buNone/>
            </a:pPr>
            <a:r>
              <a:rPr lang="en-US" sz="1200" dirty="0">
                <a:solidFill>
                  <a:srgbClr val="A7ABB4"/>
                </a:solidFill>
                <a:latin typeface="Calibri" pitchFamily="34" charset="0"/>
                <a:ea typeface="Calibri" pitchFamily="34" charset="-122"/>
                <a:cs typeface="Calibri" pitchFamily="34" charset="-120"/>
              </a:rPr>
              <a:t>Framework, sinh nước đi, kiểm tra luật, lịch sử ván cờ</a:t>
            </a:r>
            <a:endParaRPr lang="en-US" sz="1200" dirty="0"/>
          </a:p>
        </p:txBody>
      </p:sp>
      <p:sp>
        <p:nvSpPr>
          <p:cNvPr id="11" name="Shape 9"/>
          <p:cNvSpPr/>
          <p:nvPr/>
        </p:nvSpPr>
        <p:spPr>
          <a:xfrm>
            <a:off x="685800" y="3474720"/>
            <a:ext cx="10607040" cy="0"/>
          </a:xfrm>
          <a:prstGeom prst="line">
            <a:avLst/>
          </a:prstGeom>
          <a:noFill/>
          <a:ln w="12700">
            <a:solidFill>
              <a:srgbClr val="3D404A"/>
            </a:solidFill>
            <a:prstDash val="solid"/>
          </a:ln>
        </p:spPr>
        <p:txBody>
          <a:bodyPr/>
          <a:lstStyle/>
          <a:p>
            <a:endParaRPr lang="en-US"/>
          </a:p>
        </p:txBody>
      </p:sp>
      <p:sp>
        <p:nvSpPr>
          <p:cNvPr id="12" name="Text 10"/>
          <p:cNvSpPr txBox="1"/>
          <p:nvPr/>
        </p:nvSpPr>
        <p:spPr>
          <a:xfrm>
            <a:off x="685800" y="3557016"/>
            <a:ext cx="914400" cy="822960"/>
          </a:xfrm>
          <a:prstGeom prst="rect">
            <a:avLst/>
          </a:prstGeom>
          <a:noFill/>
          <a:ln/>
        </p:spPr>
        <p:txBody>
          <a:bodyPr wrap="square" lIns="0" tIns="0" rIns="0" bIns="0" rtlCol="0" anchor="t"/>
          <a:lstStyle/>
          <a:p>
            <a:pPr marL="0" indent="0">
              <a:buNone/>
            </a:pPr>
            <a:r>
              <a:rPr lang="en-US" sz="3000" b="1" dirty="0">
                <a:solidFill>
                  <a:srgbClr val="D4AF37"/>
                </a:solidFill>
                <a:latin typeface="Cambria" pitchFamily="34" charset="0"/>
                <a:ea typeface="Cambria" pitchFamily="34" charset="-122"/>
                <a:cs typeface="Cambria" pitchFamily="34" charset="-120"/>
              </a:rPr>
              <a:t>03</a:t>
            </a:r>
            <a:endParaRPr lang="en-US" sz="3000" dirty="0"/>
          </a:p>
        </p:txBody>
      </p:sp>
      <p:sp>
        <p:nvSpPr>
          <p:cNvPr id="13" name="Text 11"/>
          <p:cNvSpPr txBox="1"/>
          <p:nvPr/>
        </p:nvSpPr>
        <p:spPr>
          <a:xfrm>
            <a:off x="1737360" y="3575304"/>
            <a:ext cx="512064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Tính năng cốt lõi</a:t>
            </a:r>
            <a:endParaRPr lang="en-US" sz="1700" dirty="0"/>
          </a:p>
        </p:txBody>
      </p:sp>
      <p:sp>
        <p:nvSpPr>
          <p:cNvPr id="14" name="Text 12"/>
          <p:cNvSpPr txBox="1"/>
          <p:nvPr/>
        </p:nvSpPr>
        <p:spPr>
          <a:xfrm>
            <a:off x="1737360" y="3941064"/>
            <a:ext cx="8961120" cy="365760"/>
          </a:xfrm>
          <a:prstGeom prst="rect">
            <a:avLst/>
          </a:prstGeom>
          <a:noFill/>
          <a:ln/>
        </p:spPr>
        <p:txBody>
          <a:bodyPr wrap="square" lIns="0" tIns="0" rIns="0" bIns="0" rtlCol="0" anchor="ctr"/>
          <a:lstStyle/>
          <a:p>
            <a:pPr marL="0" indent="0">
              <a:buNone/>
            </a:pPr>
            <a:r>
              <a:rPr lang="en-US" sz="1200" dirty="0">
                <a:solidFill>
                  <a:srgbClr val="A7ABB4"/>
                </a:solidFill>
                <a:latin typeface="Calibri" pitchFamily="34" charset="0"/>
                <a:ea typeface="Calibri" pitchFamily="34" charset="-122"/>
                <a:cs typeface="Calibri" pitchFamily="34" charset="-120"/>
              </a:rPr>
              <a:t>Tách biệt UI/Logic, mã hoá quân cờ, responsive UI</a:t>
            </a:r>
            <a:endParaRPr lang="en-US" sz="1200" dirty="0"/>
          </a:p>
        </p:txBody>
      </p:sp>
      <p:sp>
        <p:nvSpPr>
          <p:cNvPr id="15" name="Shape 13"/>
          <p:cNvSpPr/>
          <p:nvPr/>
        </p:nvSpPr>
        <p:spPr>
          <a:xfrm>
            <a:off x="685800" y="4407408"/>
            <a:ext cx="10607040" cy="0"/>
          </a:xfrm>
          <a:prstGeom prst="line">
            <a:avLst/>
          </a:prstGeom>
          <a:noFill/>
          <a:ln w="12700">
            <a:solidFill>
              <a:srgbClr val="3D404A"/>
            </a:solidFill>
            <a:prstDash val="solid"/>
          </a:ln>
        </p:spPr>
        <p:txBody>
          <a:bodyPr/>
          <a:lstStyle/>
          <a:p>
            <a:endParaRPr lang="en-US"/>
          </a:p>
        </p:txBody>
      </p:sp>
      <p:sp>
        <p:nvSpPr>
          <p:cNvPr id="16" name="Text 14"/>
          <p:cNvSpPr txBox="1"/>
          <p:nvPr/>
        </p:nvSpPr>
        <p:spPr>
          <a:xfrm>
            <a:off x="685800" y="4489704"/>
            <a:ext cx="914400" cy="822960"/>
          </a:xfrm>
          <a:prstGeom prst="rect">
            <a:avLst/>
          </a:prstGeom>
          <a:noFill/>
          <a:ln/>
        </p:spPr>
        <p:txBody>
          <a:bodyPr wrap="square" lIns="0" tIns="0" rIns="0" bIns="0" rtlCol="0" anchor="t"/>
          <a:lstStyle/>
          <a:p>
            <a:pPr marL="0" indent="0">
              <a:buNone/>
            </a:pPr>
            <a:r>
              <a:rPr lang="en-US" sz="3000" b="1" dirty="0">
                <a:solidFill>
                  <a:srgbClr val="D4AF37"/>
                </a:solidFill>
                <a:latin typeface="Cambria" pitchFamily="34" charset="0"/>
                <a:ea typeface="Cambria" pitchFamily="34" charset="-122"/>
                <a:cs typeface="Cambria" pitchFamily="34" charset="-120"/>
              </a:rPr>
              <a:t>04</a:t>
            </a:r>
            <a:endParaRPr lang="en-US" sz="3000" dirty="0"/>
          </a:p>
        </p:txBody>
      </p:sp>
      <p:sp>
        <p:nvSpPr>
          <p:cNvPr id="17" name="Text 15"/>
          <p:cNvSpPr txBox="1"/>
          <p:nvPr/>
        </p:nvSpPr>
        <p:spPr>
          <a:xfrm>
            <a:off x="1737360" y="4507992"/>
            <a:ext cx="512064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Giao diện ứng dụng</a:t>
            </a:r>
            <a:endParaRPr lang="en-US" sz="1700" dirty="0"/>
          </a:p>
        </p:txBody>
      </p:sp>
      <p:sp>
        <p:nvSpPr>
          <p:cNvPr id="18" name="Text 16"/>
          <p:cNvSpPr txBox="1"/>
          <p:nvPr/>
        </p:nvSpPr>
        <p:spPr>
          <a:xfrm>
            <a:off x="1737360" y="4873752"/>
            <a:ext cx="8961120" cy="365760"/>
          </a:xfrm>
          <a:prstGeom prst="rect">
            <a:avLst/>
          </a:prstGeom>
          <a:noFill/>
          <a:ln/>
        </p:spPr>
        <p:txBody>
          <a:bodyPr wrap="square" lIns="0" tIns="0" rIns="0" bIns="0" rtlCol="0" anchor="ctr"/>
          <a:lstStyle/>
          <a:p>
            <a:pPr marL="0" indent="0">
              <a:buNone/>
            </a:pPr>
            <a:r>
              <a:rPr lang="en-US" sz="1200" dirty="0">
                <a:solidFill>
                  <a:srgbClr val="A7ABB4"/>
                </a:solidFill>
                <a:latin typeface="Calibri" pitchFamily="34" charset="0"/>
                <a:ea typeface="Calibri" pitchFamily="34" charset="-122"/>
                <a:cs typeface="Calibri" pitchFamily="34" charset="-120"/>
              </a:rPr>
              <a:t>Menu, chơi với người, chơi với Bot, âm thanh, thông báo</a:t>
            </a:r>
            <a:endParaRPr lang="en-US" sz="1200" dirty="0"/>
          </a:p>
        </p:txBody>
      </p:sp>
      <p:sp>
        <p:nvSpPr>
          <p:cNvPr id="19" name="Shape 17"/>
          <p:cNvSpPr/>
          <p:nvPr/>
        </p:nvSpPr>
        <p:spPr>
          <a:xfrm>
            <a:off x="685800" y="5340096"/>
            <a:ext cx="10607040" cy="0"/>
          </a:xfrm>
          <a:prstGeom prst="line">
            <a:avLst/>
          </a:prstGeom>
          <a:noFill/>
          <a:ln w="12700">
            <a:solidFill>
              <a:srgbClr val="3D404A"/>
            </a:solidFill>
            <a:prstDash val="solid"/>
          </a:ln>
        </p:spPr>
        <p:txBody>
          <a:bodyPr/>
          <a:lstStyle/>
          <a:p>
            <a:endParaRPr lang="en-US"/>
          </a:p>
        </p:txBody>
      </p:sp>
      <p:sp>
        <p:nvSpPr>
          <p:cNvPr id="20" name="Text 18"/>
          <p:cNvSpPr txBox="1"/>
          <p:nvPr/>
        </p:nvSpPr>
        <p:spPr>
          <a:xfrm>
            <a:off x="685800" y="5422392"/>
            <a:ext cx="914400" cy="822960"/>
          </a:xfrm>
          <a:prstGeom prst="rect">
            <a:avLst/>
          </a:prstGeom>
          <a:noFill/>
          <a:ln/>
        </p:spPr>
        <p:txBody>
          <a:bodyPr wrap="square" lIns="0" tIns="0" rIns="0" bIns="0" rtlCol="0" anchor="t"/>
          <a:lstStyle/>
          <a:p>
            <a:pPr marL="0" indent="0">
              <a:buNone/>
            </a:pPr>
            <a:r>
              <a:rPr lang="en-US" sz="3000" b="1" dirty="0">
                <a:solidFill>
                  <a:srgbClr val="D4AF37"/>
                </a:solidFill>
                <a:latin typeface="Cambria" pitchFamily="34" charset="0"/>
                <a:ea typeface="Cambria" pitchFamily="34" charset="-122"/>
                <a:cs typeface="Cambria" pitchFamily="34" charset="-120"/>
              </a:rPr>
              <a:t>05</a:t>
            </a:r>
            <a:endParaRPr lang="en-US" sz="3000" dirty="0"/>
          </a:p>
        </p:txBody>
      </p:sp>
      <p:sp>
        <p:nvSpPr>
          <p:cNvPr id="21" name="Text 19"/>
          <p:cNvSpPr txBox="1"/>
          <p:nvPr/>
        </p:nvSpPr>
        <p:spPr>
          <a:xfrm>
            <a:off x="1737360" y="5440680"/>
            <a:ext cx="512064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Tổng kết &amp; Hướng phát triển</a:t>
            </a:r>
            <a:endParaRPr lang="en-US" sz="1700" dirty="0"/>
          </a:p>
        </p:txBody>
      </p:sp>
      <p:sp>
        <p:nvSpPr>
          <p:cNvPr id="22" name="Text 20"/>
          <p:cNvSpPr txBox="1"/>
          <p:nvPr/>
        </p:nvSpPr>
        <p:spPr>
          <a:xfrm>
            <a:off x="1737360" y="5806440"/>
            <a:ext cx="8961120" cy="365760"/>
          </a:xfrm>
          <a:prstGeom prst="rect">
            <a:avLst/>
          </a:prstGeom>
          <a:noFill/>
          <a:ln/>
        </p:spPr>
        <p:txBody>
          <a:bodyPr wrap="square" lIns="0" tIns="0" rIns="0" bIns="0" rtlCol="0" anchor="ctr"/>
          <a:lstStyle/>
          <a:p>
            <a:pPr marL="0" indent="0">
              <a:buNone/>
            </a:pPr>
            <a:r>
              <a:rPr lang="en-US" sz="1200" dirty="0">
                <a:solidFill>
                  <a:srgbClr val="A7ABB4"/>
                </a:solidFill>
                <a:latin typeface="Calibri" pitchFamily="34" charset="0"/>
                <a:ea typeface="Calibri" pitchFamily="34" charset="-122"/>
                <a:cs typeface="Calibri" pitchFamily="34" charset="-120"/>
              </a:rPr>
              <a:t>Kết quả đạt được và lộ trình mở rộng</a:t>
            </a:r>
            <a:endParaRPr lang="en-US" sz="1200" dirty="0"/>
          </a:p>
        </p:txBody>
      </p:sp>
      <p:sp>
        <p:nvSpPr>
          <p:cNvPr id="23" name="Text 21"/>
          <p:cNvSpPr txBox="1"/>
          <p:nvPr/>
        </p:nvSpPr>
        <p:spPr>
          <a:xfrm>
            <a:off x="457200" y="6528816"/>
            <a:ext cx="6400800" cy="274320"/>
          </a:xfrm>
          <a:prstGeom prst="rect">
            <a:avLst/>
          </a:prstGeom>
          <a:noFill/>
          <a:ln/>
        </p:spPr>
        <p:txBody>
          <a:bodyPr wrap="square" lIns="0" tIns="0" rIns="0" bIns="0" rtlCol="0" anchor="ctr"/>
          <a:lstStyle/>
          <a:p>
            <a:pPr marL="0" indent="0" algn="l">
              <a:buNone/>
            </a:pPr>
            <a:r>
              <a:rPr lang="en-US" sz="900" kern="0" spc="100" dirty="0">
                <a:solidFill>
                  <a:srgbClr val="A7ABB4"/>
                </a:solidFill>
                <a:latin typeface="Calibri" pitchFamily="34" charset="0"/>
                <a:ea typeface="Calibri" pitchFamily="34" charset="-122"/>
                <a:cs typeface="Calibri" pitchFamily="34" charset="-120"/>
              </a:rPr>
              <a:t>ỨNG DỤNG CHESS GAME TRÊN ANDROID</a:t>
            </a:r>
            <a:endParaRPr lang="en-US" sz="900" dirty="0"/>
          </a:p>
        </p:txBody>
      </p:sp>
      <p:sp>
        <p:nvSpPr>
          <p:cNvPr id="24" name="Text 22"/>
          <p:cNvSpPr txBox="1"/>
          <p:nvPr/>
        </p:nvSpPr>
        <p:spPr>
          <a:xfrm>
            <a:off x="11338560" y="6528816"/>
            <a:ext cx="457200" cy="274320"/>
          </a:xfrm>
          <a:prstGeom prst="rect">
            <a:avLst/>
          </a:prstGeom>
          <a:noFill/>
          <a:ln/>
        </p:spPr>
        <p:txBody>
          <a:bodyPr wrap="square" lIns="0" tIns="0" rIns="0" bIns="0" rtlCol="0" anchor="ctr"/>
          <a:lstStyle/>
          <a:p>
            <a:pPr marL="0" indent="0" algn="r">
              <a:buNone/>
            </a:pPr>
            <a:r>
              <a:rPr lang="en-US" sz="900" dirty="0">
                <a:solidFill>
                  <a:srgbClr val="A7ABB4"/>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2025"/>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marL="0" indent="0">
              <a:buNone/>
            </a:pPr>
            <a:r>
              <a:rPr lang="en-US" sz="1300" b="1" kern="0" spc="200" dirty="0">
                <a:solidFill>
                  <a:srgbClr val="D4AF37"/>
                </a:solidFill>
                <a:latin typeface="Calibri" pitchFamily="34" charset="0"/>
                <a:ea typeface="Calibri" pitchFamily="34" charset="-122"/>
                <a:cs typeface="Calibri" pitchFamily="34" charset="-120"/>
              </a:rPr>
              <a:t>PHẦN 01</a:t>
            </a:r>
            <a:endParaRPr lang="en-US" sz="1300" dirty="0"/>
          </a:p>
        </p:txBody>
      </p:sp>
      <p:sp>
        <p:nvSpPr>
          <p:cNvPr id="3" name="Text 1"/>
          <p:cNvSpPr txBox="1"/>
          <p:nvPr/>
        </p:nvSpPr>
        <p:spPr>
          <a:xfrm>
            <a:off x="621792" y="768096"/>
            <a:ext cx="1088136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Tổng quan dự án</a:t>
            </a:r>
            <a:endParaRPr lang="en-US" sz="3200" dirty="0"/>
          </a:p>
        </p:txBody>
      </p:sp>
      <p:sp>
        <p:nvSpPr>
          <p:cNvPr id="4" name="Shape 2"/>
          <p:cNvSpPr/>
          <p:nvPr/>
        </p:nvSpPr>
        <p:spPr>
          <a:xfrm>
            <a:off x="640080" y="1600200"/>
            <a:ext cx="10881360" cy="1051560"/>
          </a:xfrm>
          <a:prstGeom prst="roundRect">
            <a:avLst>
              <a:gd name="adj" fmla="val 10435"/>
            </a:avLst>
          </a:prstGeom>
          <a:solidFill>
            <a:srgbClr val="292B31"/>
          </a:solidFill>
          <a:ln/>
        </p:spPr>
        <p:txBody>
          <a:bodyPr/>
          <a:lstStyle/>
          <a:p>
            <a:endParaRPr lang="en-US"/>
          </a:p>
        </p:txBody>
      </p:sp>
      <p:sp>
        <p:nvSpPr>
          <p:cNvPr id="5" name="Text 3"/>
          <p:cNvSpPr txBox="1"/>
          <p:nvPr/>
        </p:nvSpPr>
        <p:spPr>
          <a:xfrm>
            <a:off x="914400" y="1737360"/>
            <a:ext cx="3657600" cy="274320"/>
          </a:xfrm>
          <a:prstGeom prst="rect">
            <a:avLst/>
          </a:prstGeom>
          <a:noFill/>
          <a:ln/>
        </p:spPr>
        <p:txBody>
          <a:bodyPr wrap="square" lIns="0" tIns="0" rIns="0" bIns="0" rtlCol="0" anchor="ctr"/>
          <a:lstStyle/>
          <a:p>
            <a:pPr marL="0" indent="0">
              <a:buNone/>
            </a:pPr>
            <a:r>
              <a:rPr lang="en-US" sz="1100" b="1" kern="0" spc="150" dirty="0">
                <a:solidFill>
                  <a:srgbClr val="D4AF37"/>
                </a:solidFill>
                <a:latin typeface="Calibri" pitchFamily="34" charset="0"/>
                <a:ea typeface="Calibri" pitchFamily="34" charset="-122"/>
                <a:cs typeface="Calibri" pitchFamily="34" charset="-120"/>
              </a:rPr>
              <a:t>MỤC TIÊU DỰ ÁN</a:t>
            </a:r>
            <a:endParaRPr lang="en-US" sz="1100" dirty="0"/>
          </a:p>
        </p:txBody>
      </p:sp>
      <p:sp>
        <p:nvSpPr>
          <p:cNvPr id="6" name="Text 4"/>
          <p:cNvSpPr txBox="1"/>
          <p:nvPr/>
        </p:nvSpPr>
        <p:spPr>
          <a:xfrm>
            <a:off x="914400" y="2011680"/>
            <a:ext cx="10332720" cy="548640"/>
          </a:xfrm>
          <a:prstGeom prst="rect">
            <a:avLst/>
          </a:prstGeom>
          <a:noFill/>
          <a:ln/>
        </p:spPr>
        <p:txBody>
          <a:bodyPr wrap="square" lIns="0" tIns="0" rIns="0" bIns="0" rtlCol="0" anchor="ctr"/>
          <a:lstStyle/>
          <a:p>
            <a:pPr marL="0" indent="0">
              <a:lnSpc>
                <a:spcPct val="115000"/>
              </a:lnSpc>
              <a:buNone/>
            </a:pPr>
            <a:r>
              <a:rPr lang="en-US" sz="1350" dirty="0">
                <a:solidFill>
                  <a:srgbClr val="E4E6EA"/>
                </a:solidFill>
                <a:latin typeface="Calibri" pitchFamily="34" charset="0"/>
                <a:ea typeface="Calibri" pitchFamily="34" charset="-122"/>
                <a:cs typeface="Calibri" pitchFamily="34" charset="-120"/>
              </a:rPr>
              <a:t>Xây dựng một ứng dụng Cờ Vua trên nền tảng di động Android, mang lại trải nghiệm mượt mà, giao diện trực quan và đảm bảo tính chính xác tuyệt đối của các luật cờ vua quốc tế.</a:t>
            </a:r>
            <a:endParaRPr lang="en-US" sz="1350" dirty="0"/>
          </a:p>
        </p:txBody>
      </p:sp>
      <p:sp>
        <p:nvSpPr>
          <p:cNvPr id="7" name="Shape 5"/>
          <p:cNvSpPr/>
          <p:nvPr/>
        </p:nvSpPr>
        <p:spPr>
          <a:xfrm>
            <a:off x="640080" y="2971800"/>
            <a:ext cx="3502152" cy="1874520"/>
          </a:xfrm>
          <a:prstGeom prst="roundRect">
            <a:avLst>
              <a:gd name="adj" fmla="val 5854"/>
            </a:avLst>
          </a:prstGeom>
          <a:solidFill>
            <a:srgbClr val="292B31"/>
          </a:solidFill>
          <a:ln/>
          <a:effectLst>
            <a:outerShdw blurRad="76200" dist="25400" dir="5400000" algn="bl" rotWithShape="0">
              <a:srgbClr val="000000">
                <a:alpha val="30000"/>
              </a:srgbClr>
            </a:outerShdw>
          </a:effectLst>
        </p:spPr>
        <p:txBody>
          <a:bodyPr/>
          <a:lstStyle/>
          <a:p>
            <a:endParaRPr lang="en-US"/>
          </a:p>
        </p:txBody>
      </p:sp>
      <p:sp>
        <p:nvSpPr>
          <p:cNvPr id="8" name="Shape 6"/>
          <p:cNvSpPr/>
          <p:nvPr/>
        </p:nvSpPr>
        <p:spPr>
          <a:xfrm>
            <a:off x="896112" y="3200400"/>
            <a:ext cx="566928" cy="566928"/>
          </a:xfrm>
          <a:prstGeom prst="ellipse">
            <a:avLst/>
          </a:prstGeom>
          <a:solidFill>
            <a:srgbClr val="323540"/>
          </a:solidFill>
          <a:ln w="12700">
            <a:solidFill>
              <a:srgbClr val="D4AF37"/>
            </a:solidFill>
            <a:prstDash val="solid"/>
          </a:ln>
        </p:spPr>
        <p:txBody>
          <a:bodyPr/>
          <a:lstStyle/>
          <a:p>
            <a:endParaRPr lang="en-US"/>
          </a:p>
        </p:txBody>
      </p:sp>
      <p:pic>
        <p:nvPicPr>
          <p:cNvPr id="9" name="Image 0" descr="/home/claude/icons/mobile.png"/>
          <p:cNvPicPr>
            <a:picLocks noChangeAspect="1"/>
          </p:cNvPicPr>
          <p:nvPr/>
        </p:nvPicPr>
        <p:blipFill>
          <a:blip r:embed="rId3"/>
          <a:stretch>
            <a:fillRect/>
          </a:stretch>
        </p:blipFill>
        <p:spPr>
          <a:xfrm>
            <a:off x="1042416" y="3346704"/>
            <a:ext cx="274320" cy="274320"/>
          </a:xfrm>
          <a:prstGeom prst="rect">
            <a:avLst/>
          </a:prstGeom>
        </p:spPr>
      </p:pic>
      <p:sp>
        <p:nvSpPr>
          <p:cNvPr id="10" name="Text 7"/>
          <p:cNvSpPr txBox="1"/>
          <p:nvPr/>
        </p:nvSpPr>
        <p:spPr>
          <a:xfrm>
            <a:off x="896112" y="3886200"/>
            <a:ext cx="301752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Nền tảng</a:t>
            </a:r>
            <a:endParaRPr lang="en-US" sz="1450" dirty="0"/>
          </a:p>
        </p:txBody>
      </p:sp>
      <p:sp>
        <p:nvSpPr>
          <p:cNvPr id="11" name="Text 8"/>
          <p:cNvSpPr txBox="1"/>
          <p:nvPr/>
        </p:nvSpPr>
        <p:spPr>
          <a:xfrm>
            <a:off x="896112" y="4233672"/>
            <a:ext cx="3017520" cy="548640"/>
          </a:xfrm>
          <a:prstGeom prst="rect">
            <a:avLst/>
          </a:prstGeom>
          <a:noFill/>
          <a:ln/>
        </p:spPr>
        <p:txBody>
          <a:bodyPr wrap="square" lIns="0" tIns="0" rIns="0" bIns="0" rtlCol="0" anchor="ctr"/>
          <a:lstStyle/>
          <a:p>
            <a:pPr marL="0" indent="0">
              <a:lnSpc>
                <a:spcPct val="112000"/>
              </a:lnSpc>
              <a:buNone/>
            </a:pPr>
            <a:r>
              <a:rPr lang="en-US" sz="1100" dirty="0">
                <a:solidFill>
                  <a:srgbClr val="A7ABB4"/>
                </a:solidFill>
                <a:latin typeface="Calibri" pitchFamily="34" charset="0"/>
                <a:ea typeface="Calibri" pitchFamily="34" charset="-122"/>
                <a:cs typeface="Calibri" pitchFamily="34" charset="-120"/>
              </a:rPr>
              <a:t>Android (ngôn ngữ Java) – IDE: Android Studio</a:t>
            </a:r>
            <a:endParaRPr lang="en-US" sz="1100" dirty="0"/>
          </a:p>
        </p:txBody>
      </p:sp>
      <p:sp>
        <p:nvSpPr>
          <p:cNvPr id="12" name="Shape 9"/>
          <p:cNvSpPr/>
          <p:nvPr/>
        </p:nvSpPr>
        <p:spPr>
          <a:xfrm>
            <a:off x="4370832" y="2971800"/>
            <a:ext cx="3502152" cy="1874520"/>
          </a:xfrm>
          <a:prstGeom prst="roundRect">
            <a:avLst>
              <a:gd name="adj" fmla="val 5854"/>
            </a:avLst>
          </a:prstGeom>
          <a:solidFill>
            <a:srgbClr val="292B31"/>
          </a:solidFill>
          <a:ln/>
          <a:effectLst>
            <a:outerShdw blurRad="76200" dist="25400" dir="5400000" algn="bl" rotWithShape="0">
              <a:srgbClr val="000000">
                <a:alpha val="30000"/>
              </a:srgbClr>
            </a:outerShdw>
          </a:effectLst>
        </p:spPr>
        <p:txBody>
          <a:bodyPr/>
          <a:lstStyle/>
          <a:p>
            <a:endParaRPr lang="en-US"/>
          </a:p>
        </p:txBody>
      </p:sp>
      <p:sp>
        <p:nvSpPr>
          <p:cNvPr id="13" name="Shape 10"/>
          <p:cNvSpPr/>
          <p:nvPr/>
        </p:nvSpPr>
        <p:spPr>
          <a:xfrm>
            <a:off x="4626864" y="3200400"/>
            <a:ext cx="566928" cy="566928"/>
          </a:xfrm>
          <a:prstGeom prst="ellipse">
            <a:avLst/>
          </a:prstGeom>
          <a:solidFill>
            <a:srgbClr val="323540"/>
          </a:solidFill>
          <a:ln w="12700">
            <a:solidFill>
              <a:srgbClr val="D4AF37"/>
            </a:solidFill>
            <a:prstDash val="solid"/>
          </a:ln>
        </p:spPr>
        <p:txBody>
          <a:bodyPr/>
          <a:lstStyle/>
          <a:p>
            <a:endParaRPr lang="en-US"/>
          </a:p>
        </p:txBody>
      </p:sp>
      <p:pic>
        <p:nvPicPr>
          <p:cNvPr id="14" name="Image 1" descr="/home/claude/icons/sitemap.png"/>
          <p:cNvPicPr>
            <a:picLocks noChangeAspect="1"/>
          </p:cNvPicPr>
          <p:nvPr/>
        </p:nvPicPr>
        <p:blipFill>
          <a:blip r:embed="rId4"/>
          <a:stretch>
            <a:fillRect/>
          </a:stretch>
        </p:blipFill>
        <p:spPr>
          <a:xfrm>
            <a:off x="4773168" y="3346704"/>
            <a:ext cx="274320" cy="274320"/>
          </a:xfrm>
          <a:prstGeom prst="rect">
            <a:avLst/>
          </a:prstGeom>
        </p:spPr>
      </p:pic>
      <p:sp>
        <p:nvSpPr>
          <p:cNvPr id="15" name="Text 11"/>
          <p:cNvSpPr txBox="1"/>
          <p:nvPr/>
        </p:nvSpPr>
        <p:spPr>
          <a:xfrm>
            <a:off x="4626864" y="3886200"/>
            <a:ext cx="301752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Kiến trúc</a:t>
            </a:r>
            <a:endParaRPr lang="en-US" sz="1450" dirty="0"/>
          </a:p>
        </p:txBody>
      </p:sp>
      <p:sp>
        <p:nvSpPr>
          <p:cNvPr id="16" name="Text 12"/>
          <p:cNvSpPr txBox="1"/>
          <p:nvPr/>
        </p:nvSpPr>
        <p:spPr>
          <a:xfrm>
            <a:off x="4626864" y="4233672"/>
            <a:ext cx="3017520" cy="548640"/>
          </a:xfrm>
          <a:prstGeom prst="rect">
            <a:avLst/>
          </a:prstGeom>
          <a:noFill/>
          <a:ln/>
        </p:spPr>
        <p:txBody>
          <a:bodyPr wrap="square" lIns="0" tIns="0" rIns="0" bIns="0" rtlCol="0" anchor="ctr"/>
          <a:lstStyle/>
          <a:p>
            <a:pPr marL="0" indent="0">
              <a:lnSpc>
                <a:spcPct val="112000"/>
              </a:lnSpc>
              <a:buNone/>
            </a:pPr>
            <a:r>
              <a:rPr lang="en-US" sz="1100" dirty="0">
                <a:solidFill>
                  <a:srgbClr val="A7ABB4"/>
                </a:solidFill>
                <a:latin typeface="Calibri" pitchFamily="34" charset="0"/>
                <a:ea typeface="Calibri" pitchFamily="34" charset="-122"/>
                <a:cs typeface="Calibri" pitchFamily="34" charset="-120"/>
              </a:rPr>
              <a:t>Tái cấu trúc theo Separation of Concerns — UI và Engine tách biệt hoàn toàn</a:t>
            </a:r>
            <a:endParaRPr lang="en-US" sz="1100" dirty="0"/>
          </a:p>
        </p:txBody>
      </p:sp>
      <p:sp>
        <p:nvSpPr>
          <p:cNvPr id="17" name="Shape 13"/>
          <p:cNvSpPr/>
          <p:nvPr/>
        </p:nvSpPr>
        <p:spPr>
          <a:xfrm>
            <a:off x="8101584" y="2971800"/>
            <a:ext cx="3502152" cy="1874520"/>
          </a:xfrm>
          <a:prstGeom prst="roundRect">
            <a:avLst>
              <a:gd name="adj" fmla="val 5854"/>
            </a:avLst>
          </a:prstGeom>
          <a:solidFill>
            <a:srgbClr val="292B31"/>
          </a:solidFill>
          <a:ln/>
          <a:effectLst>
            <a:outerShdw blurRad="76200" dist="25400" dir="5400000" algn="bl" rotWithShape="0">
              <a:srgbClr val="000000">
                <a:alpha val="30000"/>
              </a:srgbClr>
            </a:outerShdw>
          </a:effectLst>
        </p:spPr>
        <p:txBody>
          <a:bodyPr/>
          <a:lstStyle/>
          <a:p>
            <a:endParaRPr lang="en-US"/>
          </a:p>
        </p:txBody>
      </p:sp>
      <p:sp>
        <p:nvSpPr>
          <p:cNvPr id="18" name="Shape 14"/>
          <p:cNvSpPr/>
          <p:nvPr/>
        </p:nvSpPr>
        <p:spPr>
          <a:xfrm>
            <a:off x="8357616" y="3200400"/>
            <a:ext cx="566928" cy="566928"/>
          </a:xfrm>
          <a:prstGeom prst="ellipse">
            <a:avLst/>
          </a:prstGeom>
          <a:solidFill>
            <a:srgbClr val="323540"/>
          </a:solidFill>
          <a:ln w="12700">
            <a:solidFill>
              <a:srgbClr val="D4AF37"/>
            </a:solidFill>
            <a:prstDash val="solid"/>
          </a:ln>
        </p:spPr>
        <p:txBody>
          <a:bodyPr/>
          <a:lstStyle/>
          <a:p>
            <a:endParaRPr lang="en-US"/>
          </a:p>
        </p:txBody>
      </p:sp>
      <p:pic>
        <p:nvPicPr>
          <p:cNvPr id="19" name="Image 2" descr="/home/claude/icons/gamepad.png"/>
          <p:cNvPicPr>
            <a:picLocks noChangeAspect="1"/>
          </p:cNvPicPr>
          <p:nvPr/>
        </p:nvPicPr>
        <p:blipFill>
          <a:blip r:embed="rId5"/>
          <a:stretch>
            <a:fillRect/>
          </a:stretch>
        </p:blipFill>
        <p:spPr>
          <a:xfrm>
            <a:off x="8503920" y="3346704"/>
            <a:ext cx="274320" cy="274320"/>
          </a:xfrm>
          <a:prstGeom prst="rect">
            <a:avLst/>
          </a:prstGeom>
        </p:spPr>
      </p:pic>
      <p:sp>
        <p:nvSpPr>
          <p:cNvPr id="20" name="Text 15"/>
          <p:cNvSpPr txBox="1"/>
          <p:nvPr/>
        </p:nvSpPr>
        <p:spPr>
          <a:xfrm>
            <a:off x="8357616" y="3886200"/>
            <a:ext cx="301752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Chế độ chơi</a:t>
            </a:r>
            <a:endParaRPr lang="en-US" sz="1450" dirty="0"/>
          </a:p>
        </p:txBody>
      </p:sp>
      <p:sp>
        <p:nvSpPr>
          <p:cNvPr id="21" name="Text 16"/>
          <p:cNvSpPr txBox="1"/>
          <p:nvPr/>
        </p:nvSpPr>
        <p:spPr>
          <a:xfrm>
            <a:off x="8357616" y="4233672"/>
            <a:ext cx="3017520" cy="548640"/>
          </a:xfrm>
          <a:prstGeom prst="rect">
            <a:avLst/>
          </a:prstGeom>
          <a:noFill/>
          <a:ln/>
        </p:spPr>
        <p:txBody>
          <a:bodyPr wrap="square" lIns="0" tIns="0" rIns="0" bIns="0" rtlCol="0" anchor="ctr"/>
          <a:lstStyle/>
          <a:p>
            <a:pPr marL="0" indent="0">
              <a:lnSpc>
                <a:spcPct val="112000"/>
              </a:lnSpc>
              <a:buNone/>
            </a:pPr>
            <a:r>
              <a:rPr lang="en-US" sz="1100" dirty="0">
                <a:solidFill>
                  <a:srgbClr val="A7ABB4"/>
                </a:solidFill>
                <a:latin typeface="Calibri" pitchFamily="34" charset="0"/>
                <a:ea typeface="Calibri" pitchFamily="34" charset="-122"/>
                <a:cs typeface="Calibri" pitchFamily="34" charset="-120"/>
              </a:rPr>
              <a:t>Play with Friend (2 người/1 thiết bị) và nền tảng API sẵn sàng đấu với Bot</a:t>
            </a:r>
            <a:endParaRPr lang="en-US" sz="1100" dirty="0"/>
          </a:p>
        </p:txBody>
      </p:sp>
      <p:sp>
        <p:nvSpPr>
          <p:cNvPr id="22" name="Text 17"/>
          <p:cNvSpPr txBox="1"/>
          <p:nvPr/>
        </p:nvSpPr>
        <p:spPr>
          <a:xfrm>
            <a:off x="640080" y="5074920"/>
            <a:ext cx="10881360" cy="320040"/>
          </a:xfrm>
          <a:prstGeom prst="rect">
            <a:avLst/>
          </a:prstGeom>
          <a:noFill/>
          <a:ln/>
        </p:spPr>
        <p:txBody>
          <a:bodyPr wrap="square" lIns="0" tIns="0" rIns="0" bIns="0" rtlCol="0" anchor="ctr"/>
          <a:lstStyle/>
          <a:p>
            <a:pPr marL="0" indent="0">
              <a:buNone/>
            </a:pPr>
            <a:r>
              <a:rPr lang="en-US" sz="1150" i="1" dirty="0">
                <a:solidFill>
                  <a:srgbClr val="A7ABB4"/>
                </a:solidFill>
                <a:latin typeface="Calibri" pitchFamily="34" charset="0"/>
                <a:ea typeface="Calibri" pitchFamily="34" charset="-122"/>
                <a:cs typeface="Calibri" pitchFamily="34" charset="-120"/>
              </a:rPr>
              <a:t>CẤU TRÚC CỐT LÕI:   MainActivity  →  ChessScreen / ChessBoardRenderer  →  Chess / ChessRules</a:t>
            </a:r>
            <a:endParaRPr lang="en-US" sz="1150" dirty="0"/>
          </a:p>
        </p:txBody>
      </p:sp>
      <p:sp>
        <p:nvSpPr>
          <p:cNvPr id="23" name="Text 18"/>
          <p:cNvSpPr txBox="1"/>
          <p:nvPr/>
        </p:nvSpPr>
        <p:spPr>
          <a:xfrm>
            <a:off x="457200" y="6528816"/>
            <a:ext cx="6400800" cy="274320"/>
          </a:xfrm>
          <a:prstGeom prst="rect">
            <a:avLst/>
          </a:prstGeom>
          <a:noFill/>
          <a:ln/>
        </p:spPr>
        <p:txBody>
          <a:bodyPr wrap="square" lIns="0" tIns="0" rIns="0" bIns="0" rtlCol="0" anchor="ctr"/>
          <a:lstStyle/>
          <a:p>
            <a:pPr marL="0" indent="0" algn="l">
              <a:buNone/>
            </a:pPr>
            <a:r>
              <a:rPr lang="en-US" sz="900" kern="0" spc="100" dirty="0">
                <a:solidFill>
                  <a:srgbClr val="A7ABB4"/>
                </a:solidFill>
                <a:latin typeface="Calibri" pitchFamily="34" charset="0"/>
                <a:ea typeface="Calibri" pitchFamily="34" charset="-122"/>
                <a:cs typeface="Calibri" pitchFamily="34" charset="-120"/>
              </a:rPr>
              <a:t>ỨNG DỤNG CHESS GAME TRÊN ANDROID</a:t>
            </a:r>
            <a:endParaRPr lang="en-US" sz="900" dirty="0"/>
          </a:p>
        </p:txBody>
      </p:sp>
      <p:sp>
        <p:nvSpPr>
          <p:cNvPr id="24" name="Text 19"/>
          <p:cNvSpPr txBox="1"/>
          <p:nvPr/>
        </p:nvSpPr>
        <p:spPr>
          <a:xfrm>
            <a:off x="11338560" y="6528816"/>
            <a:ext cx="457200" cy="274320"/>
          </a:xfrm>
          <a:prstGeom prst="rect">
            <a:avLst/>
          </a:prstGeom>
          <a:noFill/>
          <a:ln/>
        </p:spPr>
        <p:txBody>
          <a:bodyPr wrap="square" lIns="0" tIns="0" rIns="0" bIns="0" rtlCol="0" anchor="ctr"/>
          <a:lstStyle/>
          <a:p>
            <a:pPr marL="0" indent="0" algn="r">
              <a:buNone/>
            </a:pPr>
            <a:r>
              <a:rPr lang="en-US" sz="900" dirty="0">
                <a:solidFill>
                  <a:srgbClr val="A7ABB4"/>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2025"/>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marL="0" indent="0">
              <a:buNone/>
            </a:pPr>
            <a:r>
              <a:rPr lang="en-US" sz="1300" b="1" kern="0" spc="200" dirty="0">
                <a:solidFill>
                  <a:srgbClr val="D4AF37"/>
                </a:solidFill>
                <a:latin typeface="Calibri" pitchFamily="34" charset="0"/>
                <a:ea typeface="Calibri" pitchFamily="34" charset="-122"/>
                <a:cs typeface="Calibri" pitchFamily="34" charset="-120"/>
              </a:rPr>
              <a:t>PHẦN 01</a:t>
            </a:r>
            <a:endParaRPr lang="en-US" sz="1300" dirty="0"/>
          </a:p>
        </p:txBody>
      </p:sp>
      <p:sp>
        <p:nvSpPr>
          <p:cNvPr id="3" name="Text 1"/>
          <p:cNvSpPr txBox="1"/>
          <p:nvPr/>
        </p:nvSpPr>
        <p:spPr>
          <a:xfrm>
            <a:off x="621792" y="768096"/>
            <a:ext cx="1088136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Kiến trúc hệ thống</a:t>
            </a:r>
            <a:endParaRPr lang="en-US" sz="3200" dirty="0"/>
          </a:p>
        </p:txBody>
      </p:sp>
      <p:sp>
        <p:nvSpPr>
          <p:cNvPr id="4" name="Shape 2"/>
          <p:cNvSpPr/>
          <p:nvPr/>
        </p:nvSpPr>
        <p:spPr>
          <a:xfrm>
            <a:off x="640080" y="1874520"/>
            <a:ext cx="3319272" cy="3246120"/>
          </a:xfrm>
          <a:prstGeom prst="roundRect">
            <a:avLst>
              <a:gd name="adj" fmla="val 3380"/>
            </a:avLst>
          </a:prstGeom>
          <a:solidFill>
            <a:srgbClr val="292B31"/>
          </a:solidFill>
          <a:ln w="12700">
            <a:solidFill>
              <a:srgbClr val="3D404A"/>
            </a:solidFill>
            <a:prstDash val="solid"/>
          </a:ln>
          <a:effectLst>
            <a:outerShdw blurRad="76200" dist="25400" dir="5400000" algn="bl" rotWithShape="0">
              <a:srgbClr val="000000">
                <a:alpha val="30000"/>
              </a:srgbClr>
            </a:outerShdw>
          </a:effectLst>
        </p:spPr>
        <p:txBody>
          <a:bodyPr/>
          <a:lstStyle/>
          <a:p>
            <a:endParaRPr lang="en-US"/>
          </a:p>
        </p:txBody>
      </p:sp>
      <p:sp>
        <p:nvSpPr>
          <p:cNvPr id="5" name="Shape 3"/>
          <p:cNvSpPr/>
          <p:nvPr/>
        </p:nvSpPr>
        <p:spPr>
          <a:xfrm>
            <a:off x="896112" y="2130552"/>
            <a:ext cx="548640" cy="548640"/>
          </a:xfrm>
          <a:prstGeom prst="ellipse">
            <a:avLst/>
          </a:prstGeom>
          <a:solidFill>
            <a:srgbClr val="1F2025"/>
          </a:solidFill>
          <a:ln w="15875">
            <a:solidFill>
              <a:srgbClr val="D4AF37"/>
            </a:solidFill>
            <a:prstDash val="solid"/>
          </a:ln>
        </p:spPr>
        <p:txBody>
          <a:bodyPr/>
          <a:lstStyle/>
          <a:p>
            <a:endParaRPr lang="en-US"/>
          </a:p>
        </p:txBody>
      </p:sp>
      <p:pic>
        <p:nvPicPr>
          <p:cNvPr id="6" name="Image 0" descr="/home/claude/icons/sitemap.png"/>
          <p:cNvPicPr>
            <a:picLocks noChangeAspect="1"/>
          </p:cNvPicPr>
          <p:nvPr/>
        </p:nvPicPr>
        <p:blipFill>
          <a:blip r:embed="rId3"/>
          <a:stretch>
            <a:fillRect/>
          </a:stretch>
        </p:blipFill>
        <p:spPr>
          <a:xfrm>
            <a:off x="1042416" y="2276856"/>
            <a:ext cx="256032" cy="256032"/>
          </a:xfrm>
          <a:prstGeom prst="rect">
            <a:avLst/>
          </a:prstGeom>
        </p:spPr>
      </p:pic>
      <p:sp>
        <p:nvSpPr>
          <p:cNvPr id="7" name="Text 4"/>
          <p:cNvSpPr txBox="1"/>
          <p:nvPr/>
        </p:nvSpPr>
        <p:spPr>
          <a:xfrm>
            <a:off x="896112" y="2807208"/>
            <a:ext cx="2807208" cy="237744"/>
          </a:xfrm>
          <a:prstGeom prst="rect">
            <a:avLst/>
          </a:prstGeom>
          <a:noFill/>
          <a:ln/>
        </p:spPr>
        <p:txBody>
          <a:bodyPr wrap="square" lIns="0" tIns="0" rIns="0" bIns="0" rtlCol="0" anchor="ctr"/>
          <a:lstStyle/>
          <a:p>
            <a:pPr marL="0" indent="0">
              <a:buNone/>
            </a:pPr>
            <a:r>
              <a:rPr lang="en-US" sz="1050" b="1" kern="0" spc="120" dirty="0">
                <a:solidFill>
                  <a:srgbClr val="D4AF37"/>
                </a:solidFill>
                <a:latin typeface="Calibri" pitchFamily="34" charset="0"/>
                <a:ea typeface="Calibri" pitchFamily="34" charset="-122"/>
                <a:cs typeface="Calibri" pitchFamily="34" charset="-120"/>
              </a:rPr>
              <a:t>ĐIỀU PHỐI</a:t>
            </a:r>
            <a:endParaRPr lang="en-US" sz="1050" dirty="0"/>
          </a:p>
        </p:txBody>
      </p:sp>
      <p:sp>
        <p:nvSpPr>
          <p:cNvPr id="8" name="Text 5"/>
          <p:cNvSpPr txBox="1"/>
          <p:nvPr/>
        </p:nvSpPr>
        <p:spPr>
          <a:xfrm>
            <a:off x="896112" y="3044952"/>
            <a:ext cx="2807208" cy="685800"/>
          </a:xfrm>
          <a:prstGeom prst="rect">
            <a:avLst/>
          </a:prstGeom>
          <a:noFill/>
          <a:ln/>
        </p:spPr>
        <p:txBody>
          <a:bodyPr wrap="square" lIns="0" tIns="0" rIns="0" bIns="0" rtlCol="0" anchor="ctr"/>
          <a:lstStyle/>
          <a:p>
            <a:pPr marL="0" indent="0">
              <a:lnSpc>
                <a:spcPct val="105000"/>
              </a:lnSpc>
              <a:buNone/>
            </a:pPr>
            <a:r>
              <a:rPr lang="en-US" sz="1700" b="1" dirty="0">
                <a:solidFill>
                  <a:srgbClr val="FFFFFF"/>
                </a:solidFill>
                <a:latin typeface="Cambria" pitchFamily="34" charset="0"/>
                <a:ea typeface="Cambria" pitchFamily="34" charset="-122"/>
                <a:cs typeface="Cambria" pitchFamily="34" charset="-120"/>
              </a:rPr>
              <a:t>MainActivity</a:t>
            </a:r>
            <a:endParaRPr lang="en-US" sz="1700" dirty="0"/>
          </a:p>
        </p:txBody>
      </p:sp>
      <p:sp>
        <p:nvSpPr>
          <p:cNvPr id="9" name="Text 6"/>
          <p:cNvSpPr txBox="1"/>
          <p:nvPr/>
        </p:nvSpPr>
        <p:spPr>
          <a:xfrm>
            <a:off x="896112" y="3840480"/>
            <a:ext cx="2807208" cy="1143000"/>
          </a:xfrm>
          <a:prstGeom prst="rect">
            <a:avLst/>
          </a:prstGeom>
          <a:noFill/>
          <a:ln/>
        </p:spPr>
        <p:txBody>
          <a:bodyPr wrap="square" lIns="0" tIns="0" rIns="0" bIns="0" rtlCol="0" anchor="ctr"/>
          <a:lstStyle/>
          <a:p>
            <a:pPr marL="0" indent="0">
              <a:lnSpc>
                <a:spcPct val="120000"/>
              </a:lnSpc>
              <a:buNone/>
            </a:pPr>
            <a:r>
              <a:rPr lang="en-US" sz="1200" dirty="0">
                <a:solidFill>
                  <a:srgbClr val="A7ABB4"/>
                </a:solidFill>
                <a:latin typeface="Calibri" pitchFamily="34" charset="0"/>
                <a:ea typeface="Calibri" pitchFamily="34" charset="-122"/>
                <a:cs typeface="Calibri" pitchFamily="34" charset="-120"/>
              </a:rPr>
              <a:t>Quản lý vòng đời (Lifecycle) và điều phối giữa UI và Game Logic.</a:t>
            </a:r>
            <a:endParaRPr lang="en-US" sz="1200" dirty="0"/>
          </a:p>
        </p:txBody>
      </p:sp>
      <p:sp>
        <p:nvSpPr>
          <p:cNvPr id="10" name="Text 7"/>
          <p:cNvSpPr txBox="1"/>
          <p:nvPr/>
        </p:nvSpPr>
        <p:spPr>
          <a:xfrm>
            <a:off x="3941064" y="3241548"/>
            <a:ext cx="457200" cy="512064"/>
          </a:xfrm>
          <a:prstGeom prst="rect">
            <a:avLst/>
          </a:prstGeom>
          <a:noFill/>
          <a:ln/>
        </p:spPr>
        <p:txBody>
          <a:bodyPr wrap="square" lIns="0" tIns="0" rIns="0" bIns="0" rtlCol="0" anchor="ctr"/>
          <a:lstStyle/>
          <a:p>
            <a:pPr marL="0" indent="0" algn="ctr">
              <a:buNone/>
            </a:pPr>
            <a:r>
              <a:rPr lang="en-US" sz="2600" b="1" dirty="0">
                <a:solidFill>
                  <a:srgbClr val="D4AF37"/>
                </a:solidFill>
                <a:latin typeface="Calibri" pitchFamily="34" charset="0"/>
                <a:ea typeface="Calibri" pitchFamily="34" charset="-122"/>
                <a:cs typeface="Calibri" pitchFamily="34" charset="-120"/>
              </a:rPr>
              <a:t>→</a:t>
            </a:r>
            <a:endParaRPr lang="en-US" sz="2600" dirty="0"/>
          </a:p>
        </p:txBody>
      </p:sp>
      <p:sp>
        <p:nvSpPr>
          <p:cNvPr id="11" name="Shape 8"/>
          <p:cNvSpPr/>
          <p:nvPr/>
        </p:nvSpPr>
        <p:spPr>
          <a:xfrm>
            <a:off x="4416552" y="1874520"/>
            <a:ext cx="3319272" cy="3246120"/>
          </a:xfrm>
          <a:prstGeom prst="roundRect">
            <a:avLst>
              <a:gd name="adj" fmla="val 3380"/>
            </a:avLst>
          </a:prstGeom>
          <a:solidFill>
            <a:srgbClr val="292B31"/>
          </a:solidFill>
          <a:ln w="12700">
            <a:solidFill>
              <a:srgbClr val="3D404A"/>
            </a:solidFill>
            <a:prstDash val="solid"/>
          </a:ln>
          <a:effectLst>
            <a:outerShdw blurRad="76200" dist="25400" dir="5400000" algn="bl" rotWithShape="0">
              <a:srgbClr val="000000">
                <a:alpha val="30000"/>
              </a:srgbClr>
            </a:outerShdw>
          </a:effectLst>
        </p:spPr>
        <p:txBody>
          <a:bodyPr/>
          <a:lstStyle/>
          <a:p>
            <a:endParaRPr lang="en-US"/>
          </a:p>
        </p:txBody>
      </p:sp>
      <p:sp>
        <p:nvSpPr>
          <p:cNvPr id="12" name="Shape 9"/>
          <p:cNvSpPr/>
          <p:nvPr/>
        </p:nvSpPr>
        <p:spPr>
          <a:xfrm>
            <a:off x="4672584" y="2130552"/>
            <a:ext cx="548640" cy="548640"/>
          </a:xfrm>
          <a:prstGeom prst="ellipse">
            <a:avLst/>
          </a:prstGeom>
          <a:solidFill>
            <a:srgbClr val="1F2025"/>
          </a:solidFill>
          <a:ln w="15875">
            <a:solidFill>
              <a:srgbClr val="D4AF37"/>
            </a:solidFill>
            <a:prstDash val="solid"/>
          </a:ln>
        </p:spPr>
        <p:txBody>
          <a:bodyPr/>
          <a:lstStyle/>
          <a:p>
            <a:endParaRPr lang="en-US"/>
          </a:p>
        </p:txBody>
      </p:sp>
      <p:pic>
        <p:nvPicPr>
          <p:cNvPr id="13" name="Image 1" descr="/home/claude/icons/palette.png"/>
          <p:cNvPicPr>
            <a:picLocks noChangeAspect="1"/>
          </p:cNvPicPr>
          <p:nvPr/>
        </p:nvPicPr>
        <p:blipFill>
          <a:blip r:embed="rId4"/>
          <a:stretch>
            <a:fillRect/>
          </a:stretch>
        </p:blipFill>
        <p:spPr>
          <a:xfrm>
            <a:off x="4818888" y="2276856"/>
            <a:ext cx="256032" cy="256032"/>
          </a:xfrm>
          <a:prstGeom prst="rect">
            <a:avLst/>
          </a:prstGeom>
        </p:spPr>
      </p:pic>
      <p:sp>
        <p:nvSpPr>
          <p:cNvPr id="14" name="Text 10"/>
          <p:cNvSpPr txBox="1"/>
          <p:nvPr/>
        </p:nvSpPr>
        <p:spPr>
          <a:xfrm>
            <a:off x="4672584" y="2807208"/>
            <a:ext cx="2807208" cy="237744"/>
          </a:xfrm>
          <a:prstGeom prst="rect">
            <a:avLst/>
          </a:prstGeom>
          <a:noFill/>
          <a:ln/>
        </p:spPr>
        <p:txBody>
          <a:bodyPr wrap="square" lIns="0" tIns="0" rIns="0" bIns="0" rtlCol="0" anchor="ctr"/>
          <a:lstStyle/>
          <a:p>
            <a:pPr marL="0" indent="0">
              <a:buNone/>
            </a:pPr>
            <a:r>
              <a:rPr lang="en-US" sz="1050" b="1" kern="0" spc="120" dirty="0">
                <a:solidFill>
                  <a:srgbClr val="D4AF37"/>
                </a:solidFill>
                <a:latin typeface="Calibri" pitchFamily="34" charset="0"/>
                <a:ea typeface="Calibri" pitchFamily="34" charset="-122"/>
                <a:cs typeface="Calibri" pitchFamily="34" charset="-120"/>
              </a:rPr>
              <a:t>GIAO DIỆN (UI)</a:t>
            </a:r>
            <a:endParaRPr lang="en-US" sz="1050" dirty="0"/>
          </a:p>
        </p:txBody>
      </p:sp>
      <p:sp>
        <p:nvSpPr>
          <p:cNvPr id="15" name="Text 11"/>
          <p:cNvSpPr txBox="1"/>
          <p:nvPr/>
        </p:nvSpPr>
        <p:spPr>
          <a:xfrm>
            <a:off x="4672584" y="3044952"/>
            <a:ext cx="2807208" cy="685800"/>
          </a:xfrm>
          <a:prstGeom prst="rect">
            <a:avLst/>
          </a:prstGeom>
          <a:noFill/>
          <a:ln/>
        </p:spPr>
        <p:txBody>
          <a:bodyPr wrap="square" lIns="0" tIns="0" rIns="0" bIns="0" rtlCol="0" anchor="ctr"/>
          <a:lstStyle/>
          <a:p>
            <a:pPr marL="0" indent="0">
              <a:lnSpc>
                <a:spcPct val="105000"/>
              </a:lnSpc>
              <a:buNone/>
            </a:pPr>
            <a:r>
              <a:rPr lang="en-US" sz="1700" b="1" dirty="0">
                <a:solidFill>
                  <a:srgbClr val="FFFFFF"/>
                </a:solidFill>
                <a:latin typeface="Cambria" pitchFamily="34" charset="0"/>
                <a:ea typeface="Cambria" pitchFamily="34" charset="-122"/>
                <a:cs typeface="Cambria" pitchFamily="34" charset="-120"/>
              </a:rPr>
              <a:t>ChessScreen &amp;</a:t>
            </a:r>
            <a:endParaRPr lang="en-US" sz="1700" dirty="0"/>
          </a:p>
          <a:p>
            <a:pPr marL="0" indent="0">
              <a:lnSpc>
                <a:spcPct val="105000"/>
              </a:lnSpc>
              <a:buNone/>
            </a:pPr>
            <a:r>
              <a:rPr lang="en-US" sz="1700" b="1" dirty="0">
                <a:solidFill>
                  <a:srgbClr val="FFFFFF"/>
                </a:solidFill>
                <a:latin typeface="Cambria" pitchFamily="34" charset="0"/>
                <a:ea typeface="Cambria" pitchFamily="34" charset="-122"/>
                <a:cs typeface="Cambria" pitchFamily="34" charset="-120"/>
              </a:rPr>
              <a:t>ChessBoardRenderer</a:t>
            </a:r>
            <a:endParaRPr lang="en-US" sz="1700" dirty="0"/>
          </a:p>
        </p:txBody>
      </p:sp>
      <p:sp>
        <p:nvSpPr>
          <p:cNvPr id="16" name="Text 12"/>
          <p:cNvSpPr txBox="1"/>
          <p:nvPr/>
        </p:nvSpPr>
        <p:spPr>
          <a:xfrm>
            <a:off x="4672584" y="3840480"/>
            <a:ext cx="2807208" cy="1143000"/>
          </a:xfrm>
          <a:prstGeom prst="rect">
            <a:avLst/>
          </a:prstGeom>
          <a:noFill/>
          <a:ln/>
        </p:spPr>
        <p:txBody>
          <a:bodyPr wrap="square" lIns="0" tIns="0" rIns="0" bIns="0" rtlCol="0" anchor="ctr"/>
          <a:lstStyle/>
          <a:p>
            <a:pPr marL="0" indent="0">
              <a:lnSpc>
                <a:spcPct val="120000"/>
              </a:lnSpc>
              <a:buNone/>
            </a:pPr>
            <a:r>
              <a:rPr lang="en-US" sz="1200" dirty="0">
                <a:solidFill>
                  <a:srgbClr val="A7ABB4"/>
                </a:solidFill>
                <a:latin typeface="Calibri" pitchFamily="34" charset="0"/>
                <a:ea typeface="Calibri" pitchFamily="34" charset="-122"/>
                <a:cs typeface="Calibri" pitchFamily="34" charset="-120"/>
              </a:rPr>
              <a:t>Chịu trách nhiệm 100% việc vẽ giao diện người dùng — không xử lý luật chơi.</a:t>
            </a:r>
            <a:endParaRPr lang="en-US" sz="1200" dirty="0"/>
          </a:p>
        </p:txBody>
      </p:sp>
      <p:sp>
        <p:nvSpPr>
          <p:cNvPr id="17" name="Text 13"/>
          <p:cNvSpPr txBox="1"/>
          <p:nvPr/>
        </p:nvSpPr>
        <p:spPr>
          <a:xfrm>
            <a:off x="7717536" y="3241548"/>
            <a:ext cx="457200" cy="512064"/>
          </a:xfrm>
          <a:prstGeom prst="rect">
            <a:avLst/>
          </a:prstGeom>
          <a:noFill/>
          <a:ln/>
        </p:spPr>
        <p:txBody>
          <a:bodyPr wrap="square" lIns="0" tIns="0" rIns="0" bIns="0" rtlCol="0" anchor="ctr"/>
          <a:lstStyle/>
          <a:p>
            <a:pPr marL="0" indent="0" algn="ctr">
              <a:buNone/>
            </a:pPr>
            <a:r>
              <a:rPr lang="en-US" sz="2600" b="1" dirty="0">
                <a:solidFill>
                  <a:srgbClr val="D4AF37"/>
                </a:solidFill>
                <a:latin typeface="Calibri" pitchFamily="34" charset="0"/>
                <a:ea typeface="Calibri" pitchFamily="34" charset="-122"/>
                <a:cs typeface="Calibri" pitchFamily="34" charset="-120"/>
              </a:rPr>
              <a:t>→</a:t>
            </a:r>
            <a:endParaRPr lang="en-US" sz="2600" dirty="0"/>
          </a:p>
        </p:txBody>
      </p:sp>
      <p:sp>
        <p:nvSpPr>
          <p:cNvPr id="18" name="Shape 14"/>
          <p:cNvSpPr/>
          <p:nvPr/>
        </p:nvSpPr>
        <p:spPr>
          <a:xfrm>
            <a:off x="8193024" y="1874520"/>
            <a:ext cx="3319272" cy="3246120"/>
          </a:xfrm>
          <a:prstGeom prst="roundRect">
            <a:avLst>
              <a:gd name="adj" fmla="val 3380"/>
            </a:avLst>
          </a:prstGeom>
          <a:solidFill>
            <a:srgbClr val="292B31"/>
          </a:solidFill>
          <a:ln w="12700">
            <a:solidFill>
              <a:srgbClr val="3D404A"/>
            </a:solidFill>
            <a:prstDash val="solid"/>
          </a:ln>
          <a:effectLst>
            <a:outerShdw blurRad="76200" dist="25400" dir="5400000" algn="bl" rotWithShape="0">
              <a:srgbClr val="000000">
                <a:alpha val="30000"/>
              </a:srgbClr>
            </a:outerShdw>
          </a:effectLst>
        </p:spPr>
        <p:txBody>
          <a:bodyPr/>
          <a:lstStyle/>
          <a:p>
            <a:endParaRPr lang="en-US"/>
          </a:p>
        </p:txBody>
      </p:sp>
      <p:sp>
        <p:nvSpPr>
          <p:cNvPr id="19" name="Shape 15"/>
          <p:cNvSpPr/>
          <p:nvPr/>
        </p:nvSpPr>
        <p:spPr>
          <a:xfrm>
            <a:off x="8449056" y="2130552"/>
            <a:ext cx="548640" cy="548640"/>
          </a:xfrm>
          <a:prstGeom prst="ellipse">
            <a:avLst/>
          </a:prstGeom>
          <a:solidFill>
            <a:srgbClr val="1F2025"/>
          </a:solidFill>
          <a:ln w="15875">
            <a:solidFill>
              <a:srgbClr val="D4AF37"/>
            </a:solidFill>
            <a:prstDash val="solid"/>
          </a:ln>
        </p:spPr>
        <p:txBody>
          <a:bodyPr/>
          <a:lstStyle/>
          <a:p>
            <a:endParaRPr lang="en-US"/>
          </a:p>
        </p:txBody>
      </p:sp>
      <p:pic>
        <p:nvPicPr>
          <p:cNvPr id="20" name="Image 2" descr="/home/claude/icons/shield.png"/>
          <p:cNvPicPr>
            <a:picLocks noChangeAspect="1"/>
          </p:cNvPicPr>
          <p:nvPr/>
        </p:nvPicPr>
        <p:blipFill>
          <a:blip r:embed="rId5"/>
          <a:stretch>
            <a:fillRect/>
          </a:stretch>
        </p:blipFill>
        <p:spPr>
          <a:xfrm>
            <a:off x="8595360" y="2276856"/>
            <a:ext cx="256032" cy="256032"/>
          </a:xfrm>
          <a:prstGeom prst="rect">
            <a:avLst/>
          </a:prstGeom>
        </p:spPr>
      </p:pic>
      <p:sp>
        <p:nvSpPr>
          <p:cNvPr id="21" name="Text 16"/>
          <p:cNvSpPr txBox="1"/>
          <p:nvPr/>
        </p:nvSpPr>
        <p:spPr>
          <a:xfrm>
            <a:off x="8449056" y="2807208"/>
            <a:ext cx="2807208" cy="237744"/>
          </a:xfrm>
          <a:prstGeom prst="rect">
            <a:avLst/>
          </a:prstGeom>
          <a:noFill/>
          <a:ln/>
        </p:spPr>
        <p:txBody>
          <a:bodyPr wrap="square" lIns="0" tIns="0" rIns="0" bIns="0" rtlCol="0" anchor="ctr"/>
          <a:lstStyle/>
          <a:p>
            <a:pPr marL="0" indent="0">
              <a:buNone/>
            </a:pPr>
            <a:r>
              <a:rPr lang="en-US" sz="1050" b="1" kern="0" spc="120" dirty="0">
                <a:solidFill>
                  <a:srgbClr val="D4AF37"/>
                </a:solidFill>
                <a:latin typeface="Calibri" pitchFamily="34" charset="0"/>
                <a:ea typeface="Calibri" pitchFamily="34" charset="-122"/>
                <a:cs typeface="Calibri" pitchFamily="34" charset="-120"/>
              </a:rPr>
              <a:t>LOGIC CỐT LÕI</a:t>
            </a:r>
            <a:endParaRPr lang="en-US" sz="1050" dirty="0"/>
          </a:p>
        </p:txBody>
      </p:sp>
      <p:sp>
        <p:nvSpPr>
          <p:cNvPr id="22" name="Text 17"/>
          <p:cNvSpPr txBox="1"/>
          <p:nvPr/>
        </p:nvSpPr>
        <p:spPr>
          <a:xfrm>
            <a:off x="8449056" y="3044952"/>
            <a:ext cx="2807208" cy="685800"/>
          </a:xfrm>
          <a:prstGeom prst="rect">
            <a:avLst/>
          </a:prstGeom>
          <a:noFill/>
          <a:ln/>
        </p:spPr>
        <p:txBody>
          <a:bodyPr wrap="square" lIns="0" tIns="0" rIns="0" bIns="0" rtlCol="0" anchor="ctr"/>
          <a:lstStyle/>
          <a:p>
            <a:pPr marL="0" indent="0">
              <a:lnSpc>
                <a:spcPct val="105000"/>
              </a:lnSpc>
              <a:buNone/>
            </a:pPr>
            <a:r>
              <a:rPr lang="en-US" sz="1700" b="1" dirty="0">
                <a:solidFill>
                  <a:srgbClr val="FFFFFF"/>
                </a:solidFill>
                <a:latin typeface="Cambria" pitchFamily="34" charset="0"/>
                <a:ea typeface="Cambria" pitchFamily="34" charset="-122"/>
                <a:cs typeface="Cambria" pitchFamily="34" charset="-120"/>
              </a:rPr>
              <a:t>Chess &amp;</a:t>
            </a:r>
            <a:endParaRPr lang="en-US" sz="1700" dirty="0"/>
          </a:p>
          <a:p>
            <a:pPr marL="0" indent="0">
              <a:lnSpc>
                <a:spcPct val="105000"/>
              </a:lnSpc>
              <a:buNone/>
            </a:pPr>
            <a:r>
              <a:rPr lang="en-US" sz="1700" b="1" dirty="0">
                <a:solidFill>
                  <a:srgbClr val="FFFFFF"/>
                </a:solidFill>
                <a:latin typeface="Cambria" pitchFamily="34" charset="0"/>
                <a:ea typeface="Cambria" pitchFamily="34" charset="-122"/>
                <a:cs typeface="Cambria" pitchFamily="34" charset="-120"/>
              </a:rPr>
              <a:t>ChessRules</a:t>
            </a:r>
            <a:endParaRPr lang="en-US" sz="1700" dirty="0"/>
          </a:p>
        </p:txBody>
      </p:sp>
      <p:sp>
        <p:nvSpPr>
          <p:cNvPr id="23" name="Text 18"/>
          <p:cNvSpPr txBox="1"/>
          <p:nvPr/>
        </p:nvSpPr>
        <p:spPr>
          <a:xfrm>
            <a:off x="8449056" y="3840480"/>
            <a:ext cx="2807208" cy="1143000"/>
          </a:xfrm>
          <a:prstGeom prst="rect">
            <a:avLst/>
          </a:prstGeom>
          <a:noFill/>
          <a:ln/>
        </p:spPr>
        <p:txBody>
          <a:bodyPr wrap="square" lIns="0" tIns="0" rIns="0" bIns="0" rtlCol="0" anchor="ctr"/>
          <a:lstStyle/>
          <a:p>
            <a:pPr marL="0" indent="0">
              <a:lnSpc>
                <a:spcPct val="120000"/>
              </a:lnSpc>
              <a:buNone/>
            </a:pPr>
            <a:r>
              <a:rPr lang="en-US" sz="1200" dirty="0">
                <a:solidFill>
                  <a:srgbClr val="A7ABB4"/>
                </a:solidFill>
                <a:latin typeface="Calibri" pitchFamily="34" charset="0"/>
                <a:ea typeface="Calibri" pitchFamily="34" charset="-122"/>
                <a:cs typeface="Calibri" pitchFamily="34" charset="-120"/>
              </a:rPr>
              <a:t>Xử lý toàn bộ luật chơi, không chứa bất kỳ yếu tố giao diện nào.</a:t>
            </a:r>
            <a:endParaRPr lang="en-US" sz="1200" dirty="0"/>
          </a:p>
        </p:txBody>
      </p:sp>
      <p:sp>
        <p:nvSpPr>
          <p:cNvPr id="24" name="Text 19"/>
          <p:cNvSpPr txBox="1"/>
          <p:nvPr/>
        </p:nvSpPr>
        <p:spPr>
          <a:xfrm>
            <a:off x="640080" y="5349240"/>
            <a:ext cx="10881360" cy="548640"/>
          </a:xfrm>
          <a:prstGeom prst="rect">
            <a:avLst/>
          </a:prstGeom>
          <a:noFill/>
          <a:ln/>
        </p:spPr>
        <p:txBody>
          <a:bodyPr wrap="square" lIns="0" tIns="0" rIns="0" bIns="0" rtlCol="0" anchor="ctr"/>
          <a:lstStyle/>
          <a:p>
            <a:pPr marL="0" indent="0">
              <a:lnSpc>
                <a:spcPct val="120000"/>
              </a:lnSpc>
              <a:buNone/>
            </a:pPr>
            <a:r>
              <a:rPr lang="en-US" sz="1250" i="1" dirty="0">
                <a:solidFill>
                  <a:srgbClr val="A7ABB4"/>
                </a:solidFill>
                <a:latin typeface="Calibri" pitchFamily="34" charset="0"/>
                <a:ea typeface="Calibri" pitchFamily="34" charset="-122"/>
                <a:cs typeface="Calibri" pitchFamily="34" charset="-120"/>
              </a:rPr>
              <a:t>Khi người dùng thao tác: ChessScreen ghi nhận sự kiện → MainActivity gọi Chess.java xử lý logic → kết quả trả về ChessBoardRenderer để cập nhật lại giao diện (highlight ô, vẽ lại quân cờ).</a:t>
            </a:r>
            <a:endParaRPr lang="en-US" sz="1250" dirty="0"/>
          </a:p>
        </p:txBody>
      </p:sp>
      <p:sp>
        <p:nvSpPr>
          <p:cNvPr id="25" name="Text 20"/>
          <p:cNvSpPr txBox="1"/>
          <p:nvPr/>
        </p:nvSpPr>
        <p:spPr>
          <a:xfrm>
            <a:off x="457200" y="6528816"/>
            <a:ext cx="6400800" cy="274320"/>
          </a:xfrm>
          <a:prstGeom prst="rect">
            <a:avLst/>
          </a:prstGeom>
          <a:noFill/>
          <a:ln/>
        </p:spPr>
        <p:txBody>
          <a:bodyPr wrap="square" lIns="0" tIns="0" rIns="0" bIns="0" rtlCol="0" anchor="ctr"/>
          <a:lstStyle/>
          <a:p>
            <a:pPr marL="0" indent="0" algn="l">
              <a:buNone/>
            </a:pPr>
            <a:r>
              <a:rPr lang="en-US" sz="900" kern="0" spc="100" dirty="0">
                <a:solidFill>
                  <a:srgbClr val="A7ABB4"/>
                </a:solidFill>
                <a:latin typeface="Calibri" pitchFamily="34" charset="0"/>
                <a:ea typeface="Calibri" pitchFamily="34" charset="-122"/>
                <a:cs typeface="Calibri" pitchFamily="34" charset="-120"/>
              </a:rPr>
              <a:t>ỨNG DỤNG CHESS GAME TRÊN ANDROID</a:t>
            </a:r>
            <a:endParaRPr lang="en-US" sz="900" dirty="0"/>
          </a:p>
        </p:txBody>
      </p:sp>
      <p:sp>
        <p:nvSpPr>
          <p:cNvPr id="26" name="Text 21"/>
          <p:cNvSpPr txBox="1"/>
          <p:nvPr/>
        </p:nvSpPr>
        <p:spPr>
          <a:xfrm>
            <a:off x="11338560" y="6528816"/>
            <a:ext cx="457200" cy="274320"/>
          </a:xfrm>
          <a:prstGeom prst="rect">
            <a:avLst/>
          </a:prstGeom>
          <a:noFill/>
          <a:ln/>
        </p:spPr>
        <p:txBody>
          <a:bodyPr wrap="square" lIns="0" tIns="0" rIns="0" bIns="0" rtlCol="0" anchor="ctr"/>
          <a:lstStyle/>
          <a:p>
            <a:pPr marL="0" indent="0" algn="r">
              <a:buNone/>
            </a:pPr>
            <a:r>
              <a:rPr lang="en-US" sz="900" dirty="0">
                <a:solidFill>
                  <a:srgbClr val="A7ABB4"/>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2025"/>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marL="0" indent="0">
              <a:buNone/>
            </a:pPr>
            <a:r>
              <a:rPr lang="en-US" sz="1300" b="1" kern="0" spc="200" dirty="0">
                <a:solidFill>
                  <a:srgbClr val="D4AF37"/>
                </a:solidFill>
                <a:latin typeface="Calibri" pitchFamily="34" charset="0"/>
                <a:ea typeface="Calibri" pitchFamily="34" charset="-122"/>
                <a:cs typeface="Calibri" pitchFamily="34" charset="-120"/>
              </a:rPr>
              <a:t>PHẦN 02</a:t>
            </a:r>
            <a:endParaRPr lang="en-US" sz="1300" dirty="0"/>
          </a:p>
        </p:txBody>
      </p:sp>
      <p:sp>
        <p:nvSpPr>
          <p:cNvPr id="3" name="Text 1"/>
          <p:cNvSpPr txBox="1"/>
          <p:nvPr/>
        </p:nvSpPr>
        <p:spPr>
          <a:xfrm>
            <a:off x="621792" y="768096"/>
            <a:ext cx="1088136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Công nghệ &amp; Framework</a:t>
            </a:r>
            <a:endParaRPr lang="en-US" sz="3200" dirty="0"/>
          </a:p>
        </p:txBody>
      </p:sp>
      <p:sp>
        <p:nvSpPr>
          <p:cNvPr id="4" name="Shape 2"/>
          <p:cNvSpPr/>
          <p:nvPr/>
        </p:nvSpPr>
        <p:spPr>
          <a:xfrm>
            <a:off x="640080" y="1737360"/>
            <a:ext cx="10881360" cy="1207008"/>
          </a:xfrm>
          <a:prstGeom prst="roundRect">
            <a:avLst>
              <a:gd name="adj" fmla="val 9091"/>
            </a:avLst>
          </a:prstGeom>
          <a:solidFill>
            <a:srgbClr val="292B31"/>
          </a:solidFill>
          <a:ln/>
        </p:spPr>
        <p:txBody>
          <a:bodyPr/>
          <a:lstStyle/>
          <a:p>
            <a:endParaRPr lang="en-US"/>
          </a:p>
        </p:txBody>
      </p:sp>
      <p:sp>
        <p:nvSpPr>
          <p:cNvPr id="5" name="Shape 3"/>
          <p:cNvSpPr/>
          <p:nvPr/>
        </p:nvSpPr>
        <p:spPr>
          <a:xfrm>
            <a:off x="896112" y="2048256"/>
            <a:ext cx="585216" cy="585216"/>
          </a:xfrm>
          <a:prstGeom prst="ellipse">
            <a:avLst/>
          </a:prstGeom>
          <a:solidFill>
            <a:srgbClr val="323540"/>
          </a:solidFill>
          <a:ln w="12700">
            <a:solidFill>
              <a:srgbClr val="D4AF37"/>
            </a:solidFill>
            <a:prstDash val="solid"/>
          </a:ln>
        </p:spPr>
        <p:txBody>
          <a:bodyPr/>
          <a:lstStyle/>
          <a:p>
            <a:endParaRPr lang="en-US"/>
          </a:p>
        </p:txBody>
      </p:sp>
      <p:pic>
        <p:nvPicPr>
          <p:cNvPr id="6" name="Image 0" descr="/home/claude/icons/mobile.png"/>
          <p:cNvPicPr>
            <a:picLocks noChangeAspect="1"/>
          </p:cNvPicPr>
          <p:nvPr/>
        </p:nvPicPr>
        <p:blipFill>
          <a:blip r:embed="rId3"/>
          <a:stretch>
            <a:fillRect/>
          </a:stretch>
        </p:blipFill>
        <p:spPr>
          <a:xfrm>
            <a:off x="1051560" y="2203704"/>
            <a:ext cx="274320" cy="274320"/>
          </a:xfrm>
          <a:prstGeom prst="rect">
            <a:avLst/>
          </a:prstGeom>
        </p:spPr>
      </p:pic>
      <p:sp>
        <p:nvSpPr>
          <p:cNvPr id="7" name="Text 4"/>
          <p:cNvSpPr txBox="1"/>
          <p:nvPr/>
        </p:nvSpPr>
        <p:spPr>
          <a:xfrm>
            <a:off x="1783080" y="1883664"/>
            <a:ext cx="9052560" cy="329184"/>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Android SDK (Java)</a:t>
            </a:r>
            <a:endParaRPr lang="en-US" sz="1550" dirty="0"/>
          </a:p>
        </p:txBody>
      </p:sp>
      <p:sp>
        <p:nvSpPr>
          <p:cNvPr id="8" name="Text 5"/>
          <p:cNvSpPr txBox="1"/>
          <p:nvPr/>
        </p:nvSpPr>
        <p:spPr>
          <a:xfrm>
            <a:off x="1783080" y="2231136"/>
            <a:ext cx="9052560" cy="640080"/>
          </a:xfrm>
          <a:prstGeom prst="rect">
            <a:avLst/>
          </a:prstGeom>
          <a:noFill/>
          <a:ln/>
        </p:spPr>
        <p:txBody>
          <a:bodyPr wrap="square" lIns="0" tIns="0" rIns="0" bIns="0" rtlCol="0" anchor="ctr"/>
          <a:lstStyle/>
          <a:p>
            <a:pPr marL="0" indent="0">
              <a:lnSpc>
                <a:spcPct val="118000"/>
              </a:lnSpc>
              <a:buNone/>
            </a:pPr>
            <a:r>
              <a:rPr lang="en-US" sz="1200" dirty="0">
                <a:solidFill>
                  <a:srgbClr val="A7ABB4"/>
                </a:solidFill>
                <a:latin typeface="Calibri" pitchFamily="34" charset="0"/>
                <a:ea typeface="Calibri" pitchFamily="34" charset="-122"/>
                <a:cs typeface="Calibri" pitchFamily="34" charset="-120"/>
              </a:rPr>
              <a:t>Ngôn ngữ chính để phát triển toàn bộ </a:t>
            </a:r>
            <a:r>
              <a:rPr lang="en-US" sz="1200" dirty="0" err="1">
                <a:solidFill>
                  <a:srgbClr val="A7ABB4"/>
                </a:solidFill>
                <a:latin typeface="Calibri" pitchFamily="34" charset="0"/>
                <a:ea typeface="Calibri" pitchFamily="34" charset="-122"/>
                <a:cs typeface="Calibri" pitchFamily="34" charset="-120"/>
              </a:rPr>
              <a:t>ứng</a:t>
            </a:r>
            <a:r>
              <a:rPr lang="en-US" sz="1200" dirty="0">
                <a:solidFill>
                  <a:srgbClr val="A7ABB4"/>
                </a:solidFill>
                <a:latin typeface="Calibri" pitchFamily="34" charset="0"/>
                <a:ea typeface="Calibri" pitchFamily="34" charset="-122"/>
                <a:cs typeface="Calibri" pitchFamily="34" charset="-120"/>
              </a:rPr>
              <a:t> </a:t>
            </a:r>
            <a:r>
              <a:rPr lang="en-US" sz="1200" dirty="0" err="1">
                <a:solidFill>
                  <a:srgbClr val="A7ABB4"/>
                </a:solidFill>
                <a:latin typeface="Calibri" pitchFamily="34" charset="0"/>
                <a:ea typeface="Calibri" pitchFamily="34" charset="-122"/>
                <a:cs typeface="Calibri" pitchFamily="34" charset="-120"/>
              </a:rPr>
              <a:t>dụng</a:t>
            </a:r>
            <a:r>
              <a:rPr lang="en-US" sz="1200" dirty="0">
                <a:solidFill>
                  <a:srgbClr val="A7ABB4"/>
                </a:solidFill>
                <a:latin typeface="Calibri" pitchFamily="34" charset="0"/>
                <a:ea typeface="Calibri" pitchFamily="34" charset="-122"/>
                <a:cs typeface="Calibri" pitchFamily="34" charset="-120"/>
              </a:rPr>
              <a:t> </a:t>
            </a:r>
            <a:r>
              <a:rPr lang="en-US" sz="1200" dirty="0" err="1">
                <a:solidFill>
                  <a:srgbClr val="A7ABB4"/>
                </a:solidFill>
                <a:latin typeface="Calibri" pitchFamily="34" charset="0"/>
                <a:ea typeface="Calibri" pitchFamily="34" charset="-122"/>
                <a:cs typeface="Calibri" pitchFamily="34" charset="-120"/>
              </a:rPr>
              <a:t>trên</a:t>
            </a:r>
            <a:r>
              <a:rPr lang="en-US" sz="1200" dirty="0">
                <a:solidFill>
                  <a:srgbClr val="A7ABB4"/>
                </a:solidFill>
                <a:latin typeface="Calibri" pitchFamily="34" charset="0"/>
                <a:ea typeface="Calibri" pitchFamily="34" charset="-122"/>
                <a:cs typeface="Calibri" pitchFamily="34" charset="-120"/>
              </a:rPr>
              <a:t> Android Studio</a:t>
            </a:r>
            <a:endParaRPr lang="en-US" sz="1200" dirty="0"/>
          </a:p>
        </p:txBody>
      </p:sp>
      <p:sp>
        <p:nvSpPr>
          <p:cNvPr id="9" name="Shape 6"/>
          <p:cNvSpPr/>
          <p:nvPr/>
        </p:nvSpPr>
        <p:spPr>
          <a:xfrm>
            <a:off x="640080" y="3127248"/>
            <a:ext cx="10881360" cy="1207008"/>
          </a:xfrm>
          <a:prstGeom prst="roundRect">
            <a:avLst>
              <a:gd name="adj" fmla="val 9091"/>
            </a:avLst>
          </a:prstGeom>
          <a:solidFill>
            <a:srgbClr val="292B31"/>
          </a:solidFill>
          <a:ln/>
        </p:spPr>
        <p:txBody>
          <a:bodyPr/>
          <a:lstStyle/>
          <a:p>
            <a:endParaRPr lang="en-US"/>
          </a:p>
        </p:txBody>
      </p:sp>
      <p:sp>
        <p:nvSpPr>
          <p:cNvPr id="10" name="Shape 7"/>
          <p:cNvSpPr/>
          <p:nvPr/>
        </p:nvSpPr>
        <p:spPr>
          <a:xfrm>
            <a:off x="896112" y="3438144"/>
            <a:ext cx="585216" cy="585216"/>
          </a:xfrm>
          <a:prstGeom prst="ellipse">
            <a:avLst/>
          </a:prstGeom>
          <a:solidFill>
            <a:srgbClr val="323540"/>
          </a:solidFill>
          <a:ln w="12700">
            <a:solidFill>
              <a:srgbClr val="D4AF37"/>
            </a:solidFill>
            <a:prstDash val="solid"/>
          </a:ln>
        </p:spPr>
        <p:txBody>
          <a:bodyPr/>
          <a:lstStyle/>
          <a:p>
            <a:endParaRPr lang="en-US"/>
          </a:p>
        </p:txBody>
      </p:sp>
      <p:pic>
        <p:nvPicPr>
          <p:cNvPr id="11" name="Image 1" descr="/home/claude/icons/code.png"/>
          <p:cNvPicPr>
            <a:picLocks noChangeAspect="1"/>
          </p:cNvPicPr>
          <p:nvPr/>
        </p:nvPicPr>
        <p:blipFill>
          <a:blip r:embed="rId4"/>
          <a:stretch>
            <a:fillRect/>
          </a:stretch>
        </p:blipFill>
        <p:spPr>
          <a:xfrm>
            <a:off x="1051560" y="3593592"/>
            <a:ext cx="274320" cy="274320"/>
          </a:xfrm>
          <a:prstGeom prst="rect">
            <a:avLst/>
          </a:prstGeom>
        </p:spPr>
      </p:pic>
      <p:sp>
        <p:nvSpPr>
          <p:cNvPr id="12" name="Text 8"/>
          <p:cNvSpPr txBox="1"/>
          <p:nvPr/>
        </p:nvSpPr>
        <p:spPr>
          <a:xfrm>
            <a:off x="1783080" y="3273552"/>
            <a:ext cx="9052560" cy="329184"/>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Programmatic UI</a:t>
            </a:r>
            <a:endParaRPr lang="en-US" sz="1550" dirty="0"/>
          </a:p>
        </p:txBody>
      </p:sp>
      <p:sp>
        <p:nvSpPr>
          <p:cNvPr id="13" name="Text 9"/>
          <p:cNvSpPr txBox="1"/>
          <p:nvPr/>
        </p:nvSpPr>
        <p:spPr>
          <a:xfrm>
            <a:off x="1783080" y="3621024"/>
            <a:ext cx="9052560" cy="640080"/>
          </a:xfrm>
          <a:prstGeom prst="rect">
            <a:avLst/>
          </a:prstGeom>
          <a:noFill/>
          <a:ln/>
        </p:spPr>
        <p:txBody>
          <a:bodyPr wrap="square" lIns="0" tIns="0" rIns="0" bIns="0" rtlCol="0" anchor="ctr"/>
          <a:lstStyle/>
          <a:p>
            <a:pPr marL="0" indent="0">
              <a:lnSpc>
                <a:spcPct val="118000"/>
              </a:lnSpc>
              <a:buNone/>
            </a:pPr>
            <a:r>
              <a:rPr lang="en-US" sz="1200" dirty="0">
                <a:solidFill>
                  <a:srgbClr val="A7ABB4"/>
                </a:solidFill>
                <a:latin typeface="Calibri" pitchFamily="34" charset="0"/>
                <a:ea typeface="Calibri" pitchFamily="34" charset="-122"/>
                <a:cs typeface="Calibri" pitchFamily="34" charset="-120"/>
              </a:rPr>
              <a:t>Không dùng XML truyền thống cho màn hình chính — UI được dựng động bằng Java (LinearLayout, GridLayout, GradientDrawable), kiểm soát chính xác kích thước và màu sắc.</a:t>
            </a:r>
            <a:endParaRPr lang="en-US" sz="1200" dirty="0"/>
          </a:p>
        </p:txBody>
      </p:sp>
      <p:sp>
        <p:nvSpPr>
          <p:cNvPr id="14" name="Shape 10"/>
          <p:cNvSpPr/>
          <p:nvPr/>
        </p:nvSpPr>
        <p:spPr>
          <a:xfrm>
            <a:off x="640080" y="4517136"/>
            <a:ext cx="10881360" cy="1207008"/>
          </a:xfrm>
          <a:prstGeom prst="roundRect">
            <a:avLst>
              <a:gd name="adj" fmla="val 9091"/>
            </a:avLst>
          </a:prstGeom>
          <a:solidFill>
            <a:srgbClr val="292B31"/>
          </a:solidFill>
          <a:ln/>
        </p:spPr>
        <p:txBody>
          <a:bodyPr/>
          <a:lstStyle/>
          <a:p>
            <a:endParaRPr lang="en-US"/>
          </a:p>
        </p:txBody>
      </p:sp>
      <p:sp>
        <p:nvSpPr>
          <p:cNvPr id="15" name="Shape 11"/>
          <p:cNvSpPr/>
          <p:nvPr/>
        </p:nvSpPr>
        <p:spPr>
          <a:xfrm>
            <a:off x="896112" y="4828032"/>
            <a:ext cx="585216" cy="585216"/>
          </a:xfrm>
          <a:prstGeom prst="ellipse">
            <a:avLst/>
          </a:prstGeom>
          <a:solidFill>
            <a:srgbClr val="323540"/>
          </a:solidFill>
          <a:ln w="12700">
            <a:solidFill>
              <a:srgbClr val="D4AF37"/>
            </a:solidFill>
            <a:prstDash val="solid"/>
          </a:ln>
        </p:spPr>
        <p:txBody>
          <a:bodyPr/>
          <a:lstStyle/>
          <a:p>
            <a:endParaRPr lang="en-US"/>
          </a:p>
        </p:txBody>
      </p:sp>
      <p:pic>
        <p:nvPicPr>
          <p:cNvPr id="16" name="Image 2" descr="/home/claude/icons/cloud.png"/>
          <p:cNvPicPr>
            <a:picLocks noChangeAspect="1"/>
          </p:cNvPicPr>
          <p:nvPr/>
        </p:nvPicPr>
        <p:blipFill>
          <a:blip r:embed="rId5"/>
          <a:stretch>
            <a:fillRect/>
          </a:stretch>
        </p:blipFill>
        <p:spPr>
          <a:xfrm>
            <a:off x="1051560" y="4983480"/>
            <a:ext cx="274320" cy="274320"/>
          </a:xfrm>
          <a:prstGeom prst="rect">
            <a:avLst/>
          </a:prstGeom>
        </p:spPr>
      </p:pic>
      <p:sp>
        <p:nvSpPr>
          <p:cNvPr id="17" name="Text 12"/>
          <p:cNvSpPr txBox="1"/>
          <p:nvPr/>
        </p:nvSpPr>
        <p:spPr>
          <a:xfrm>
            <a:off x="1783080" y="4663440"/>
            <a:ext cx="9052560" cy="329184"/>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RESTful API (tương lai)</a:t>
            </a:r>
            <a:endParaRPr lang="en-US" sz="1550" dirty="0"/>
          </a:p>
        </p:txBody>
      </p:sp>
      <p:sp>
        <p:nvSpPr>
          <p:cNvPr id="18" name="Text 13"/>
          <p:cNvSpPr txBox="1"/>
          <p:nvPr/>
        </p:nvSpPr>
        <p:spPr>
          <a:xfrm>
            <a:off x="1783080" y="5010912"/>
            <a:ext cx="9052560" cy="640080"/>
          </a:xfrm>
          <a:prstGeom prst="rect">
            <a:avLst/>
          </a:prstGeom>
          <a:noFill/>
          <a:ln/>
        </p:spPr>
        <p:txBody>
          <a:bodyPr wrap="square" lIns="0" tIns="0" rIns="0" bIns="0" rtlCol="0" anchor="ctr"/>
          <a:lstStyle/>
          <a:p>
            <a:pPr marL="0" indent="0">
              <a:lnSpc>
                <a:spcPct val="118000"/>
              </a:lnSpc>
              <a:buNone/>
            </a:pPr>
            <a:r>
              <a:rPr lang="en-US" sz="1200" dirty="0">
                <a:solidFill>
                  <a:srgbClr val="A7ABB4"/>
                </a:solidFill>
                <a:latin typeface="Calibri" pitchFamily="34" charset="0"/>
                <a:ea typeface="Calibri" pitchFamily="34" charset="-122"/>
                <a:cs typeface="Calibri" pitchFamily="34" charset="-120"/>
              </a:rPr>
              <a:t>Tích hợp ChessBotApiClient và FenConverter để giao tiếp với Chess Engine bên ngoài qua HTTP.</a:t>
            </a:r>
            <a:endParaRPr lang="en-US" sz="1200" dirty="0"/>
          </a:p>
        </p:txBody>
      </p:sp>
      <p:sp>
        <p:nvSpPr>
          <p:cNvPr id="19" name="Text 14"/>
          <p:cNvSpPr txBox="1"/>
          <p:nvPr/>
        </p:nvSpPr>
        <p:spPr>
          <a:xfrm>
            <a:off x="457200" y="6528816"/>
            <a:ext cx="6400800" cy="274320"/>
          </a:xfrm>
          <a:prstGeom prst="rect">
            <a:avLst/>
          </a:prstGeom>
          <a:noFill/>
          <a:ln/>
        </p:spPr>
        <p:txBody>
          <a:bodyPr wrap="square" lIns="0" tIns="0" rIns="0" bIns="0" rtlCol="0" anchor="ctr"/>
          <a:lstStyle/>
          <a:p>
            <a:pPr marL="0" indent="0" algn="l">
              <a:buNone/>
            </a:pPr>
            <a:r>
              <a:rPr lang="en-US" sz="900" kern="0" spc="100" dirty="0">
                <a:solidFill>
                  <a:srgbClr val="A7ABB4"/>
                </a:solidFill>
                <a:latin typeface="Calibri" pitchFamily="34" charset="0"/>
                <a:ea typeface="Calibri" pitchFamily="34" charset="-122"/>
                <a:cs typeface="Calibri" pitchFamily="34" charset="-120"/>
              </a:rPr>
              <a:t>ỨNG DỤNG CHESS GAME TRÊN ANDROID</a:t>
            </a:r>
            <a:endParaRPr lang="en-US" sz="900" dirty="0"/>
          </a:p>
        </p:txBody>
      </p:sp>
      <p:sp>
        <p:nvSpPr>
          <p:cNvPr id="20" name="Text 15"/>
          <p:cNvSpPr txBox="1"/>
          <p:nvPr/>
        </p:nvSpPr>
        <p:spPr>
          <a:xfrm>
            <a:off x="11338560" y="6528816"/>
            <a:ext cx="457200" cy="274320"/>
          </a:xfrm>
          <a:prstGeom prst="rect">
            <a:avLst/>
          </a:prstGeom>
          <a:noFill/>
          <a:ln/>
        </p:spPr>
        <p:txBody>
          <a:bodyPr wrap="square" lIns="0" tIns="0" rIns="0" bIns="0" rtlCol="0" anchor="ctr"/>
          <a:lstStyle/>
          <a:p>
            <a:pPr marL="0" indent="0" algn="r">
              <a:buNone/>
            </a:pPr>
            <a:r>
              <a:rPr lang="en-US" sz="900" dirty="0">
                <a:solidFill>
                  <a:srgbClr val="A7ABB4"/>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2025"/>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marL="0" indent="0">
              <a:buNone/>
            </a:pPr>
            <a:r>
              <a:rPr lang="en-US" sz="1300" b="1" kern="0" spc="200" dirty="0">
                <a:solidFill>
                  <a:srgbClr val="D4AF37"/>
                </a:solidFill>
                <a:latin typeface="Calibri" pitchFamily="34" charset="0"/>
                <a:ea typeface="Calibri" pitchFamily="34" charset="-122"/>
                <a:cs typeface="Calibri" pitchFamily="34" charset="-120"/>
              </a:rPr>
              <a:t>PHẦN 02</a:t>
            </a:r>
            <a:endParaRPr lang="en-US" sz="1300" dirty="0"/>
          </a:p>
        </p:txBody>
      </p:sp>
      <p:sp>
        <p:nvSpPr>
          <p:cNvPr id="3" name="Text 1"/>
          <p:cNvSpPr txBox="1"/>
          <p:nvPr/>
        </p:nvSpPr>
        <p:spPr>
          <a:xfrm>
            <a:off x="621792" y="768096"/>
            <a:ext cx="1088136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Thuật toán sinh nước đi</a:t>
            </a:r>
            <a:endParaRPr lang="en-US" sz="3200" dirty="0"/>
          </a:p>
        </p:txBody>
      </p:sp>
      <p:sp>
        <p:nvSpPr>
          <p:cNvPr id="4" name="Text 2"/>
          <p:cNvSpPr txBox="1"/>
          <p:nvPr/>
        </p:nvSpPr>
        <p:spPr>
          <a:xfrm>
            <a:off x="640080" y="1627632"/>
            <a:ext cx="10881360" cy="457200"/>
          </a:xfrm>
          <a:prstGeom prst="rect">
            <a:avLst/>
          </a:prstGeom>
          <a:noFill/>
          <a:ln/>
        </p:spPr>
        <p:txBody>
          <a:bodyPr wrap="square" lIns="0" tIns="0" rIns="0" bIns="0" rtlCol="0" anchor="ctr"/>
          <a:lstStyle/>
          <a:p>
            <a:pPr marL="0" indent="0">
              <a:lnSpc>
                <a:spcPct val="115000"/>
              </a:lnSpc>
              <a:buNone/>
            </a:pPr>
            <a:r>
              <a:rPr lang="en-US" sz="1300" dirty="0">
                <a:solidFill>
                  <a:srgbClr val="E4E6EA"/>
                </a:solidFill>
                <a:latin typeface="Calibri" pitchFamily="34" charset="0"/>
                <a:ea typeface="Calibri" pitchFamily="34" charset="-122"/>
                <a:cs typeface="Calibri" pitchFamily="34" charset="-120"/>
              </a:rPr>
              <a:t>Mô hình hướng đối tượng — mỗi loại quân cờ có một generator riêng, tính toán mọi ô có thể đi dựa trên vector di chuyển và vật cản.</a:t>
            </a:r>
            <a:endParaRPr lang="en-US" sz="1300" dirty="0"/>
          </a:p>
        </p:txBody>
      </p:sp>
      <p:sp>
        <p:nvSpPr>
          <p:cNvPr id="5" name="Shape 3"/>
          <p:cNvSpPr/>
          <p:nvPr/>
        </p:nvSpPr>
        <p:spPr>
          <a:xfrm>
            <a:off x="640080" y="2331720"/>
            <a:ext cx="2587752" cy="1417320"/>
          </a:xfrm>
          <a:prstGeom prst="roundRect">
            <a:avLst>
              <a:gd name="adj" fmla="val 7742"/>
            </a:avLst>
          </a:prstGeom>
          <a:solidFill>
            <a:srgbClr val="292B31"/>
          </a:solidFill>
          <a:ln w="12700">
            <a:solidFill>
              <a:srgbClr val="3D404A"/>
            </a:solidFill>
            <a:prstDash val="solid"/>
          </a:ln>
        </p:spPr>
        <p:txBody>
          <a:bodyPr/>
          <a:lstStyle/>
          <a:p>
            <a:endParaRPr lang="en-US"/>
          </a:p>
        </p:txBody>
      </p:sp>
      <p:sp>
        <p:nvSpPr>
          <p:cNvPr id="6" name="Shape 4"/>
          <p:cNvSpPr/>
          <p:nvPr/>
        </p:nvSpPr>
        <p:spPr>
          <a:xfrm>
            <a:off x="640080" y="2331720"/>
            <a:ext cx="2587752" cy="54864"/>
          </a:xfrm>
          <a:prstGeom prst="rect">
            <a:avLst/>
          </a:prstGeom>
          <a:solidFill>
            <a:srgbClr val="D4AF37"/>
          </a:solidFill>
          <a:ln/>
        </p:spPr>
        <p:txBody>
          <a:bodyPr/>
          <a:lstStyle/>
          <a:p>
            <a:endParaRPr lang="en-US"/>
          </a:p>
        </p:txBody>
      </p:sp>
      <p:sp>
        <p:nvSpPr>
          <p:cNvPr id="7" name="Text 5"/>
          <p:cNvSpPr txBox="1"/>
          <p:nvPr/>
        </p:nvSpPr>
        <p:spPr>
          <a:xfrm>
            <a:off x="822960" y="2514600"/>
            <a:ext cx="2221992"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Tốt (Pawn)</a:t>
            </a:r>
            <a:endParaRPr lang="en-US" sz="1300" dirty="0"/>
          </a:p>
        </p:txBody>
      </p:sp>
      <p:sp>
        <p:nvSpPr>
          <p:cNvPr id="8" name="Text 6"/>
          <p:cNvSpPr txBox="1"/>
          <p:nvPr/>
        </p:nvSpPr>
        <p:spPr>
          <a:xfrm>
            <a:off x="822960" y="2907792"/>
            <a:ext cx="2221992" cy="731520"/>
          </a:xfrm>
          <a:prstGeom prst="rect">
            <a:avLst/>
          </a:prstGeom>
          <a:noFill/>
          <a:ln/>
        </p:spPr>
        <p:txBody>
          <a:bodyPr wrap="square" lIns="0" tIns="0" rIns="0" bIns="0" rtlCol="0" anchor="ctr"/>
          <a:lstStyle/>
          <a:p>
            <a:pPr marL="0" indent="0">
              <a:buNone/>
            </a:pPr>
            <a:r>
              <a:rPr lang="en-US" sz="1050" dirty="0">
                <a:solidFill>
                  <a:srgbClr val="D4AF37"/>
                </a:solidFill>
                <a:latin typeface="Consolas" pitchFamily="34" charset="0"/>
                <a:ea typeface="Consolas" pitchFamily="34" charset="-122"/>
                <a:cs typeface="Consolas" pitchFamily="34" charset="-120"/>
              </a:rPr>
              <a:t>PawnMoveGenerator</a:t>
            </a:r>
            <a:endParaRPr lang="en-US" sz="1050" dirty="0"/>
          </a:p>
        </p:txBody>
      </p:sp>
      <p:sp>
        <p:nvSpPr>
          <p:cNvPr id="9" name="Shape 7"/>
          <p:cNvSpPr/>
          <p:nvPr/>
        </p:nvSpPr>
        <p:spPr>
          <a:xfrm>
            <a:off x="3410712" y="2331720"/>
            <a:ext cx="2587752" cy="1417320"/>
          </a:xfrm>
          <a:prstGeom prst="roundRect">
            <a:avLst>
              <a:gd name="adj" fmla="val 7742"/>
            </a:avLst>
          </a:prstGeom>
          <a:solidFill>
            <a:srgbClr val="292B31"/>
          </a:solidFill>
          <a:ln w="12700">
            <a:solidFill>
              <a:srgbClr val="3D404A"/>
            </a:solidFill>
            <a:prstDash val="solid"/>
          </a:ln>
        </p:spPr>
        <p:txBody>
          <a:bodyPr/>
          <a:lstStyle/>
          <a:p>
            <a:endParaRPr lang="en-US"/>
          </a:p>
        </p:txBody>
      </p:sp>
      <p:sp>
        <p:nvSpPr>
          <p:cNvPr id="10" name="Shape 8"/>
          <p:cNvSpPr/>
          <p:nvPr/>
        </p:nvSpPr>
        <p:spPr>
          <a:xfrm>
            <a:off x="3410712" y="2331720"/>
            <a:ext cx="2587752" cy="54864"/>
          </a:xfrm>
          <a:prstGeom prst="rect">
            <a:avLst/>
          </a:prstGeom>
          <a:solidFill>
            <a:srgbClr val="D4AF37"/>
          </a:solidFill>
          <a:ln/>
        </p:spPr>
        <p:txBody>
          <a:bodyPr/>
          <a:lstStyle/>
          <a:p>
            <a:endParaRPr lang="en-US"/>
          </a:p>
        </p:txBody>
      </p:sp>
      <p:sp>
        <p:nvSpPr>
          <p:cNvPr id="11" name="Text 9"/>
          <p:cNvSpPr txBox="1"/>
          <p:nvPr/>
        </p:nvSpPr>
        <p:spPr>
          <a:xfrm>
            <a:off x="3593592" y="2514600"/>
            <a:ext cx="2221992"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Mã (Knight)</a:t>
            </a:r>
            <a:endParaRPr lang="en-US" sz="1300" dirty="0"/>
          </a:p>
        </p:txBody>
      </p:sp>
      <p:sp>
        <p:nvSpPr>
          <p:cNvPr id="12" name="Text 10"/>
          <p:cNvSpPr txBox="1"/>
          <p:nvPr/>
        </p:nvSpPr>
        <p:spPr>
          <a:xfrm>
            <a:off x="3593592" y="2907792"/>
            <a:ext cx="2221992" cy="731520"/>
          </a:xfrm>
          <a:prstGeom prst="rect">
            <a:avLst/>
          </a:prstGeom>
          <a:noFill/>
          <a:ln/>
        </p:spPr>
        <p:txBody>
          <a:bodyPr wrap="square" lIns="0" tIns="0" rIns="0" bIns="0" rtlCol="0" anchor="ctr"/>
          <a:lstStyle/>
          <a:p>
            <a:pPr marL="0" indent="0">
              <a:buNone/>
            </a:pPr>
            <a:r>
              <a:rPr lang="en-US" sz="1050" dirty="0">
                <a:solidFill>
                  <a:srgbClr val="D4AF37"/>
                </a:solidFill>
                <a:latin typeface="Consolas" pitchFamily="34" charset="0"/>
                <a:ea typeface="Consolas" pitchFamily="34" charset="-122"/>
                <a:cs typeface="Consolas" pitchFamily="34" charset="-120"/>
              </a:rPr>
              <a:t>KnightMoveGenerator</a:t>
            </a:r>
            <a:endParaRPr lang="en-US" sz="1050" dirty="0"/>
          </a:p>
        </p:txBody>
      </p:sp>
      <p:sp>
        <p:nvSpPr>
          <p:cNvPr id="13" name="Shape 11"/>
          <p:cNvSpPr/>
          <p:nvPr/>
        </p:nvSpPr>
        <p:spPr>
          <a:xfrm>
            <a:off x="6181344" y="2331720"/>
            <a:ext cx="2587752" cy="1417320"/>
          </a:xfrm>
          <a:prstGeom prst="roundRect">
            <a:avLst>
              <a:gd name="adj" fmla="val 7742"/>
            </a:avLst>
          </a:prstGeom>
          <a:solidFill>
            <a:srgbClr val="292B31"/>
          </a:solidFill>
          <a:ln w="12700">
            <a:solidFill>
              <a:srgbClr val="3D404A"/>
            </a:solidFill>
            <a:prstDash val="solid"/>
          </a:ln>
        </p:spPr>
        <p:txBody>
          <a:bodyPr/>
          <a:lstStyle/>
          <a:p>
            <a:endParaRPr lang="en-US"/>
          </a:p>
        </p:txBody>
      </p:sp>
      <p:sp>
        <p:nvSpPr>
          <p:cNvPr id="14" name="Shape 12"/>
          <p:cNvSpPr/>
          <p:nvPr/>
        </p:nvSpPr>
        <p:spPr>
          <a:xfrm>
            <a:off x="6181344" y="2331720"/>
            <a:ext cx="2587752" cy="54864"/>
          </a:xfrm>
          <a:prstGeom prst="rect">
            <a:avLst/>
          </a:prstGeom>
          <a:solidFill>
            <a:srgbClr val="D4AF37"/>
          </a:solidFill>
          <a:ln/>
        </p:spPr>
        <p:txBody>
          <a:bodyPr/>
          <a:lstStyle/>
          <a:p>
            <a:endParaRPr lang="en-US"/>
          </a:p>
        </p:txBody>
      </p:sp>
      <p:sp>
        <p:nvSpPr>
          <p:cNvPr id="15" name="Text 13"/>
          <p:cNvSpPr txBox="1"/>
          <p:nvPr/>
        </p:nvSpPr>
        <p:spPr>
          <a:xfrm>
            <a:off x="6364224" y="2514600"/>
            <a:ext cx="2221992"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Xe, Tượng, Hậu (Sliding)</a:t>
            </a:r>
            <a:endParaRPr lang="en-US" sz="1300" dirty="0"/>
          </a:p>
        </p:txBody>
      </p:sp>
      <p:sp>
        <p:nvSpPr>
          <p:cNvPr id="16" name="Text 14"/>
          <p:cNvSpPr txBox="1"/>
          <p:nvPr/>
        </p:nvSpPr>
        <p:spPr>
          <a:xfrm>
            <a:off x="6364224" y="2907792"/>
            <a:ext cx="2221992" cy="731520"/>
          </a:xfrm>
          <a:prstGeom prst="rect">
            <a:avLst/>
          </a:prstGeom>
          <a:noFill/>
          <a:ln/>
        </p:spPr>
        <p:txBody>
          <a:bodyPr wrap="square" lIns="0" tIns="0" rIns="0" bIns="0" rtlCol="0" anchor="ctr"/>
          <a:lstStyle/>
          <a:p>
            <a:pPr marL="0" indent="0">
              <a:buNone/>
            </a:pPr>
            <a:r>
              <a:rPr lang="en-US" sz="1050" dirty="0">
                <a:solidFill>
                  <a:srgbClr val="D4AF37"/>
                </a:solidFill>
                <a:latin typeface="Consolas" pitchFamily="34" charset="0"/>
                <a:ea typeface="Consolas" pitchFamily="34" charset="-122"/>
                <a:cs typeface="Consolas" pitchFamily="34" charset="-120"/>
              </a:rPr>
              <a:t>SlidingMoveGenerator</a:t>
            </a:r>
            <a:endParaRPr lang="en-US" sz="1050" dirty="0"/>
          </a:p>
        </p:txBody>
      </p:sp>
      <p:sp>
        <p:nvSpPr>
          <p:cNvPr id="17" name="Shape 15"/>
          <p:cNvSpPr/>
          <p:nvPr/>
        </p:nvSpPr>
        <p:spPr>
          <a:xfrm>
            <a:off x="8951976" y="2331720"/>
            <a:ext cx="2587752" cy="1417320"/>
          </a:xfrm>
          <a:prstGeom prst="roundRect">
            <a:avLst>
              <a:gd name="adj" fmla="val 7742"/>
            </a:avLst>
          </a:prstGeom>
          <a:solidFill>
            <a:srgbClr val="292B31"/>
          </a:solidFill>
          <a:ln w="12700">
            <a:solidFill>
              <a:srgbClr val="3D404A"/>
            </a:solidFill>
            <a:prstDash val="solid"/>
          </a:ln>
        </p:spPr>
        <p:txBody>
          <a:bodyPr/>
          <a:lstStyle/>
          <a:p>
            <a:endParaRPr lang="en-US"/>
          </a:p>
        </p:txBody>
      </p:sp>
      <p:sp>
        <p:nvSpPr>
          <p:cNvPr id="18" name="Shape 16"/>
          <p:cNvSpPr/>
          <p:nvPr/>
        </p:nvSpPr>
        <p:spPr>
          <a:xfrm>
            <a:off x="8951976" y="2331720"/>
            <a:ext cx="2587752" cy="54864"/>
          </a:xfrm>
          <a:prstGeom prst="rect">
            <a:avLst/>
          </a:prstGeom>
          <a:solidFill>
            <a:srgbClr val="D4AF37"/>
          </a:solidFill>
          <a:ln/>
        </p:spPr>
        <p:txBody>
          <a:bodyPr/>
          <a:lstStyle/>
          <a:p>
            <a:endParaRPr lang="en-US"/>
          </a:p>
        </p:txBody>
      </p:sp>
      <p:sp>
        <p:nvSpPr>
          <p:cNvPr id="19" name="Text 17"/>
          <p:cNvSpPr txBox="1"/>
          <p:nvPr/>
        </p:nvSpPr>
        <p:spPr>
          <a:xfrm>
            <a:off x="9134856" y="2514600"/>
            <a:ext cx="2221992"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Vua (King)</a:t>
            </a:r>
            <a:endParaRPr lang="en-US" sz="1300" dirty="0"/>
          </a:p>
        </p:txBody>
      </p:sp>
      <p:sp>
        <p:nvSpPr>
          <p:cNvPr id="20" name="Text 18"/>
          <p:cNvSpPr txBox="1"/>
          <p:nvPr/>
        </p:nvSpPr>
        <p:spPr>
          <a:xfrm>
            <a:off x="9134856" y="2907792"/>
            <a:ext cx="2221992" cy="731520"/>
          </a:xfrm>
          <a:prstGeom prst="rect">
            <a:avLst/>
          </a:prstGeom>
          <a:noFill/>
          <a:ln/>
        </p:spPr>
        <p:txBody>
          <a:bodyPr wrap="square" lIns="0" tIns="0" rIns="0" bIns="0" rtlCol="0" anchor="ctr"/>
          <a:lstStyle/>
          <a:p>
            <a:pPr marL="0" indent="0">
              <a:buNone/>
            </a:pPr>
            <a:r>
              <a:rPr lang="en-US" sz="1050" dirty="0">
                <a:solidFill>
                  <a:srgbClr val="D4AF37"/>
                </a:solidFill>
                <a:latin typeface="Consolas" pitchFamily="34" charset="0"/>
                <a:ea typeface="Consolas" pitchFamily="34" charset="-122"/>
                <a:cs typeface="Consolas" pitchFamily="34" charset="-120"/>
              </a:rPr>
              <a:t>KingMoveGenerator</a:t>
            </a:r>
            <a:endParaRPr lang="en-US" sz="1050" dirty="0"/>
          </a:p>
        </p:txBody>
      </p:sp>
      <p:sp>
        <p:nvSpPr>
          <p:cNvPr id="21" name="Text 19"/>
          <p:cNvSpPr txBox="1"/>
          <p:nvPr/>
        </p:nvSpPr>
        <p:spPr>
          <a:xfrm>
            <a:off x="640080" y="4023360"/>
            <a:ext cx="7315200" cy="274320"/>
          </a:xfrm>
          <a:prstGeom prst="rect">
            <a:avLst/>
          </a:prstGeom>
          <a:noFill/>
          <a:ln/>
        </p:spPr>
        <p:txBody>
          <a:bodyPr wrap="square" lIns="0" tIns="0" rIns="0" bIns="0" rtlCol="0" anchor="ctr"/>
          <a:lstStyle/>
          <a:p>
            <a:pPr marL="0" indent="0">
              <a:buNone/>
            </a:pPr>
            <a:r>
              <a:rPr lang="en-US" sz="1200" b="1" kern="0" spc="150" dirty="0">
                <a:solidFill>
                  <a:srgbClr val="D4AF37"/>
                </a:solidFill>
                <a:latin typeface="Calibri" pitchFamily="34" charset="0"/>
                <a:ea typeface="Calibri" pitchFamily="34" charset="-122"/>
                <a:cs typeface="Calibri" pitchFamily="34" charset="-120"/>
              </a:rPr>
              <a:t>KIỂM TRA LUẬT — CHESSRULES</a:t>
            </a:r>
            <a:endParaRPr lang="en-US" sz="1200" dirty="0"/>
          </a:p>
        </p:txBody>
      </p:sp>
      <p:pic>
        <p:nvPicPr>
          <p:cNvPr id="22" name="Image 0" descr="/home/claude/icons/check.png"/>
          <p:cNvPicPr>
            <a:picLocks noChangeAspect="1"/>
          </p:cNvPicPr>
          <p:nvPr/>
        </p:nvPicPr>
        <p:blipFill>
          <a:blip r:embed="rId3"/>
          <a:stretch>
            <a:fillRect/>
          </a:stretch>
        </p:blipFill>
        <p:spPr>
          <a:xfrm>
            <a:off x="640080" y="4434840"/>
            <a:ext cx="310896" cy="310896"/>
          </a:xfrm>
          <a:prstGeom prst="rect">
            <a:avLst/>
          </a:prstGeom>
        </p:spPr>
      </p:pic>
      <p:sp>
        <p:nvSpPr>
          <p:cNvPr id="23" name="Text 20"/>
          <p:cNvSpPr txBox="1"/>
          <p:nvPr/>
        </p:nvSpPr>
        <p:spPr>
          <a:xfrm>
            <a:off x="1060704" y="4389120"/>
            <a:ext cx="310896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Filter Legal Moves</a:t>
            </a:r>
            <a:endParaRPr lang="en-US" sz="1250" dirty="0"/>
          </a:p>
        </p:txBody>
      </p:sp>
      <p:sp>
        <p:nvSpPr>
          <p:cNvPr id="24" name="Text 21"/>
          <p:cNvSpPr txBox="1"/>
          <p:nvPr/>
        </p:nvSpPr>
        <p:spPr>
          <a:xfrm>
            <a:off x="640080" y="4773168"/>
            <a:ext cx="3529584" cy="1097280"/>
          </a:xfrm>
          <a:prstGeom prst="rect">
            <a:avLst/>
          </a:prstGeom>
          <a:noFill/>
          <a:ln/>
        </p:spPr>
        <p:txBody>
          <a:bodyPr wrap="square" lIns="0" tIns="0" rIns="0" bIns="0" rtlCol="0" anchor="ctr"/>
          <a:lstStyle/>
          <a:p>
            <a:pPr marL="0" indent="0">
              <a:lnSpc>
                <a:spcPct val="118000"/>
              </a:lnSpc>
              <a:buNone/>
            </a:pPr>
            <a:r>
              <a:rPr lang="en-US" sz="1080" dirty="0">
                <a:solidFill>
                  <a:srgbClr val="A7ABB4"/>
                </a:solidFill>
                <a:latin typeface="Calibri" pitchFamily="34" charset="0"/>
                <a:ea typeface="Calibri" pitchFamily="34" charset="-122"/>
                <a:cs typeface="Calibri" pitchFamily="34" charset="-120"/>
              </a:rPr>
              <a:t>Lọc nước đi hợp lệ, loại bỏ nước đi khiến Vua bị chiếu (isKingInCheck).</a:t>
            </a:r>
            <a:endParaRPr lang="en-US" sz="1080" dirty="0"/>
          </a:p>
        </p:txBody>
      </p:sp>
      <p:pic>
        <p:nvPicPr>
          <p:cNvPr id="25" name="Image 1" descr="/home/claude/icons/shield.png"/>
          <p:cNvPicPr>
            <a:picLocks noChangeAspect="1"/>
          </p:cNvPicPr>
          <p:nvPr/>
        </p:nvPicPr>
        <p:blipFill>
          <a:blip r:embed="rId4"/>
          <a:stretch>
            <a:fillRect/>
          </a:stretch>
        </p:blipFill>
        <p:spPr>
          <a:xfrm>
            <a:off x="4352544" y="4434840"/>
            <a:ext cx="310896" cy="310896"/>
          </a:xfrm>
          <a:prstGeom prst="rect">
            <a:avLst/>
          </a:prstGeom>
        </p:spPr>
      </p:pic>
      <p:sp>
        <p:nvSpPr>
          <p:cNvPr id="26" name="Text 22"/>
          <p:cNvSpPr txBox="1"/>
          <p:nvPr/>
        </p:nvSpPr>
        <p:spPr>
          <a:xfrm>
            <a:off x="4773168" y="4389120"/>
            <a:ext cx="310896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Chiếu bí / Hòa trượng</a:t>
            </a:r>
            <a:endParaRPr lang="en-US" sz="1250" dirty="0"/>
          </a:p>
        </p:txBody>
      </p:sp>
      <p:sp>
        <p:nvSpPr>
          <p:cNvPr id="27" name="Text 23"/>
          <p:cNvSpPr txBox="1"/>
          <p:nvPr/>
        </p:nvSpPr>
        <p:spPr>
          <a:xfrm>
            <a:off x="4352544" y="4773168"/>
            <a:ext cx="3529584" cy="1097280"/>
          </a:xfrm>
          <a:prstGeom prst="rect">
            <a:avLst/>
          </a:prstGeom>
          <a:noFill/>
          <a:ln/>
        </p:spPr>
        <p:txBody>
          <a:bodyPr wrap="square" lIns="0" tIns="0" rIns="0" bIns="0" rtlCol="0" anchor="ctr"/>
          <a:lstStyle/>
          <a:p>
            <a:pPr marL="0" indent="0">
              <a:lnSpc>
                <a:spcPct val="118000"/>
              </a:lnSpc>
              <a:buNone/>
            </a:pPr>
            <a:r>
              <a:rPr lang="en-US" sz="1080" dirty="0">
                <a:solidFill>
                  <a:srgbClr val="A7ABB4"/>
                </a:solidFill>
                <a:latin typeface="Calibri" pitchFamily="34" charset="0"/>
                <a:ea typeface="Calibri" pitchFamily="34" charset="-122"/>
                <a:cs typeface="Calibri" pitchFamily="34" charset="-120"/>
              </a:rPr>
              <a:t>Quét bàn cờ: Vua bị chiếu + không còn nước đi hợp lệ → Checkmate; không bị chiếu nhưng hết nước đi → Stalemate.</a:t>
            </a:r>
            <a:endParaRPr lang="en-US" sz="1080" dirty="0"/>
          </a:p>
        </p:txBody>
      </p:sp>
      <p:pic>
        <p:nvPicPr>
          <p:cNvPr id="28" name="Image 2" descr="/home/claude/icons/history.png"/>
          <p:cNvPicPr>
            <a:picLocks noChangeAspect="1"/>
          </p:cNvPicPr>
          <p:nvPr/>
        </p:nvPicPr>
        <p:blipFill>
          <a:blip r:embed="rId5"/>
          <a:stretch>
            <a:fillRect/>
          </a:stretch>
        </p:blipFill>
        <p:spPr>
          <a:xfrm>
            <a:off x="8065008" y="4434840"/>
            <a:ext cx="310896" cy="310896"/>
          </a:xfrm>
          <a:prstGeom prst="rect">
            <a:avLst/>
          </a:prstGeom>
        </p:spPr>
      </p:pic>
      <p:sp>
        <p:nvSpPr>
          <p:cNvPr id="29" name="Text 24"/>
          <p:cNvSpPr txBox="1"/>
          <p:nvPr/>
        </p:nvSpPr>
        <p:spPr>
          <a:xfrm>
            <a:off x="8485632" y="4389120"/>
            <a:ext cx="310896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Luật đặc biệt</a:t>
            </a:r>
            <a:endParaRPr lang="en-US" sz="1250" dirty="0"/>
          </a:p>
        </p:txBody>
      </p:sp>
      <p:sp>
        <p:nvSpPr>
          <p:cNvPr id="30" name="Text 25"/>
          <p:cNvSpPr txBox="1"/>
          <p:nvPr/>
        </p:nvSpPr>
        <p:spPr>
          <a:xfrm>
            <a:off x="8065008" y="4773168"/>
            <a:ext cx="3529584" cy="1097280"/>
          </a:xfrm>
          <a:prstGeom prst="rect">
            <a:avLst/>
          </a:prstGeom>
          <a:noFill/>
          <a:ln/>
        </p:spPr>
        <p:txBody>
          <a:bodyPr wrap="square" lIns="0" tIns="0" rIns="0" bIns="0" rtlCol="0" anchor="ctr"/>
          <a:lstStyle/>
          <a:p>
            <a:pPr marL="0" indent="0">
              <a:lnSpc>
                <a:spcPct val="118000"/>
              </a:lnSpc>
              <a:buNone/>
            </a:pPr>
            <a:r>
              <a:rPr lang="en-US" sz="1080" dirty="0">
                <a:solidFill>
                  <a:srgbClr val="A7ABB4"/>
                </a:solidFill>
                <a:latin typeface="Calibri" pitchFamily="34" charset="0"/>
                <a:ea typeface="Calibri" pitchFamily="34" charset="-122"/>
                <a:cs typeface="Calibri" pitchFamily="34" charset="-120"/>
              </a:rPr>
              <a:t>Xử lý Nhập thành (Castling) và Bắt tốt qua đường (En Passant).</a:t>
            </a:r>
            <a:endParaRPr lang="en-US" sz="1080" dirty="0"/>
          </a:p>
        </p:txBody>
      </p:sp>
      <p:sp>
        <p:nvSpPr>
          <p:cNvPr id="31" name="Text 26"/>
          <p:cNvSpPr txBox="1"/>
          <p:nvPr/>
        </p:nvSpPr>
        <p:spPr>
          <a:xfrm>
            <a:off x="457200" y="6528816"/>
            <a:ext cx="6400800" cy="274320"/>
          </a:xfrm>
          <a:prstGeom prst="rect">
            <a:avLst/>
          </a:prstGeom>
          <a:noFill/>
          <a:ln/>
        </p:spPr>
        <p:txBody>
          <a:bodyPr wrap="square" lIns="0" tIns="0" rIns="0" bIns="0" rtlCol="0" anchor="ctr"/>
          <a:lstStyle/>
          <a:p>
            <a:pPr marL="0" indent="0" algn="l">
              <a:buNone/>
            </a:pPr>
            <a:r>
              <a:rPr lang="en-US" sz="900" kern="0" spc="100" dirty="0">
                <a:solidFill>
                  <a:srgbClr val="A7ABB4"/>
                </a:solidFill>
                <a:latin typeface="Calibri" pitchFamily="34" charset="0"/>
                <a:ea typeface="Calibri" pitchFamily="34" charset="-122"/>
                <a:cs typeface="Calibri" pitchFamily="34" charset="-120"/>
              </a:rPr>
              <a:t>ỨNG DỤNG CHESS GAME TRÊN ANDROID</a:t>
            </a:r>
            <a:endParaRPr lang="en-US" sz="900" dirty="0"/>
          </a:p>
        </p:txBody>
      </p:sp>
      <p:sp>
        <p:nvSpPr>
          <p:cNvPr id="32" name="Text 27"/>
          <p:cNvSpPr txBox="1"/>
          <p:nvPr/>
        </p:nvSpPr>
        <p:spPr>
          <a:xfrm>
            <a:off x="11338560" y="6528816"/>
            <a:ext cx="457200" cy="274320"/>
          </a:xfrm>
          <a:prstGeom prst="rect">
            <a:avLst/>
          </a:prstGeom>
          <a:noFill/>
          <a:ln/>
        </p:spPr>
        <p:txBody>
          <a:bodyPr wrap="square" lIns="0" tIns="0" rIns="0" bIns="0" rtlCol="0" anchor="ctr"/>
          <a:lstStyle/>
          <a:p>
            <a:pPr marL="0" indent="0" algn="r">
              <a:buNone/>
            </a:pPr>
            <a:r>
              <a:rPr lang="en-US" sz="900" dirty="0">
                <a:solidFill>
                  <a:srgbClr val="A7ABB4"/>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2025"/>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marL="0" indent="0">
              <a:buNone/>
            </a:pPr>
            <a:r>
              <a:rPr lang="en-US" sz="1300" b="1" kern="0" spc="200" dirty="0">
                <a:solidFill>
                  <a:srgbClr val="D4AF37"/>
                </a:solidFill>
                <a:latin typeface="Calibri" pitchFamily="34" charset="0"/>
                <a:ea typeface="Calibri" pitchFamily="34" charset="-122"/>
                <a:cs typeface="Calibri" pitchFamily="34" charset="-120"/>
              </a:rPr>
              <a:t>PHẦN 02</a:t>
            </a:r>
            <a:endParaRPr lang="en-US" sz="1300" dirty="0"/>
          </a:p>
        </p:txBody>
      </p:sp>
      <p:sp>
        <p:nvSpPr>
          <p:cNvPr id="3" name="Text 1"/>
          <p:cNvSpPr txBox="1"/>
          <p:nvPr/>
        </p:nvSpPr>
        <p:spPr>
          <a:xfrm>
            <a:off x="621792" y="768096"/>
            <a:ext cx="1088136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Lịch sử &amp; Snapshot</a:t>
            </a:r>
            <a:endParaRPr lang="en-US" sz="3200" dirty="0"/>
          </a:p>
        </p:txBody>
      </p:sp>
      <p:sp>
        <p:nvSpPr>
          <p:cNvPr id="4" name="Shape 2"/>
          <p:cNvSpPr/>
          <p:nvPr/>
        </p:nvSpPr>
        <p:spPr>
          <a:xfrm>
            <a:off x="640080" y="1828800"/>
            <a:ext cx="5120640" cy="3977640"/>
          </a:xfrm>
          <a:prstGeom prst="roundRect">
            <a:avLst>
              <a:gd name="adj" fmla="val 3218"/>
            </a:avLst>
          </a:prstGeom>
          <a:solidFill>
            <a:srgbClr val="292B31"/>
          </a:solidFill>
          <a:ln/>
          <a:effectLst>
            <a:outerShdw blurRad="76200" dist="25400" dir="5400000" algn="bl" rotWithShape="0">
              <a:srgbClr val="000000">
                <a:alpha val="30000"/>
              </a:srgbClr>
            </a:outerShdw>
          </a:effectLst>
        </p:spPr>
        <p:txBody>
          <a:bodyPr/>
          <a:lstStyle/>
          <a:p>
            <a:endParaRPr lang="en-US"/>
          </a:p>
        </p:txBody>
      </p:sp>
      <p:sp>
        <p:nvSpPr>
          <p:cNvPr id="5" name="Shape 3"/>
          <p:cNvSpPr/>
          <p:nvPr/>
        </p:nvSpPr>
        <p:spPr>
          <a:xfrm>
            <a:off x="914400" y="2103120"/>
            <a:ext cx="640080" cy="640080"/>
          </a:xfrm>
          <a:prstGeom prst="ellipse">
            <a:avLst/>
          </a:prstGeom>
          <a:solidFill>
            <a:srgbClr val="1F2025"/>
          </a:solidFill>
          <a:ln w="15875">
            <a:solidFill>
              <a:srgbClr val="D4AF37"/>
            </a:solidFill>
            <a:prstDash val="solid"/>
          </a:ln>
        </p:spPr>
        <p:txBody>
          <a:bodyPr/>
          <a:lstStyle/>
          <a:p>
            <a:endParaRPr lang="en-US"/>
          </a:p>
        </p:txBody>
      </p:sp>
      <p:pic>
        <p:nvPicPr>
          <p:cNvPr id="6" name="Image 0" descr="/home/claude/icons/history.png"/>
          <p:cNvPicPr>
            <a:picLocks noChangeAspect="1"/>
          </p:cNvPicPr>
          <p:nvPr/>
        </p:nvPicPr>
        <p:blipFill>
          <a:blip r:embed="rId3"/>
          <a:stretch>
            <a:fillRect/>
          </a:stretch>
        </p:blipFill>
        <p:spPr>
          <a:xfrm>
            <a:off x="1088136" y="2276856"/>
            <a:ext cx="292608" cy="292608"/>
          </a:xfrm>
          <a:prstGeom prst="rect">
            <a:avLst/>
          </a:prstGeom>
        </p:spPr>
      </p:pic>
      <p:sp>
        <p:nvSpPr>
          <p:cNvPr id="7" name="Text 4"/>
          <p:cNvSpPr txBox="1"/>
          <p:nvPr/>
        </p:nvSpPr>
        <p:spPr>
          <a:xfrm>
            <a:off x="1737360" y="2148840"/>
            <a:ext cx="365760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Mẫu thiết kế Memento</a:t>
            </a:r>
            <a:endParaRPr lang="en-US" sz="1800" dirty="0"/>
          </a:p>
        </p:txBody>
      </p:sp>
      <p:sp>
        <p:nvSpPr>
          <p:cNvPr id="8" name="Text 5"/>
          <p:cNvSpPr txBox="1"/>
          <p:nvPr/>
        </p:nvSpPr>
        <p:spPr>
          <a:xfrm>
            <a:off x="1737360" y="2606040"/>
            <a:ext cx="3657600" cy="274320"/>
          </a:xfrm>
          <a:prstGeom prst="rect">
            <a:avLst/>
          </a:prstGeom>
          <a:noFill/>
          <a:ln/>
        </p:spPr>
        <p:txBody>
          <a:bodyPr wrap="square" lIns="0" tIns="0" rIns="0" bIns="0" rtlCol="0" anchor="ctr"/>
          <a:lstStyle/>
          <a:p>
            <a:pPr marL="0" indent="0">
              <a:buNone/>
            </a:pPr>
            <a:r>
              <a:rPr lang="en-US" sz="1150" dirty="0">
                <a:solidFill>
                  <a:srgbClr val="D4AF37"/>
                </a:solidFill>
                <a:latin typeface="Consolas" pitchFamily="34" charset="0"/>
                <a:ea typeface="Consolas" pitchFamily="34" charset="-122"/>
                <a:cs typeface="Consolas" pitchFamily="34" charset="-120"/>
              </a:rPr>
              <a:t>ChessHistory.Snapshot</a:t>
            </a:r>
            <a:endParaRPr lang="en-US" sz="1150" dirty="0"/>
          </a:p>
        </p:txBody>
      </p:sp>
      <p:sp>
        <p:nvSpPr>
          <p:cNvPr id="9" name="Text 6"/>
          <p:cNvSpPr txBox="1"/>
          <p:nvPr/>
        </p:nvSpPr>
        <p:spPr>
          <a:xfrm>
            <a:off x="914400" y="3063240"/>
            <a:ext cx="4480560" cy="502920"/>
          </a:xfrm>
          <a:prstGeom prst="rect">
            <a:avLst/>
          </a:prstGeom>
          <a:noFill/>
          <a:ln/>
        </p:spPr>
        <p:txBody>
          <a:bodyPr wrap="square" lIns="0" tIns="0" rIns="0" bIns="0" rtlCol="0" anchor="ctr"/>
          <a:lstStyle/>
          <a:p>
            <a:pPr marL="0" indent="0">
              <a:lnSpc>
                <a:spcPct val="120000"/>
              </a:lnSpc>
              <a:buNone/>
            </a:pPr>
            <a:r>
              <a:rPr lang="en-US" sz="1200" dirty="0">
                <a:solidFill>
                  <a:srgbClr val="E4E6EA"/>
                </a:solidFill>
                <a:latin typeface="Calibri" pitchFamily="34" charset="0"/>
                <a:ea typeface="Calibri" pitchFamily="34" charset="-122"/>
                <a:cs typeface="Calibri" pitchFamily="34" charset="-120"/>
              </a:rPr>
              <a:t>Quản lý trạng thái bằng cách lưu lại toàn bộ cấu hình bàn cờ tại mỗi thời điểm, phục vụ cho:</a:t>
            </a:r>
            <a:endParaRPr lang="en-US" sz="1200" dirty="0"/>
          </a:p>
        </p:txBody>
      </p:sp>
      <p:sp>
        <p:nvSpPr>
          <p:cNvPr id="10" name="Text 7"/>
          <p:cNvSpPr txBox="1"/>
          <p:nvPr/>
        </p:nvSpPr>
        <p:spPr>
          <a:xfrm>
            <a:off x="914400" y="3611880"/>
            <a:ext cx="4480560" cy="1828800"/>
          </a:xfrm>
          <a:prstGeom prst="rect">
            <a:avLst/>
          </a:prstGeom>
          <a:noFill/>
          <a:ln/>
        </p:spPr>
        <p:txBody>
          <a:bodyPr wrap="square" lIns="0" tIns="0" rIns="0" bIns="0" rtlCol="0" anchor="ctr"/>
          <a:lstStyle/>
          <a:p>
            <a:pPr marL="177800" indent="-177800">
              <a:lnSpc>
                <a:spcPct val="135000"/>
              </a:lnSpc>
              <a:spcAft>
                <a:spcPts val="1000"/>
              </a:spcAft>
              <a:buSzPct val="100000"/>
              <a:buChar char="●"/>
            </a:pPr>
            <a:r>
              <a:rPr lang="en-US" sz="1250" dirty="0">
                <a:solidFill>
                  <a:srgbClr val="E4E6EA"/>
                </a:solidFill>
                <a:latin typeface="Calibri" pitchFamily="34" charset="0"/>
                <a:ea typeface="Calibri" pitchFamily="34" charset="-122"/>
                <a:cs typeface="Calibri" pitchFamily="34" charset="-120"/>
              </a:rPr>
              <a:t>Tính năng “Undo” — lùi lại nước đi trước đó</a:t>
            </a:r>
            <a:endParaRPr lang="en-US" sz="1250" dirty="0"/>
          </a:p>
          <a:p>
            <a:pPr marL="177800" indent="-177800">
              <a:lnSpc>
                <a:spcPct val="135000"/>
              </a:lnSpc>
              <a:spcAft>
                <a:spcPts val="1000"/>
              </a:spcAft>
              <a:buSzPct val="100000"/>
              <a:buChar char="●"/>
            </a:pPr>
            <a:r>
              <a:rPr lang="en-US" sz="1250" dirty="0">
                <a:solidFill>
                  <a:srgbClr val="E4E6EA"/>
                </a:solidFill>
                <a:latin typeface="Calibri" pitchFamily="34" charset="0"/>
                <a:ea typeface="Calibri" pitchFamily="34" charset="-122"/>
                <a:cs typeface="Calibri" pitchFamily="34" charset="-120"/>
              </a:rPr>
              <a:t>Phát hiện hòa cờ do lặp lại vị trí 3 lần (Threefold repetition)</a:t>
            </a:r>
            <a:endParaRPr lang="en-US" sz="1250" dirty="0"/>
          </a:p>
          <a:p>
            <a:pPr marL="177800" indent="-177800">
              <a:lnSpc>
                <a:spcPct val="135000"/>
              </a:lnSpc>
              <a:spcAft>
                <a:spcPts val="1000"/>
              </a:spcAft>
              <a:buSzPct val="100000"/>
              <a:buChar char="●"/>
            </a:pPr>
            <a:r>
              <a:rPr lang="en-US" sz="1250" dirty="0">
                <a:solidFill>
                  <a:srgbClr val="E4E6EA"/>
                </a:solidFill>
                <a:latin typeface="Calibri" pitchFamily="34" charset="0"/>
                <a:ea typeface="Calibri" pitchFamily="34" charset="-122"/>
                <a:cs typeface="Calibri" pitchFamily="34" charset="-120"/>
              </a:rPr>
              <a:t>Phát hiện lặp lại 5 lần (Fivefold repetition)</a:t>
            </a:r>
            <a:endParaRPr lang="en-US" sz="1250" dirty="0"/>
          </a:p>
        </p:txBody>
      </p:sp>
      <p:sp>
        <p:nvSpPr>
          <p:cNvPr id="11" name="Shape 8"/>
          <p:cNvSpPr/>
          <p:nvPr/>
        </p:nvSpPr>
        <p:spPr>
          <a:xfrm>
            <a:off x="5989320" y="1828800"/>
            <a:ext cx="5559552" cy="3977640"/>
          </a:xfrm>
          <a:prstGeom prst="roundRect">
            <a:avLst>
              <a:gd name="adj" fmla="val 3218"/>
            </a:avLst>
          </a:prstGeom>
          <a:solidFill>
            <a:srgbClr val="292B31"/>
          </a:solidFill>
          <a:ln/>
        </p:spPr>
        <p:txBody>
          <a:bodyPr/>
          <a:lstStyle/>
          <a:p>
            <a:endParaRPr lang="en-US"/>
          </a:p>
        </p:txBody>
      </p:sp>
      <p:sp>
        <p:nvSpPr>
          <p:cNvPr id="12" name="Shape 9"/>
          <p:cNvSpPr/>
          <p:nvPr/>
        </p:nvSpPr>
        <p:spPr>
          <a:xfrm>
            <a:off x="6263640" y="2103120"/>
            <a:ext cx="640080" cy="640080"/>
          </a:xfrm>
          <a:prstGeom prst="ellipse">
            <a:avLst/>
          </a:prstGeom>
          <a:solidFill>
            <a:srgbClr val="1F2025"/>
          </a:solidFill>
          <a:ln w="15875">
            <a:solidFill>
              <a:srgbClr val="D4AF37"/>
            </a:solidFill>
            <a:prstDash val="solid"/>
          </a:ln>
        </p:spPr>
        <p:txBody>
          <a:bodyPr/>
          <a:lstStyle/>
          <a:p>
            <a:endParaRPr lang="en-US"/>
          </a:p>
        </p:txBody>
      </p:sp>
      <p:pic>
        <p:nvPicPr>
          <p:cNvPr id="13" name="Image 1" descr="/home/claude/icons/layers.png"/>
          <p:cNvPicPr>
            <a:picLocks noChangeAspect="1"/>
          </p:cNvPicPr>
          <p:nvPr/>
        </p:nvPicPr>
        <p:blipFill>
          <a:blip r:embed="rId4"/>
          <a:stretch>
            <a:fillRect/>
          </a:stretch>
        </p:blipFill>
        <p:spPr>
          <a:xfrm>
            <a:off x="6437376" y="2276856"/>
            <a:ext cx="292608" cy="292608"/>
          </a:xfrm>
          <a:prstGeom prst="rect">
            <a:avLst/>
          </a:prstGeom>
        </p:spPr>
      </p:pic>
      <p:sp>
        <p:nvSpPr>
          <p:cNvPr id="14" name="Text 10"/>
          <p:cNvSpPr txBox="1"/>
          <p:nvPr/>
        </p:nvSpPr>
        <p:spPr>
          <a:xfrm>
            <a:off x="7086600" y="2148840"/>
            <a:ext cx="420624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Hệ thống phân giải mã cờ</a:t>
            </a:r>
            <a:endParaRPr lang="en-US" sz="1800" dirty="0"/>
          </a:p>
        </p:txBody>
      </p:sp>
      <p:sp>
        <p:nvSpPr>
          <p:cNvPr id="15" name="Text 11"/>
          <p:cNvSpPr txBox="1"/>
          <p:nvPr/>
        </p:nvSpPr>
        <p:spPr>
          <a:xfrm>
            <a:off x="7086600" y="2606040"/>
            <a:ext cx="4206240" cy="274320"/>
          </a:xfrm>
          <a:prstGeom prst="rect">
            <a:avLst/>
          </a:prstGeom>
          <a:noFill/>
          <a:ln/>
        </p:spPr>
        <p:txBody>
          <a:bodyPr wrap="square" lIns="0" tIns="0" rIns="0" bIns="0" rtlCol="0" anchor="ctr"/>
          <a:lstStyle/>
          <a:p>
            <a:pPr marL="0" indent="0">
              <a:buNone/>
            </a:pPr>
            <a:r>
              <a:rPr lang="en-US" sz="1150" dirty="0">
                <a:solidFill>
                  <a:srgbClr val="D4AF37"/>
                </a:solidFill>
                <a:latin typeface="Consolas" pitchFamily="34" charset="0"/>
                <a:ea typeface="Consolas" pitchFamily="34" charset="-122"/>
                <a:cs typeface="Consolas" pitchFamily="34" charset="-120"/>
              </a:rPr>
              <a:t>Piece Encoding — int[][]</a:t>
            </a:r>
            <a:endParaRPr lang="en-US" sz="1150" dirty="0"/>
          </a:p>
        </p:txBody>
      </p:sp>
      <p:sp>
        <p:nvSpPr>
          <p:cNvPr id="16" name="Text 12"/>
          <p:cNvSpPr txBox="1"/>
          <p:nvPr/>
        </p:nvSpPr>
        <p:spPr>
          <a:xfrm>
            <a:off x="6263640" y="3063240"/>
            <a:ext cx="5029200" cy="685800"/>
          </a:xfrm>
          <a:prstGeom prst="rect">
            <a:avLst/>
          </a:prstGeom>
          <a:noFill/>
          <a:ln/>
        </p:spPr>
        <p:txBody>
          <a:bodyPr wrap="square" lIns="0" tIns="0" rIns="0" bIns="0" rtlCol="0" anchor="ctr"/>
          <a:lstStyle/>
          <a:p>
            <a:pPr marL="0" indent="0">
              <a:lnSpc>
                <a:spcPct val="120000"/>
              </a:lnSpc>
              <a:buNone/>
            </a:pPr>
            <a:r>
              <a:rPr lang="en-US" sz="1200" dirty="0">
                <a:solidFill>
                  <a:srgbClr val="E4E6EA"/>
                </a:solidFill>
                <a:latin typeface="Calibri" pitchFamily="34" charset="0"/>
                <a:ea typeface="Calibri" pitchFamily="34" charset="-122"/>
                <a:cs typeface="Calibri" pitchFamily="34" charset="-120"/>
              </a:rPr>
              <a:t>Bàn cờ được lưu trữ dưới dạng mảng 2 chiều số nguyên. Mỗi con số đại diện cho một loại quân cờ và phe (Trắng/Đen).</a:t>
            </a:r>
            <a:endParaRPr lang="en-US" sz="1200" dirty="0"/>
          </a:p>
        </p:txBody>
      </p:sp>
      <p:sp>
        <p:nvSpPr>
          <p:cNvPr id="17" name="Shape 13"/>
          <p:cNvSpPr/>
          <p:nvPr/>
        </p:nvSpPr>
        <p:spPr>
          <a:xfrm>
            <a:off x="6263640" y="3886200"/>
            <a:ext cx="384048" cy="384048"/>
          </a:xfrm>
          <a:prstGeom prst="rect">
            <a:avLst/>
          </a:prstGeom>
          <a:solidFill>
            <a:srgbClr val="323540"/>
          </a:solidFill>
          <a:ln w="6350">
            <a:solidFill>
              <a:srgbClr val="3D404A"/>
            </a:solidFill>
            <a:prstDash val="solid"/>
          </a:ln>
        </p:spPr>
        <p:txBody>
          <a:bodyPr/>
          <a:lstStyle/>
          <a:p>
            <a:endParaRPr lang="en-US"/>
          </a:p>
        </p:txBody>
      </p:sp>
      <p:sp>
        <p:nvSpPr>
          <p:cNvPr id="18" name="Shape 14"/>
          <p:cNvSpPr/>
          <p:nvPr/>
        </p:nvSpPr>
        <p:spPr>
          <a:xfrm>
            <a:off x="6647688" y="3886200"/>
            <a:ext cx="384048" cy="384048"/>
          </a:xfrm>
          <a:prstGeom prst="rect">
            <a:avLst/>
          </a:prstGeom>
          <a:solidFill>
            <a:srgbClr val="1F2025"/>
          </a:solidFill>
          <a:ln w="6350">
            <a:solidFill>
              <a:srgbClr val="3D404A"/>
            </a:solidFill>
            <a:prstDash val="solid"/>
          </a:ln>
        </p:spPr>
        <p:txBody>
          <a:bodyPr/>
          <a:lstStyle/>
          <a:p>
            <a:endParaRPr lang="en-US"/>
          </a:p>
        </p:txBody>
      </p:sp>
      <p:sp>
        <p:nvSpPr>
          <p:cNvPr id="19" name="Shape 15"/>
          <p:cNvSpPr/>
          <p:nvPr/>
        </p:nvSpPr>
        <p:spPr>
          <a:xfrm>
            <a:off x="7031736" y="3886200"/>
            <a:ext cx="384048" cy="384048"/>
          </a:xfrm>
          <a:prstGeom prst="rect">
            <a:avLst/>
          </a:prstGeom>
          <a:solidFill>
            <a:srgbClr val="323540"/>
          </a:solidFill>
          <a:ln w="6350">
            <a:solidFill>
              <a:srgbClr val="3D404A"/>
            </a:solidFill>
            <a:prstDash val="solid"/>
          </a:ln>
        </p:spPr>
        <p:txBody>
          <a:bodyPr/>
          <a:lstStyle/>
          <a:p>
            <a:endParaRPr lang="en-US"/>
          </a:p>
        </p:txBody>
      </p:sp>
      <p:sp>
        <p:nvSpPr>
          <p:cNvPr id="20" name="Shape 16"/>
          <p:cNvSpPr/>
          <p:nvPr/>
        </p:nvSpPr>
        <p:spPr>
          <a:xfrm>
            <a:off x="7415784" y="3886200"/>
            <a:ext cx="384048" cy="384048"/>
          </a:xfrm>
          <a:prstGeom prst="rect">
            <a:avLst/>
          </a:prstGeom>
          <a:solidFill>
            <a:srgbClr val="1F2025"/>
          </a:solidFill>
          <a:ln w="6350">
            <a:solidFill>
              <a:srgbClr val="3D404A"/>
            </a:solidFill>
            <a:prstDash val="solid"/>
          </a:ln>
        </p:spPr>
        <p:txBody>
          <a:bodyPr/>
          <a:lstStyle/>
          <a:p>
            <a:endParaRPr lang="en-US"/>
          </a:p>
        </p:txBody>
      </p:sp>
      <p:sp>
        <p:nvSpPr>
          <p:cNvPr id="21" name="Shape 17"/>
          <p:cNvSpPr/>
          <p:nvPr/>
        </p:nvSpPr>
        <p:spPr>
          <a:xfrm>
            <a:off x="7799832" y="3886200"/>
            <a:ext cx="384048" cy="384048"/>
          </a:xfrm>
          <a:prstGeom prst="rect">
            <a:avLst/>
          </a:prstGeom>
          <a:solidFill>
            <a:srgbClr val="323540"/>
          </a:solidFill>
          <a:ln w="6350">
            <a:solidFill>
              <a:srgbClr val="3D404A"/>
            </a:solidFill>
            <a:prstDash val="solid"/>
          </a:ln>
        </p:spPr>
        <p:txBody>
          <a:bodyPr/>
          <a:lstStyle/>
          <a:p>
            <a:endParaRPr lang="en-US"/>
          </a:p>
        </p:txBody>
      </p:sp>
      <p:sp>
        <p:nvSpPr>
          <p:cNvPr id="22" name="Shape 18"/>
          <p:cNvSpPr/>
          <p:nvPr/>
        </p:nvSpPr>
        <p:spPr>
          <a:xfrm>
            <a:off x="8183880" y="3886200"/>
            <a:ext cx="384048" cy="384048"/>
          </a:xfrm>
          <a:prstGeom prst="rect">
            <a:avLst/>
          </a:prstGeom>
          <a:solidFill>
            <a:srgbClr val="1F2025"/>
          </a:solidFill>
          <a:ln w="6350">
            <a:solidFill>
              <a:srgbClr val="3D404A"/>
            </a:solidFill>
            <a:prstDash val="solid"/>
          </a:ln>
        </p:spPr>
        <p:txBody>
          <a:bodyPr/>
          <a:lstStyle/>
          <a:p>
            <a:endParaRPr lang="en-US"/>
          </a:p>
        </p:txBody>
      </p:sp>
      <p:sp>
        <p:nvSpPr>
          <p:cNvPr id="23" name="Shape 19"/>
          <p:cNvSpPr/>
          <p:nvPr/>
        </p:nvSpPr>
        <p:spPr>
          <a:xfrm>
            <a:off x="8567928" y="3886200"/>
            <a:ext cx="384048" cy="384048"/>
          </a:xfrm>
          <a:prstGeom prst="rect">
            <a:avLst/>
          </a:prstGeom>
          <a:solidFill>
            <a:srgbClr val="323540"/>
          </a:solidFill>
          <a:ln w="6350">
            <a:solidFill>
              <a:srgbClr val="3D404A"/>
            </a:solidFill>
            <a:prstDash val="solid"/>
          </a:ln>
        </p:spPr>
        <p:txBody>
          <a:bodyPr/>
          <a:lstStyle/>
          <a:p>
            <a:endParaRPr lang="en-US"/>
          </a:p>
        </p:txBody>
      </p:sp>
      <p:sp>
        <p:nvSpPr>
          <p:cNvPr id="24" name="Shape 20"/>
          <p:cNvSpPr/>
          <p:nvPr/>
        </p:nvSpPr>
        <p:spPr>
          <a:xfrm>
            <a:off x="8951976" y="3886200"/>
            <a:ext cx="384048" cy="384048"/>
          </a:xfrm>
          <a:prstGeom prst="rect">
            <a:avLst/>
          </a:prstGeom>
          <a:solidFill>
            <a:srgbClr val="1F2025"/>
          </a:solidFill>
          <a:ln w="6350">
            <a:solidFill>
              <a:srgbClr val="3D404A"/>
            </a:solidFill>
            <a:prstDash val="solid"/>
          </a:ln>
        </p:spPr>
        <p:txBody>
          <a:bodyPr/>
          <a:lstStyle/>
          <a:p>
            <a:endParaRPr lang="en-US"/>
          </a:p>
        </p:txBody>
      </p:sp>
      <p:sp>
        <p:nvSpPr>
          <p:cNvPr id="25" name="Shape 21"/>
          <p:cNvSpPr/>
          <p:nvPr/>
        </p:nvSpPr>
        <p:spPr>
          <a:xfrm>
            <a:off x="6263640" y="4270248"/>
            <a:ext cx="384048" cy="384048"/>
          </a:xfrm>
          <a:prstGeom prst="rect">
            <a:avLst/>
          </a:prstGeom>
          <a:solidFill>
            <a:srgbClr val="1F2025"/>
          </a:solidFill>
          <a:ln w="6350">
            <a:solidFill>
              <a:srgbClr val="3D404A"/>
            </a:solidFill>
            <a:prstDash val="solid"/>
          </a:ln>
        </p:spPr>
        <p:txBody>
          <a:bodyPr/>
          <a:lstStyle/>
          <a:p>
            <a:endParaRPr lang="en-US"/>
          </a:p>
        </p:txBody>
      </p:sp>
      <p:sp>
        <p:nvSpPr>
          <p:cNvPr id="26" name="Shape 22"/>
          <p:cNvSpPr/>
          <p:nvPr/>
        </p:nvSpPr>
        <p:spPr>
          <a:xfrm>
            <a:off x="6647688" y="4270248"/>
            <a:ext cx="384048" cy="384048"/>
          </a:xfrm>
          <a:prstGeom prst="rect">
            <a:avLst/>
          </a:prstGeom>
          <a:solidFill>
            <a:srgbClr val="323540"/>
          </a:solidFill>
          <a:ln w="6350">
            <a:solidFill>
              <a:srgbClr val="3D404A"/>
            </a:solidFill>
            <a:prstDash val="solid"/>
          </a:ln>
        </p:spPr>
        <p:txBody>
          <a:bodyPr/>
          <a:lstStyle/>
          <a:p>
            <a:endParaRPr lang="en-US"/>
          </a:p>
        </p:txBody>
      </p:sp>
      <p:sp>
        <p:nvSpPr>
          <p:cNvPr id="27" name="Shape 23"/>
          <p:cNvSpPr/>
          <p:nvPr/>
        </p:nvSpPr>
        <p:spPr>
          <a:xfrm>
            <a:off x="7031736" y="4270248"/>
            <a:ext cx="384048" cy="384048"/>
          </a:xfrm>
          <a:prstGeom prst="rect">
            <a:avLst/>
          </a:prstGeom>
          <a:solidFill>
            <a:srgbClr val="1F2025"/>
          </a:solidFill>
          <a:ln w="6350">
            <a:solidFill>
              <a:srgbClr val="3D404A"/>
            </a:solidFill>
            <a:prstDash val="solid"/>
          </a:ln>
        </p:spPr>
        <p:txBody>
          <a:bodyPr/>
          <a:lstStyle/>
          <a:p>
            <a:endParaRPr lang="en-US"/>
          </a:p>
        </p:txBody>
      </p:sp>
      <p:sp>
        <p:nvSpPr>
          <p:cNvPr id="28" name="Shape 24"/>
          <p:cNvSpPr/>
          <p:nvPr/>
        </p:nvSpPr>
        <p:spPr>
          <a:xfrm>
            <a:off x="7415784" y="4270248"/>
            <a:ext cx="384048" cy="384048"/>
          </a:xfrm>
          <a:prstGeom prst="rect">
            <a:avLst/>
          </a:prstGeom>
          <a:solidFill>
            <a:srgbClr val="323540"/>
          </a:solidFill>
          <a:ln w="6350">
            <a:solidFill>
              <a:srgbClr val="3D404A"/>
            </a:solidFill>
            <a:prstDash val="solid"/>
          </a:ln>
        </p:spPr>
        <p:txBody>
          <a:bodyPr/>
          <a:lstStyle/>
          <a:p>
            <a:endParaRPr lang="en-US"/>
          </a:p>
        </p:txBody>
      </p:sp>
      <p:sp>
        <p:nvSpPr>
          <p:cNvPr id="29" name="Shape 25"/>
          <p:cNvSpPr/>
          <p:nvPr/>
        </p:nvSpPr>
        <p:spPr>
          <a:xfrm>
            <a:off x="7799832" y="4270248"/>
            <a:ext cx="384048" cy="384048"/>
          </a:xfrm>
          <a:prstGeom prst="rect">
            <a:avLst/>
          </a:prstGeom>
          <a:solidFill>
            <a:srgbClr val="1F2025"/>
          </a:solidFill>
          <a:ln w="6350">
            <a:solidFill>
              <a:srgbClr val="3D404A"/>
            </a:solidFill>
            <a:prstDash val="solid"/>
          </a:ln>
        </p:spPr>
        <p:txBody>
          <a:bodyPr/>
          <a:lstStyle/>
          <a:p>
            <a:endParaRPr lang="en-US"/>
          </a:p>
        </p:txBody>
      </p:sp>
      <p:sp>
        <p:nvSpPr>
          <p:cNvPr id="30" name="Shape 26"/>
          <p:cNvSpPr/>
          <p:nvPr/>
        </p:nvSpPr>
        <p:spPr>
          <a:xfrm>
            <a:off x="8183880" y="4270248"/>
            <a:ext cx="384048" cy="384048"/>
          </a:xfrm>
          <a:prstGeom prst="rect">
            <a:avLst/>
          </a:prstGeom>
          <a:solidFill>
            <a:srgbClr val="323540"/>
          </a:solidFill>
          <a:ln w="6350">
            <a:solidFill>
              <a:srgbClr val="3D404A"/>
            </a:solidFill>
            <a:prstDash val="solid"/>
          </a:ln>
        </p:spPr>
        <p:txBody>
          <a:bodyPr/>
          <a:lstStyle/>
          <a:p>
            <a:endParaRPr lang="en-US"/>
          </a:p>
        </p:txBody>
      </p:sp>
      <p:sp>
        <p:nvSpPr>
          <p:cNvPr id="31" name="Shape 27"/>
          <p:cNvSpPr/>
          <p:nvPr/>
        </p:nvSpPr>
        <p:spPr>
          <a:xfrm>
            <a:off x="8567928" y="4270248"/>
            <a:ext cx="384048" cy="384048"/>
          </a:xfrm>
          <a:prstGeom prst="rect">
            <a:avLst/>
          </a:prstGeom>
          <a:solidFill>
            <a:srgbClr val="1F2025"/>
          </a:solidFill>
          <a:ln w="6350">
            <a:solidFill>
              <a:srgbClr val="3D404A"/>
            </a:solidFill>
            <a:prstDash val="solid"/>
          </a:ln>
        </p:spPr>
        <p:txBody>
          <a:bodyPr/>
          <a:lstStyle/>
          <a:p>
            <a:endParaRPr lang="en-US"/>
          </a:p>
        </p:txBody>
      </p:sp>
      <p:sp>
        <p:nvSpPr>
          <p:cNvPr id="32" name="Shape 28"/>
          <p:cNvSpPr/>
          <p:nvPr/>
        </p:nvSpPr>
        <p:spPr>
          <a:xfrm>
            <a:off x="8951976" y="4270248"/>
            <a:ext cx="384048" cy="384048"/>
          </a:xfrm>
          <a:prstGeom prst="rect">
            <a:avLst/>
          </a:prstGeom>
          <a:solidFill>
            <a:srgbClr val="323540"/>
          </a:solidFill>
          <a:ln w="6350">
            <a:solidFill>
              <a:srgbClr val="3D404A"/>
            </a:solidFill>
            <a:prstDash val="solid"/>
          </a:ln>
        </p:spPr>
        <p:txBody>
          <a:bodyPr/>
          <a:lstStyle/>
          <a:p>
            <a:endParaRPr lang="en-US"/>
          </a:p>
        </p:txBody>
      </p:sp>
      <p:sp>
        <p:nvSpPr>
          <p:cNvPr id="33" name="Shape 29"/>
          <p:cNvSpPr/>
          <p:nvPr/>
        </p:nvSpPr>
        <p:spPr>
          <a:xfrm>
            <a:off x="6263640" y="4654296"/>
            <a:ext cx="384048" cy="384048"/>
          </a:xfrm>
          <a:prstGeom prst="rect">
            <a:avLst/>
          </a:prstGeom>
          <a:solidFill>
            <a:srgbClr val="323540"/>
          </a:solidFill>
          <a:ln w="6350">
            <a:solidFill>
              <a:srgbClr val="3D404A"/>
            </a:solidFill>
            <a:prstDash val="solid"/>
          </a:ln>
        </p:spPr>
        <p:txBody>
          <a:bodyPr/>
          <a:lstStyle/>
          <a:p>
            <a:endParaRPr lang="en-US"/>
          </a:p>
        </p:txBody>
      </p:sp>
      <p:sp>
        <p:nvSpPr>
          <p:cNvPr id="34" name="Shape 30"/>
          <p:cNvSpPr/>
          <p:nvPr/>
        </p:nvSpPr>
        <p:spPr>
          <a:xfrm>
            <a:off x="6647688" y="4654296"/>
            <a:ext cx="384048" cy="384048"/>
          </a:xfrm>
          <a:prstGeom prst="rect">
            <a:avLst/>
          </a:prstGeom>
          <a:solidFill>
            <a:srgbClr val="1F2025"/>
          </a:solidFill>
          <a:ln w="6350">
            <a:solidFill>
              <a:srgbClr val="3D404A"/>
            </a:solidFill>
            <a:prstDash val="solid"/>
          </a:ln>
        </p:spPr>
        <p:txBody>
          <a:bodyPr/>
          <a:lstStyle/>
          <a:p>
            <a:endParaRPr lang="en-US"/>
          </a:p>
        </p:txBody>
      </p:sp>
      <p:sp>
        <p:nvSpPr>
          <p:cNvPr id="35" name="Shape 31"/>
          <p:cNvSpPr/>
          <p:nvPr/>
        </p:nvSpPr>
        <p:spPr>
          <a:xfrm>
            <a:off x="7031736" y="4654296"/>
            <a:ext cx="384048" cy="384048"/>
          </a:xfrm>
          <a:prstGeom prst="rect">
            <a:avLst/>
          </a:prstGeom>
          <a:solidFill>
            <a:srgbClr val="323540"/>
          </a:solidFill>
          <a:ln w="6350">
            <a:solidFill>
              <a:srgbClr val="3D404A"/>
            </a:solidFill>
            <a:prstDash val="solid"/>
          </a:ln>
        </p:spPr>
        <p:txBody>
          <a:bodyPr/>
          <a:lstStyle/>
          <a:p>
            <a:endParaRPr lang="en-US"/>
          </a:p>
        </p:txBody>
      </p:sp>
      <p:sp>
        <p:nvSpPr>
          <p:cNvPr id="36" name="Shape 32"/>
          <p:cNvSpPr/>
          <p:nvPr/>
        </p:nvSpPr>
        <p:spPr>
          <a:xfrm>
            <a:off x="7415784" y="4654296"/>
            <a:ext cx="384048" cy="384048"/>
          </a:xfrm>
          <a:prstGeom prst="rect">
            <a:avLst/>
          </a:prstGeom>
          <a:solidFill>
            <a:srgbClr val="1F2025"/>
          </a:solidFill>
          <a:ln w="6350">
            <a:solidFill>
              <a:srgbClr val="3D404A"/>
            </a:solidFill>
            <a:prstDash val="solid"/>
          </a:ln>
        </p:spPr>
        <p:txBody>
          <a:bodyPr/>
          <a:lstStyle/>
          <a:p>
            <a:endParaRPr lang="en-US"/>
          </a:p>
        </p:txBody>
      </p:sp>
      <p:sp>
        <p:nvSpPr>
          <p:cNvPr id="37" name="Shape 33"/>
          <p:cNvSpPr/>
          <p:nvPr/>
        </p:nvSpPr>
        <p:spPr>
          <a:xfrm>
            <a:off x="7799832" y="4654296"/>
            <a:ext cx="384048" cy="384048"/>
          </a:xfrm>
          <a:prstGeom prst="rect">
            <a:avLst/>
          </a:prstGeom>
          <a:solidFill>
            <a:srgbClr val="323540"/>
          </a:solidFill>
          <a:ln w="6350">
            <a:solidFill>
              <a:srgbClr val="3D404A"/>
            </a:solidFill>
            <a:prstDash val="solid"/>
          </a:ln>
        </p:spPr>
        <p:txBody>
          <a:bodyPr/>
          <a:lstStyle/>
          <a:p>
            <a:endParaRPr lang="en-US"/>
          </a:p>
        </p:txBody>
      </p:sp>
      <p:sp>
        <p:nvSpPr>
          <p:cNvPr id="38" name="Shape 34"/>
          <p:cNvSpPr/>
          <p:nvPr/>
        </p:nvSpPr>
        <p:spPr>
          <a:xfrm>
            <a:off x="8183880" y="4654296"/>
            <a:ext cx="384048" cy="384048"/>
          </a:xfrm>
          <a:prstGeom prst="rect">
            <a:avLst/>
          </a:prstGeom>
          <a:solidFill>
            <a:srgbClr val="1F2025"/>
          </a:solidFill>
          <a:ln w="6350">
            <a:solidFill>
              <a:srgbClr val="3D404A"/>
            </a:solidFill>
            <a:prstDash val="solid"/>
          </a:ln>
        </p:spPr>
        <p:txBody>
          <a:bodyPr/>
          <a:lstStyle/>
          <a:p>
            <a:endParaRPr lang="en-US"/>
          </a:p>
        </p:txBody>
      </p:sp>
      <p:sp>
        <p:nvSpPr>
          <p:cNvPr id="39" name="Shape 35"/>
          <p:cNvSpPr/>
          <p:nvPr/>
        </p:nvSpPr>
        <p:spPr>
          <a:xfrm>
            <a:off x="8567928" y="4654296"/>
            <a:ext cx="384048" cy="384048"/>
          </a:xfrm>
          <a:prstGeom prst="rect">
            <a:avLst/>
          </a:prstGeom>
          <a:solidFill>
            <a:srgbClr val="323540"/>
          </a:solidFill>
          <a:ln w="6350">
            <a:solidFill>
              <a:srgbClr val="3D404A"/>
            </a:solidFill>
            <a:prstDash val="solid"/>
          </a:ln>
        </p:spPr>
        <p:txBody>
          <a:bodyPr/>
          <a:lstStyle/>
          <a:p>
            <a:endParaRPr lang="en-US"/>
          </a:p>
        </p:txBody>
      </p:sp>
      <p:sp>
        <p:nvSpPr>
          <p:cNvPr id="40" name="Shape 36"/>
          <p:cNvSpPr/>
          <p:nvPr/>
        </p:nvSpPr>
        <p:spPr>
          <a:xfrm>
            <a:off x="8951976" y="4654296"/>
            <a:ext cx="384048" cy="384048"/>
          </a:xfrm>
          <a:prstGeom prst="rect">
            <a:avLst/>
          </a:prstGeom>
          <a:solidFill>
            <a:srgbClr val="1F2025"/>
          </a:solidFill>
          <a:ln w="6350">
            <a:solidFill>
              <a:srgbClr val="3D404A"/>
            </a:solidFill>
            <a:prstDash val="solid"/>
          </a:ln>
        </p:spPr>
        <p:txBody>
          <a:bodyPr/>
          <a:lstStyle/>
          <a:p>
            <a:endParaRPr lang="en-US"/>
          </a:p>
        </p:txBody>
      </p:sp>
      <p:sp>
        <p:nvSpPr>
          <p:cNvPr id="41" name="Shape 37"/>
          <p:cNvSpPr/>
          <p:nvPr/>
        </p:nvSpPr>
        <p:spPr>
          <a:xfrm>
            <a:off x="6263640" y="5038344"/>
            <a:ext cx="384048" cy="384048"/>
          </a:xfrm>
          <a:prstGeom prst="rect">
            <a:avLst/>
          </a:prstGeom>
          <a:solidFill>
            <a:srgbClr val="1F2025"/>
          </a:solidFill>
          <a:ln w="6350">
            <a:solidFill>
              <a:srgbClr val="3D404A"/>
            </a:solidFill>
            <a:prstDash val="solid"/>
          </a:ln>
        </p:spPr>
        <p:txBody>
          <a:bodyPr/>
          <a:lstStyle/>
          <a:p>
            <a:endParaRPr lang="en-US"/>
          </a:p>
        </p:txBody>
      </p:sp>
      <p:sp>
        <p:nvSpPr>
          <p:cNvPr id="42" name="Shape 38"/>
          <p:cNvSpPr/>
          <p:nvPr/>
        </p:nvSpPr>
        <p:spPr>
          <a:xfrm>
            <a:off x="6647688" y="5038344"/>
            <a:ext cx="384048" cy="384048"/>
          </a:xfrm>
          <a:prstGeom prst="rect">
            <a:avLst/>
          </a:prstGeom>
          <a:solidFill>
            <a:srgbClr val="323540"/>
          </a:solidFill>
          <a:ln w="6350">
            <a:solidFill>
              <a:srgbClr val="3D404A"/>
            </a:solidFill>
            <a:prstDash val="solid"/>
          </a:ln>
        </p:spPr>
        <p:txBody>
          <a:bodyPr/>
          <a:lstStyle/>
          <a:p>
            <a:endParaRPr lang="en-US"/>
          </a:p>
        </p:txBody>
      </p:sp>
      <p:sp>
        <p:nvSpPr>
          <p:cNvPr id="43" name="Shape 39"/>
          <p:cNvSpPr/>
          <p:nvPr/>
        </p:nvSpPr>
        <p:spPr>
          <a:xfrm>
            <a:off x="7031736" y="5038344"/>
            <a:ext cx="384048" cy="384048"/>
          </a:xfrm>
          <a:prstGeom prst="rect">
            <a:avLst/>
          </a:prstGeom>
          <a:solidFill>
            <a:srgbClr val="1F2025"/>
          </a:solidFill>
          <a:ln w="6350">
            <a:solidFill>
              <a:srgbClr val="3D404A"/>
            </a:solidFill>
            <a:prstDash val="solid"/>
          </a:ln>
        </p:spPr>
        <p:txBody>
          <a:bodyPr/>
          <a:lstStyle/>
          <a:p>
            <a:endParaRPr lang="en-US"/>
          </a:p>
        </p:txBody>
      </p:sp>
      <p:sp>
        <p:nvSpPr>
          <p:cNvPr id="44" name="Shape 40"/>
          <p:cNvSpPr/>
          <p:nvPr/>
        </p:nvSpPr>
        <p:spPr>
          <a:xfrm>
            <a:off x="7415784" y="5038344"/>
            <a:ext cx="384048" cy="384048"/>
          </a:xfrm>
          <a:prstGeom prst="rect">
            <a:avLst/>
          </a:prstGeom>
          <a:solidFill>
            <a:srgbClr val="323540"/>
          </a:solidFill>
          <a:ln w="6350">
            <a:solidFill>
              <a:srgbClr val="3D404A"/>
            </a:solidFill>
            <a:prstDash val="solid"/>
          </a:ln>
        </p:spPr>
        <p:txBody>
          <a:bodyPr/>
          <a:lstStyle/>
          <a:p>
            <a:endParaRPr lang="en-US"/>
          </a:p>
        </p:txBody>
      </p:sp>
      <p:sp>
        <p:nvSpPr>
          <p:cNvPr id="45" name="Shape 41"/>
          <p:cNvSpPr/>
          <p:nvPr/>
        </p:nvSpPr>
        <p:spPr>
          <a:xfrm>
            <a:off x="7799832" y="5038344"/>
            <a:ext cx="384048" cy="384048"/>
          </a:xfrm>
          <a:prstGeom prst="rect">
            <a:avLst/>
          </a:prstGeom>
          <a:solidFill>
            <a:srgbClr val="1F2025"/>
          </a:solidFill>
          <a:ln w="6350">
            <a:solidFill>
              <a:srgbClr val="3D404A"/>
            </a:solidFill>
            <a:prstDash val="solid"/>
          </a:ln>
        </p:spPr>
        <p:txBody>
          <a:bodyPr/>
          <a:lstStyle/>
          <a:p>
            <a:endParaRPr lang="en-US"/>
          </a:p>
        </p:txBody>
      </p:sp>
      <p:sp>
        <p:nvSpPr>
          <p:cNvPr id="46" name="Shape 42"/>
          <p:cNvSpPr/>
          <p:nvPr/>
        </p:nvSpPr>
        <p:spPr>
          <a:xfrm>
            <a:off x="8183880" y="5038344"/>
            <a:ext cx="384048" cy="384048"/>
          </a:xfrm>
          <a:prstGeom prst="rect">
            <a:avLst/>
          </a:prstGeom>
          <a:solidFill>
            <a:srgbClr val="323540"/>
          </a:solidFill>
          <a:ln w="6350">
            <a:solidFill>
              <a:srgbClr val="3D404A"/>
            </a:solidFill>
            <a:prstDash val="solid"/>
          </a:ln>
        </p:spPr>
        <p:txBody>
          <a:bodyPr/>
          <a:lstStyle/>
          <a:p>
            <a:endParaRPr lang="en-US"/>
          </a:p>
        </p:txBody>
      </p:sp>
      <p:sp>
        <p:nvSpPr>
          <p:cNvPr id="47" name="Shape 43"/>
          <p:cNvSpPr/>
          <p:nvPr/>
        </p:nvSpPr>
        <p:spPr>
          <a:xfrm>
            <a:off x="8567928" y="5038344"/>
            <a:ext cx="384048" cy="384048"/>
          </a:xfrm>
          <a:prstGeom prst="rect">
            <a:avLst/>
          </a:prstGeom>
          <a:solidFill>
            <a:srgbClr val="1F2025"/>
          </a:solidFill>
          <a:ln w="6350">
            <a:solidFill>
              <a:srgbClr val="3D404A"/>
            </a:solidFill>
            <a:prstDash val="solid"/>
          </a:ln>
        </p:spPr>
        <p:txBody>
          <a:bodyPr/>
          <a:lstStyle/>
          <a:p>
            <a:endParaRPr lang="en-US"/>
          </a:p>
        </p:txBody>
      </p:sp>
      <p:sp>
        <p:nvSpPr>
          <p:cNvPr id="48" name="Shape 44"/>
          <p:cNvSpPr/>
          <p:nvPr/>
        </p:nvSpPr>
        <p:spPr>
          <a:xfrm>
            <a:off x="8951976" y="5038344"/>
            <a:ext cx="384048" cy="384048"/>
          </a:xfrm>
          <a:prstGeom prst="rect">
            <a:avLst/>
          </a:prstGeom>
          <a:solidFill>
            <a:srgbClr val="323540"/>
          </a:solidFill>
          <a:ln w="6350">
            <a:solidFill>
              <a:srgbClr val="3D404A"/>
            </a:solidFill>
            <a:prstDash val="solid"/>
          </a:ln>
        </p:spPr>
        <p:txBody>
          <a:bodyPr/>
          <a:lstStyle/>
          <a:p>
            <a:endParaRPr lang="en-US"/>
          </a:p>
        </p:txBody>
      </p:sp>
      <p:sp>
        <p:nvSpPr>
          <p:cNvPr id="49" name="Text 45"/>
          <p:cNvSpPr txBox="1"/>
          <p:nvPr/>
        </p:nvSpPr>
        <p:spPr>
          <a:xfrm>
            <a:off x="6263640" y="5559552"/>
            <a:ext cx="4937760" cy="274320"/>
          </a:xfrm>
          <a:prstGeom prst="rect">
            <a:avLst/>
          </a:prstGeom>
          <a:noFill/>
          <a:ln/>
        </p:spPr>
        <p:txBody>
          <a:bodyPr wrap="square" lIns="0" tIns="0" rIns="0" bIns="0" rtlCol="0" anchor="ctr"/>
          <a:lstStyle/>
          <a:p>
            <a:pPr marL="0" indent="0">
              <a:buNone/>
            </a:pPr>
            <a:r>
              <a:rPr lang="en-US" sz="1100" i="1" dirty="0">
                <a:solidFill>
                  <a:srgbClr val="A7ABB4"/>
                </a:solidFill>
                <a:latin typeface="Calibri" pitchFamily="34" charset="0"/>
                <a:ea typeface="Calibri" pitchFamily="34" charset="-122"/>
                <a:cs typeface="Calibri" pitchFamily="34" charset="-120"/>
              </a:rPr>
              <a:t>→ Tính toán nhanh, tối ưu bộ nhớ</a:t>
            </a:r>
            <a:endParaRPr lang="en-US" sz="1100" dirty="0"/>
          </a:p>
        </p:txBody>
      </p:sp>
      <p:sp>
        <p:nvSpPr>
          <p:cNvPr id="50" name="Text 46"/>
          <p:cNvSpPr txBox="1"/>
          <p:nvPr/>
        </p:nvSpPr>
        <p:spPr>
          <a:xfrm>
            <a:off x="457200" y="6528816"/>
            <a:ext cx="6400800" cy="274320"/>
          </a:xfrm>
          <a:prstGeom prst="rect">
            <a:avLst/>
          </a:prstGeom>
          <a:noFill/>
          <a:ln/>
        </p:spPr>
        <p:txBody>
          <a:bodyPr wrap="square" lIns="0" tIns="0" rIns="0" bIns="0" rtlCol="0" anchor="ctr"/>
          <a:lstStyle/>
          <a:p>
            <a:pPr marL="0" indent="0" algn="l">
              <a:buNone/>
            </a:pPr>
            <a:r>
              <a:rPr lang="en-US" sz="900" kern="0" spc="100" dirty="0">
                <a:solidFill>
                  <a:srgbClr val="A7ABB4"/>
                </a:solidFill>
                <a:latin typeface="Calibri" pitchFamily="34" charset="0"/>
                <a:ea typeface="Calibri" pitchFamily="34" charset="-122"/>
                <a:cs typeface="Calibri" pitchFamily="34" charset="-120"/>
              </a:rPr>
              <a:t>ỨNG DỤNG CHESS GAME TRÊN ANDROID</a:t>
            </a:r>
            <a:endParaRPr lang="en-US" sz="900" dirty="0"/>
          </a:p>
        </p:txBody>
      </p:sp>
      <p:sp>
        <p:nvSpPr>
          <p:cNvPr id="51" name="Text 47"/>
          <p:cNvSpPr txBox="1"/>
          <p:nvPr/>
        </p:nvSpPr>
        <p:spPr>
          <a:xfrm>
            <a:off x="11338560" y="6528816"/>
            <a:ext cx="457200" cy="274320"/>
          </a:xfrm>
          <a:prstGeom prst="rect">
            <a:avLst/>
          </a:prstGeom>
          <a:noFill/>
          <a:ln/>
        </p:spPr>
        <p:txBody>
          <a:bodyPr wrap="square" lIns="0" tIns="0" rIns="0" bIns="0" rtlCol="0" anchor="ctr"/>
          <a:lstStyle/>
          <a:p>
            <a:pPr marL="0" indent="0" algn="r">
              <a:buNone/>
            </a:pPr>
            <a:r>
              <a:rPr lang="en-US" sz="900" dirty="0">
                <a:solidFill>
                  <a:srgbClr val="A7ABB4"/>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025"/>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marL="0" indent="0">
              <a:buNone/>
            </a:pPr>
            <a:r>
              <a:rPr lang="en-US" sz="1300" b="1" kern="0" spc="200" dirty="0">
                <a:solidFill>
                  <a:srgbClr val="D4AF37"/>
                </a:solidFill>
                <a:latin typeface="Calibri" pitchFamily="34" charset="0"/>
                <a:ea typeface="Calibri" pitchFamily="34" charset="-122"/>
                <a:cs typeface="Calibri" pitchFamily="34" charset="-120"/>
              </a:rPr>
              <a:t>PHẦN 03</a:t>
            </a:r>
            <a:endParaRPr lang="en-US" sz="1300" dirty="0"/>
          </a:p>
        </p:txBody>
      </p:sp>
      <p:sp>
        <p:nvSpPr>
          <p:cNvPr id="3" name="Text 1"/>
          <p:cNvSpPr txBox="1"/>
          <p:nvPr/>
        </p:nvSpPr>
        <p:spPr>
          <a:xfrm>
            <a:off x="621792" y="768096"/>
            <a:ext cx="1088136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Tính năng cốt lõi — Thiết kế &amp; Triển khai</a:t>
            </a:r>
            <a:endParaRPr lang="en-US" sz="3200" dirty="0"/>
          </a:p>
        </p:txBody>
      </p:sp>
      <p:sp>
        <p:nvSpPr>
          <p:cNvPr id="4" name="Shape 2"/>
          <p:cNvSpPr/>
          <p:nvPr/>
        </p:nvSpPr>
        <p:spPr>
          <a:xfrm>
            <a:off x="640080" y="1783080"/>
            <a:ext cx="3502152" cy="4023360"/>
          </a:xfrm>
          <a:prstGeom prst="roundRect">
            <a:avLst>
              <a:gd name="adj" fmla="val 3133"/>
            </a:avLst>
          </a:prstGeom>
          <a:solidFill>
            <a:srgbClr val="292B31"/>
          </a:solidFill>
          <a:ln/>
          <a:effectLst>
            <a:outerShdw blurRad="76200" dist="25400" dir="5400000" algn="bl" rotWithShape="0">
              <a:srgbClr val="000000">
                <a:alpha val="30000"/>
              </a:srgbClr>
            </a:outerShdw>
          </a:effectLst>
        </p:spPr>
        <p:txBody>
          <a:bodyPr/>
          <a:lstStyle/>
          <a:p>
            <a:endParaRPr lang="en-US"/>
          </a:p>
        </p:txBody>
      </p:sp>
      <p:sp>
        <p:nvSpPr>
          <p:cNvPr id="5" name="Shape 3"/>
          <p:cNvSpPr/>
          <p:nvPr/>
        </p:nvSpPr>
        <p:spPr>
          <a:xfrm>
            <a:off x="896112" y="2057400"/>
            <a:ext cx="566928" cy="566928"/>
          </a:xfrm>
          <a:prstGeom prst="ellipse">
            <a:avLst/>
          </a:prstGeom>
          <a:solidFill>
            <a:srgbClr val="323540"/>
          </a:solidFill>
          <a:ln w="12700">
            <a:solidFill>
              <a:srgbClr val="D4AF37"/>
            </a:solidFill>
            <a:prstDash val="solid"/>
          </a:ln>
        </p:spPr>
        <p:txBody>
          <a:bodyPr/>
          <a:lstStyle/>
          <a:p>
            <a:endParaRPr lang="en-US"/>
          </a:p>
        </p:txBody>
      </p:sp>
      <p:pic>
        <p:nvPicPr>
          <p:cNvPr id="6" name="Image 0" descr="/home/claude/icons/layers.png"/>
          <p:cNvPicPr>
            <a:picLocks noChangeAspect="1"/>
          </p:cNvPicPr>
          <p:nvPr/>
        </p:nvPicPr>
        <p:blipFill>
          <a:blip r:embed="rId3"/>
          <a:stretch>
            <a:fillRect/>
          </a:stretch>
        </p:blipFill>
        <p:spPr>
          <a:xfrm>
            <a:off x="1042416" y="2203704"/>
            <a:ext cx="274320" cy="274320"/>
          </a:xfrm>
          <a:prstGeom prst="rect">
            <a:avLst/>
          </a:prstGeom>
        </p:spPr>
      </p:pic>
      <p:sp>
        <p:nvSpPr>
          <p:cNvPr id="7" name="Text 4"/>
          <p:cNvSpPr txBox="1"/>
          <p:nvPr/>
        </p:nvSpPr>
        <p:spPr>
          <a:xfrm>
            <a:off x="896112" y="2761488"/>
            <a:ext cx="3017520" cy="685800"/>
          </a:xfrm>
          <a:prstGeom prst="rect">
            <a:avLst/>
          </a:prstGeom>
          <a:noFill/>
          <a:ln/>
        </p:spPr>
        <p:txBody>
          <a:bodyPr wrap="square" lIns="0" tIns="0" rIns="0" bIns="0" rtlCol="0" anchor="ctr"/>
          <a:lstStyle/>
          <a:p>
            <a:pPr marL="0" indent="0">
              <a:lnSpc>
                <a:spcPct val="105000"/>
              </a:lnSpc>
              <a:buNone/>
            </a:pPr>
            <a:r>
              <a:rPr lang="en-US" sz="1650" b="1" dirty="0">
                <a:solidFill>
                  <a:srgbClr val="FFFFFF"/>
                </a:solidFill>
                <a:latin typeface="Cambria" pitchFamily="34" charset="0"/>
                <a:ea typeface="Cambria" pitchFamily="34" charset="-122"/>
                <a:cs typeface="Cambria" pitchFamily="34" charset="-120"/>
              </a:rPr>
              <a:t>Tách biệt UI và Logic</a:t>
            </a:r>
            <a:endParaRPr lang="en-US" sz="1650" dirty="0"/>
          </a:p>
        </p:txBody>
      </p:sp>
      <p:sp>
        <p:nvSpPr>
          <p:cNvPr id="8" name="Text 5"/>
          <p:cNvSpPr txBox="1"/>
          <p:nvPr/>
        </p:nvSpPr>
        <p:spPr>
          <a:xfrm>
            <a:off x="896112" y="3429000"/>
            <a:ext cx="3017520" cy="2194560"/>
          </a:xfrm>
          <a:prstGeom prst="rect">
            <a:avLst/>
          </a:prstGeom>
          <a:noFill/>
          <a:ln/>
        </p:spPr>
        <p:txBody>
          <a:bodyPr wrap="square" lIns="0" tIns="0" rIns="0" bIns="0" rtlCol="0" anchor="ctr"/>
          <a:lstStyle/>
          <a:p>
            <a:pPr marL="0" indent="0">
              <a:lnSpc>
                <a:spcPct val="125000"/>
              </a:lnSpc>
              <a:buNone/>
            </a:pPr>
            <a:r>
              <a:rPr lang="en-US" sz="1150" dirty="0">
                <a:solidFill>
                  <a:srgbClr val="A7ABB4"/>
                </a:solidFill>
                <a:latin typeface="Calibri" pitchFamily="34" charset="0"/>
                <a:ea typeface="Calibri" pitchFamily="34" charset="-122"/>
                <a:cs typeface="Calibri" pitchFamily="34" charset="-120"/>
              </a:rPr>
              <a:t>ChessScreen chỉ tạo View (Button, TextView) và gán sự kiện click. Khi click, báo cho MainActivity → gọi Chess.java xử lý logic → trả kết quả về ChessBoardRenderer để cập nhật UI.</a:t>
            </a:r>
            <a:endParaRPr lang="en-US" sz="1150" dirty="0"/>
          </a:p>
        </p:txBody>
      </p:sp>
      <p:sp>
        <p:nvSpPr>
          <p:cNvPr id="9" name="Shape 6"/>
          <p:cNvSpPr/>
          <p:nvPr/>
        </p:nvSpPr>
        <p:spPr>
          <a:xfrm>
            <a:off x="4370832" y="1783080"/>
            <a:ext cx="3502152" cy="4023360"/>
          </a:xfrm>
          <a:prstGeom prst="roundRect">
            <a:avLst>
              <a:gd name="adj" fmla="val 3133"/>
            </a:avLst>
          </a:prstGeom>
          <a:solidFill>
            <a:srgbClr val="292B31"/>
          </a:solidFill>
          <a:ln/>
          <a:effectLst>
            <a:outerShdw blurRad="76200" dist="25400" dir="5400000" algn="bl" rotWithShape="0">
              <a:srgbClr val="000000">
                <a:alpha val="30000"/>
              </a:srgbClr>
            </a:outerShdw>
          </a:effectLst>
        </p:spPr>
        <p:txBody>
          <a:bodyPr/>
          <a:lstStyle/>
          <a:p>
            <a:endParaRPr lang="en-US"/>
          </a:p>
        </p:txBody>
      </p:sp>
      <p:sp>
        <p:nvSpPr>
          <p:cNvPr id="10" name="Shape 7"/>
          <p:cNvSpPr/>
          <p:nvPr/>
        </p:nvSpPr>
        <p:spPr>
          <a:xfrm>
            <a:off x="4626864" y="2057400"/>
            <a:ext cx="566928" cy="566928"/>
          </a:xfrm>
          <a:prstGeom prst="ellipse">
            <a:avLst/>
          </a:prstGeom>
          <a:solidFill>
            <a:srgbClr val="323540"/>
          </a:solidFill>
          <a:ln w="12700">
            <a:solidFill>
              <a:srgbClr val="D4AF37"/>
            </a:solidFill>
            <a:prstDash val="solid"/>
          </a:ln>
        </p:spPr>
        <p:txBody>
          <a:bodyPr/>
          <a:lstStyle/>
          <a:p>
            <a:endParaRPr lang="en-US"/>
          </a:p>
        </p:txBody>
      </p:sp>
      <p:pic>
        <p:nvPicPr>
          <p:cNvPr id="11" name="Image 1" descr="/home/claude/icons/sitemap.png"/>
          <p:cNvPicPr>
            <a:picLocks noChangeAspect="1"/>
          </p:cNvPicPr>
          <p:nvPr/>
        </p:nvPicPr>
        <p:blipFill>
          <a:blip r:embed="rId4"/>
          <a:stretch>
            <a:fillRect/>
          </a:stretch>
        </p:blipFill>
        <p:spPr>
          <a:xfrm>
            <a:off x="4773168" y="2203704"/>
            <a:ext cx="274320" cy="274320"/>
          </a:xfrm>
          <a:prstGeom prst="rect">
            <a:avLst/>
          </a:prstGeom>
        </p:spPr>
      </p:pic>
      <p:sp>
        <p:nvSpPr>
          <p:cNvPr id="12" name="Text 8"/>
          <p:cNvSpPr txBox="1"/>
          <p:nvPr/>
        </p:nvSpPr>
        <p:spPr>
          <a:xfrm>
            <a:off x="4626864" y="2761488"/>
            <a:ext cx="3017520" cy="685800"/>
          </a:xfrm>
          <a:prstGeom prst="rect">
            <a:avLst/>
          </a:prstGeom>
          <a:noFill/>
          <a:ln/>
        </p:spPr>
        <p:txBody>
          <a:bodyPr wrap="square" lIns="0" tIns="0" rIns="0" bIns="0" rtlCol="0" anchor="ctr"/>
          <a:lstStyle/>
          <a:p>
            <a:pPr marL="0" indent="0">
              <a:lnSpc>
                <a:spcPct val="105000"/>
              </a:lnSpc>
              <a:buNone/>
            </a:pPr>
            <a:r>
              <a:rPr lang="en-US" sz="1650" b="1" dirty="0">
                <a:solidFill>
                  <a:srgbClr val="FFFFFF"/>
                </a:solidFill>
                <a:latin typeface="Cambria" pitchFamily="34" charset="0"/>
                <a:ea typeface="Cambria" pitchFamily="34" charset="-122"/>
                <a:cs typeface="Cambria" pitchFamily="34" charset="-120"/>
              </a:rPr>
              <a:t>Mã hoá quân cờ</a:t>
            </a:r>
            <a:endParaRPr lang="en-US" sz="1650" dirty="0"/>
          </a:p>
        </p:txBody>
      </p:sp>
      <p:sp>
        <p:nvSpPr>
          <p:cNvPr id="13" name="Text 9"/>
          <p:cNvSpPr txBox="1"/>
          <p:nvPr/>
        </p:nvSpPr>
        <p:spPr>
          <a:xfrm>
            <a:off x="4626864" y="3429000"/>
            <a:ext cx="3017520" cy="2194560"/>
          </a:xfrm>
          <a:prstGeom prst="rect">
            <a:avLst/>
          </a:prstGeom>
          <a:noFill/>
          <a:ln/>
        </p:spPr>
        <p:txBody>
          <a:bodyPr wrap="square" lIns="0" tIns="0" rIns="0" bIns="0" rtlCol="0" anchor="ctr"/>
          <a:lstStyle/>
          <a:p>
            <a:pPr marL="0" indent="0">
              <a:lnSpc>
                <a:spcPct val="125000"/>
              </a:lnSpc>
              <a:buNone/>
            </a:pPr>
            <a:r>
              <a:rPr lang="en-US" sz="1150" dirty="0">
                <a:solidFill>
                  <a:srgbClr val="A7ABB4"/>
                </a:solidFill>
                <a:latin typeface="Calibri" pitchFamily="34" charset="0"/>
                <a:ea typeface="Calibri" pitchFamily="34" charset="-122"/>
                <a:cs typeface="Calibri" pitchFamily="34" charset="-120"/>
              </a:rPr>
              <a:t>Bàn cờ lưu dưới dạng mảng 2 chiều int[][]. Mỗi số đại diện một loại quân và phe, giúp tính toán nhanh, tối ưu bộ nhớ.</a:t>
            </a:r>
            <a:endParaRPr lang="en-US" sz="1150" dirty="0"/>
          </a:p>
        </p:txBody>
      </p:sp>
      <p:sp>
        <p:nvSpPr>
          <p:cNvPr id="14" name="Shape 10"/>
          <p:cNvSpPr/>
          <p:nvPr/>
        </p:nvSpPr>
        <p:spPr>
          <a:xfrm>
            <a:off x="8101584" y="1783080"/>
            <a:ext cx="3502152" cy="4023360"/>
          </a:xfrm>
          <a:prstGeom prst="roundRect">
            <a:avLst>
              <a:gd name="adj" fmla="val 3133"/>
            </a:avLst>
          </a:prstGeom>
          <a:solidFill>
            <a:srgbClr val="292B31"/>
          </a:solidFill>
          <a:ln/>
          <a:effectLst>
            <a:outerShdw blurRad="76200" dist="25400" dir="5400000" algn="bl" rotWithShape="0">
              <a:srgbClr val="000000">
                <a:alpha val="30000"/>
              </a:srgbClr>
            </a:outerShdw>
          </a:effectLst>
        </p:spPr>
        <p:txBody>
          <a:bodyPr/>
          <a:lstStyle/>
          <a:p>
            <a:endParaRPr lang="en-US"/>
          </a:p>
        </p:txBody>
      </p:sp>
      <p:sp>
        <p:nvSpPr>
          <p:cNvPr id="15" name="Shape 11"/>
          <p:cNvSpPr/>
          <p:nvPr/>
        </p:nvSpPr>
        <p:spPr>
          <a:xfrm>
            <a:off x="8357616" y="2057400"/>
            <a:ext cx="566928" cy="566928"/>
          </a:xfrm>
          <a:prstGeom prst="ellipse">
            <a:avLst/>
          </a:prstGeom>
          <a:solidFill>
            <a:srgbClr val="323540"/>
          </a:solidFill>
          <a:ln w="12700">
            <a:solidFill>
              <a:srgbClr val="D4AF37"/>
            </a:solidFill>
            <a:prstDash val="solid"/>
          </a:ln>
        </p:spPr>
        <p:txBody>
          <a:bodyPr/>
          <a:lstStyle/>
          <a:p>
            <a:endParaRPr lang="en-US"/>
          </a:p>
        </p:txBody>
      </p:sp>
      <p:pic>
        <p:nvPicPr>
          <p:cNvPr id="16" name="Image 2" descr="/home/claude/icons/history.png"/>
          <p:cNvPicPr>
            <a:picLocks noChangeAspect="1"/>
          </p:cNvPicPr>
          <p:nvPr/>
        </p:nvPicPr>
        <p:blipFill>
          <a:blip r:embed="rId5"/>
          <a:stretch>
            <a:fillRect/>
          </a:stretch>
        </p:blipFill>
        <p:spPr>
          <a:xfrm>
            <a:off x="8503920" y="2203704"/>
            <a:ext cx="274320" cy="274320"/>
          </a:xfrm>
          <a:prstGeom prst="rect">
            <a:avLst/>
          </a:prstGeom>
        </p:spPr>
      </p:pic>
      <p:sp>
        <p:nvSpPr>
          <p:cNvPr id="17" name="Text 12"/>
          <p:cNvSpPr txBox="1"/>
          <p:nvPr/>
        </p:nvSpPr>
        <p:spPr>
          <a:xfrm>
            <a:off x="8357616" y="2761488"/>
            <a:ext cx="3017520" cy="685800"/>
          </a:xfrm>
          <a:prstGeom prst="rect">
            <a:avLst/>
          </a:prstGeom>
          <a:noFill/>
          <a:ln/>
        </p:spPr>
        <p:txBody>
          <a:bodyPr wrap="square" lIns="0" tIns="0" rIns="0" bIns="0" rtlCol="0" anchor="ctr"/>
          <a:lstStyle/>
          <a:p>
            <a:pPr marL="0" indent="0">
              <a:lnSpc>
                <a:spcPct val="105000"/>
              </a:lnSpc>
              <a:buNone/>
            </a:pPr>
            <a:r>
              <a:rPr lang="en-US" sz="1650" b="1" dirty="0">
                <a:solidFill>
                  <a:srgbClr val="FFFFFF"/>
                </a:solidFill>
                <a:latin typeface="Cambria" pitchFamily="34" charset="0"/>
                <a:ea typeface="Cambria" pitchFamily="34" charset="-122"/>
                <a:cs typeface="Cambria" pitchFamily="34" charset="-120"/>
              </a:rPr>
              <a:t>Tính năng Undo</a:t>
            </a:r>
            <a:endParaRPr lang="en-US" sz="1650" dirty="0"/>
          </a:p>
        </p:txBody>
      </p:sp>
      <p:sp>
        <p:nvSpPr>
          <p:cNvPr id="18" name="Text 13"/>
          <p:cNvSpPr txBox="1"/>
          <p:nvPr/>
        </p:nvSpPr>
        <p:spPr>
          <a:xfrm>
            <a:off x="8357616" y="3429000"/>
            <a:ext cx="3017520" cy="2194560"/>
          </a:xfrm>
          <a:prstGeom prst="rect">
            <a:avLst/>
          </a:prstGeom>
          <a:noFill/>
          <a:ln/>
        </p:spPr>
        <p:txBody>
          <a:bodyPr wrap="square" lIns="0" tIns="0" rIns="0" bIns="0" rtlCol="0" anchor="ctr"/>
          <a:lstStyle/>
          <a:p>
            <a:pPr marL="0" indent="0">
              <a:lnSpc>
                <a:spcPct val="125000"/>
              </a:lnSpc>
              <a:buNone/>
            </a:pPr>
            <a:r>
              <a:rPr lang="en-US" sz="1150" dirty="0">
                <a:solidFill>
                  <a:srgbClr val="A7ABB4"/>
                </a:solidFill>
                <a:latin typeface="Calibri" pitchFamily="34" charset="0"/>
                <a:ea typeface="Calibri" pitchFamily="34" charset="-122"/>
                <a:cs typeface="Calibri" pitchFamily="34" charset="-120"/>
              </a:rPr>
              <a:t>Cho phép người chơi lùi lại một nước đi trước đó nhờ hệ thống Snapshot (Memento) đã xây dựng.</a:t>
            </a:r>
            <a:endParaRPr lang="en-US" sz="1150" dirty="0"/>
          </a:p>
        </p:txBody>
      </p:sp>
      <p:sp>
        <p:nvSpPr>
          <p:cNvPr id="19" name="Text 14"/>
          <p:cNvSpPr txBox="1"/>
          <p:nvPr/>
        </p:nvSpPr>
        <p:spPr>
          <a:xfrm>
            <a:off x="457200" y="6528816"/>
            <a:ext cx="6400800" cy="274320"/>
          </a:xfrm>
          <a:prstGeom prst="rect">
            <a:avLst/>
          </a:prstGeom>
          <a:noFill/>
          <a:ln/>
        </p:spPr>
        <p:txBody>
          <a:bodyPr wrap="square" lIns="0" tIns="0" rIns="0" bIns="0" rtlCol="0" anchor="ctr"/>
          <a:lstStyle/>
          <a:p>
            <a:pPr marL="0" indent="0" algn="l">
              <a:buNone/>
            </a:pPr>
            <a:r>
              <a:rPr lang="en-US" sz="900" kern="0" spc="100" dirty="0">
                <a:solidFill>
                  <a:srgbClr val="A7ABB4"/>
                </a:solidFill>
                <a:latin typeface="Calibri" pitchFamily="34" charset="0"/>
                <a:ea typeface="Calibri" pitchFamily="34" charset="-122"/>
                <a:cs typeface="Calibri" pitchFamily="34" charset="-120"/>
              </a:rPr>
              <a:t>ỨNG DỤNG CHESS GAME TRÊN ANDROID</a:t>
            </a:r>
            <a:endParaRPr lang="en-US" sz="900" dirty="0"/>
          </a:p>
        </p:txBody>
      </p:sp>
      <p:sp>
        <p:nvSpPr>
          <p:cNvPr id="20" name="Text 15"/>
          <p:cNvSpPr txBox="1"/>
          <p:nvPr/>
        </p:nvSpPr>
        <p:spPr>
          <a:xfrm>
            <a:off x="11338560" y="6528816"/>
            <a:ext cx="457200" cy="274320"/>
          </a:xfrm>
          <a:prstGeom prst="rect">
            <a:avLst/>
          </a:prstGeom>
          <a:noFill/>
          <a:ln/>
        </p:spPr>
        <p:txBody>
          <a:bodyPr wrap="square" lIns="0" tIns="0" rIns="0" bIns="0" rtlCol="0" anchor="ctr"/>
          <a:lstStyle/>
          <a:p>
            <a:pPr marL="0" indent="0" algn="r">
              <a:buNone/>
            </a:pPr>
            <a:r>
              <a:rPr lang="en-US" sz="900" dirty="0">
                <a:solidFill>
                  <a:srgbClr val="A7ABB4"/>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2025"/>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marL="0" indent="0">
              <a:buNone/>
            </a:pPr>
            <a:r>
              <a:rPr lang="en-US" sz="1300" b="1" kern="0" spc="200" dirty="0">
                <a:solidFill>
                  <a:srgbClr val="D4AF37"/>
                </a:solidFill>
                <a:latin typeface="Calibri" pitchFamily="34" charset="0"/>
                <a:ea typeface="Calibri" pitchFamily="34" charset="-122"/>
                <a:cs typeface="Calibri" pitchFamily="34" charset="-120"/>
              </a:rPr>
              <a:t>PHẦN 03</a:t>
            </a:r>
            <a:endParaRPr lang="en-US" sz="1300" dirty="0"/>
          </a:p>
        </p:txBody>
      </p:sp>
      <p:sp>
        <p:nvSpPr>
          <p:cNvPr id="3" name="Text 1"/>
          <p:cNvSpPr txBox="1"/>
          <p:nvPr/>
        </p:nvSpPr>
        <p:spPr>
          <a:xfrm>
            <a:off x="621792" y="768096"/>
            <a:ext cx="1088136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Màn hình đáp ứng (Responsive UI)</a:t>
            </a:r>
            <a:endParaRPr lang="en-US" sz="3200" dirty="0"/>
          </a:p>
        </p:txBody>
      </p:sp>
      <p:pic>
        <p:nvPicPr>
          <p:cNvPr id="4" name="Image 0" descr="/home/claude/icons/mobile.png"/>
          <p:cNvPicPr>
            <a:picLocks noChangeAspect="1"/>
          </p:cNvPicPr>
          <p:nvPr/>
        </p:nvPicPr>
        <p:blipFill>
          <a:blip r:embed="rId3"/>
          <a:stretch>
            <a:fillRect/>
          </a:stretch>
        </p:blipFill>
        <p:spPr>
          <a:xfrm>
            <a:off x="658368" y="1783080"/>
            <a:ext cx="310896" cy="310896"/>
          </a:xfrm>
          <a:prstGeom prst="rect">
            <a:avLst/>
          </a:prstGeom>
        </p:spPr>
      </p:pic>
      <p:sp>
        <p:nvSpPr>
          <p:cNvPr id="5" name="Text 2"/>
          <p:cNvSpPr txBox="1"/>
          <p:nvPr/>
        </p:nvSpPr>
        <p:spPr>
          <a:xfrm>
            <a:off x="1060704" y="1755648"/>
            <a:ext cx="512064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Tự động tính toán kích thước</a:t>
            </a:r>
            <a:endParaRPr lang="en-US" sz="1450" dirty="0"/>
          </a:p>
        </p:txBody>
      </p:sp>
      <p:sp>
        <p:nvSpPr>
          <p:cNvPr id="6" name="Text 3"/>
          <p:cNvSpPr txBox="1"/>
          <p:nvPr/>
        </p:nvSpPr>
        <p:spPr>
          <a:xfrm>
            <a:off x="1060704" y="2130552"/>
            <a:ext cx="5074920" cy="685800"/>
          </a:xfrm>
          <a:prstGeom prst="rect">
            <a:avLst/>
          </a:prstGeom>
          <a:noFill/>
          <a:ln/>
        </p:spPr>
        <p:txBody>
          <a:bodyPr wrap="square" lIns="0" tIns="0" rIns="0" bIns="0" rtlCol="0" anchor="ctr"/>
          <a:lstStyle/>
          <a:p>
            <a:pPr marL="0" indent="0">
              <a:lnSpc>
                <a:spcPct val="120000"/>
              </a:lnSpc>
              <a:buNone/>
            </a:pPr>
            <a:r>
              <a:rPr lang="en-US" sz="1200" dirty="0">
                <a:solidFill>
                  <a:srgbClr val="A7ABB4"/>
                </a:solidFill>
                <a:latin typeface="Calibri" pitchFamily="34" charset="0"/>
                <a:ea typeface="Calibri" pitchFamily="34" charset="-122"/>
                <a:cs typeface="Calibri" pitchFamily="34" charset="-120"/>
              </a:rPr>
              <a:t>Bàn cờ không fix cứng kích thước — sử dụng getWindowManager().getDefaultDisplay().getSize() để lấy chiều rộng màn hình thiết bị hiện tại.</a:t>
            </a:r>
            <a:endParaRPr lang="en-US" sz="1200" dirty="0"/>
          </a:p>
        </p:txBody>
      </p:sp>
      <p:sp>
        <p:nvSpPr>
          <p:cNvPr id="7" name="Shape 4"/>
          <p:cNvSpPr/>
          <p:nvPr/>
        </p:nvSpPr>
        <p:spPr>
          <a:xfrm>
            <a:off x="640080" y="2971800"/>
            <a:ext cx="5486400" cy="914400"/>
          </a:xfrm>
          <a:prstGeom prst="roundRect">
            <a:avLst>
              <a:gd name="adj" fmla="val 10000"/>
            </a:avLst>
          </a:prstGeom>
          <a:solidFill>
            <a:srgbClr val="292B31"/>
          </a:solidFill>
          <a:ln/>
        </p:spPr>
        <p:txBody>
          <a:bodyPr/>
          <a:lstStyle/>
          <a:p>
            <a:endParaRPr lang="en-US"/>
          </a:p>
        </p:txBody>
      </p:sp>
      <p:sp>
        <p:nvSpPr>
          <p:cNvPr id="8" name="Text 5"/>
          <p:cNvSpPr txBox="1"/>
          <p:nvPr/>
        </p:nvSpPr>
        <p:spPr>
          <a:xfrm>
            <a:off x="822960" y="3154680"/>
            <a:ext cx="5120640" cy="548640"/>
          </a:xfrm>
          <a:prstGeom prst="rect">
            <a:avLst/>
          </a:prstGeom>
          <a:noFill/>
          <a:ln/>
        </p:spPr>
        <p:txBody>
          <a:bodyPr wrap="square" lIns="0" tIns="0" rIns="0" bIns="0" rtlCol="0" anchor="ctr"/>
          <a:lstStyle/>
          <a:p>
            <a:pPr marL="0" indent="0" algn="ctr">
              <a:buNone/>
            </a:pPr>
            <a:r>
              <a:rPr lang="en-US" sz="1300" b="1" dirty="0">
                <a:solidFill>
                  <a:srgbClr val="D4AF37"/>
                </a:solidFill>
                <a:latin typeface="Consolas" pitchFamily="34" charset="0"/>
                <a:ea typeface="Consolas" pitchFamily="34" charset="-122"/>
                <a:cs typeface="Consolas" pitchFamily="34" charset="-120"/>
              </a:rPr>
              <a:t>Square Size = (Chiều rộng màn hình − Margin) / 8</a:t>
            </a:r>
            <a:endParaRPr lang="en-US" sz="1300" dirty="0"/>
          </a:p>
        </p:txBody>
      </p:sp>
      <p:sp>
        <p:nvSpPr>
          <p:cNvPr id="9" name="Text 6"/>
          <p:cNvSpPr txBox="1"/>
          <p:nvPr/>
        </p:nvSpPr>
        <p:spPr>
          <a:xfrm>
            <a:off x="658368" y="4069080"/>
            <a:ext cx="5120640" cy="548640"/>
          </a:xfrm>
          <a:prstGeom prst="rect">
            <a:avLst/>
          </a:prstGeom>
          <a:noFill/>
          <a:ln/>
        </p:spPr>
        <p:txBody>
          <a:bodyPr wrap="square" lIns="0" tIns="0" rIns="0" bIns="0" rtlCol="0" anchor="ctr"/>
          <a:lstStyle/>
          <a:p>
            <a:pPr marL="0" indent="0">
              <a:lnSpc>
                <a:spcPct val="120000"/>
              </a:lnSpc>
              <a:buNone/>
            </a:pPr>
            <a:r>
              <a:rPr lang="en-US" sz="1150" i="1" dirty="0">
                <a:solidFill>
                  <a:srgbClr val="A7ABB4"/>
                </a:solidFill>
                <a:latin typeface="Calibri" pitchFamily="34" charset="0"/>
                <a:ea typeface="Calibri" pitchFamily="34" charset="-122"/>
                <a:cs typeface="Calibri" pitchFamily="34" charset="-120"/>
              </a:rPr>
              <a:t>Đảm bảo bàn cờ luôn vuông vắn và vừa vặn trên mọi kích thước màn hình — từ điện thoại nhỏ đến tablet.</a:t>
            </a:r>
            <a:endParaRPr lang="en-US" sz="1150" dirty="0"/>
          </a:p>
        </p:txBody>
      </p:sp>
      <p:pic>
        <p:nvPicPr>
          <p:cNvPr id="10" name="Image 1" descr="/home/claude/icons/palette.png"/>
          <p:cNvPicPr>
            <a:picLocks noChangeAspect="1"/>
          </p:cNvPicPr>
          <p:nvPr/>
        </p:nvPicPr>
        <p:blipFill>
          <a:blip r:embed="rId4"/>
          <a:stretch>
            <a:fillRect/>
          </a:stretch>
        </p:blipFill>
        <p:spPr>
          <a:xfrm>
            <a:off x="658368" y="4800600"/>
            <a:ext cx="310896" cy="310896"/>
          </a:xfrm>
          <a:prstGeom prst="rect">
            <a:avLst/>
          </a:prstGeom>
        </p:spPr>
      </p:pic>
      <p:sp>
        <p:nvSpPr>
          <p:cNvPr id="11" name="Text 7"/>
          <p:cNvSpPr txBox="1"/>
          <p:nvPr/>
        </p:nvSpPr>
        <p:spPr>
          <a:xfrm>
            <a:off x="1060704" y="4773168"/>
            <a:ext cx="512064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Màu sắc &amp; Typography hiện đại</a:t>
            </a:r>
            <a:endParaRPr lang="en-US" sz="1450" dirty="0"/>
          </a:p>
        </p:txBody>
      </p:sp>
      <p:sp>
        <p:nvSpPr>
          <p:cNvPr id="12" name="Text 8"/>
          <p:cNvSpPr txBox="1"/>
          <p:nvPr/>
        </p:nvSpPr>
        <p:spPr>
          <a:xfrm>
            <a:off x="1060704" y="5148072"/>
            <a:ext cx="5074920" cy="685800"/>
          </a:xfrm>
          <a:prstGeom prst="rect">
            <a:avLst/>
          </a:prstGeom>
          <a:noFill/>
          <a:ln/>
        </p:spPr>
        <p:txBody>
          <a:bodyPr wrap="square" lIns="0" tIns="0" rIns="0" bIns="0" rtlCol="0" anchor="ctr"/>
          <a:lstStyle/>
          <a:p>
            <a:pPr marL="0" indent="0">
              <a:lnSpc>
                <a:spcPct val="120000"/>
              </a:lnSpc>
              <a:buNone/>
            </a:pPr>
            <a:r>
              <a:rPr lang="en-US" sz="1200" dirty="0">
                <a:solidFill>
                  <a:srgbClr val="A7ABB4"/>
                </a:solidFill>
                <a:latin typeface="Calibri" pitchFamily="34" charset="0"/>
                <a:ea typeface="Calibri" pitchFamily="34" charset="-122"/>
                <a:cs typeface="Calibri" pitchFamily="34" charset="-120"/>
              </a:rPr>
              <a:t>Dark Mode với nền #1F2025, thẻ #292B31, kết hợp bo góc (corner radius) tạo giao diện sang trọng, tập trung vào trải nghiệm bàn cờ.</a:t>
            </a:r>
            <a:endParaRPr lang="en-US" sz="1200" dirty="0"/>
          </a:p>
        </p:txBody>
      </p:sp>
      <p:sp>
        <p:nvSpPr>
          <p:cNvPr id="13" name="Shape 9"/>
          <p:cNvSpPr/>
          <p:nvPr/>
        </p:nvSpPr>
        <p:spPr>
          <a:xfrm>
            <a:off x="7040880" y="4160520"/>
            <a:ext cx="228600" cy="228600"/>
          </a:xfrm>
          <a:prstGeom prst="rect">
            <a:avLst/>
          </a:prstGeom>
          <a:solidFill>
            <a:srgbClr val="323540"/>
          </a:solidFill>
          <a:ln w="9525">
            <a:solidFill>
              <a:srgbClr val="1F2025"/>
            </a:solidFill>
            <a:prstDash val="solid"/>
          </a:ln>
        </p:spPr>
        <p:txBody>
          <a:bodyPr/>
          <a:lstStyle/>
          <a:p>
            <a:endParaRPr lang="en-US"/>
          </a:p>
        </p:txBody>
      </p:sp>
      <p:sp>
        <p:nvSpPr>
          <p:cNvPr id="14" name="Shape 10"/>
          <p:cNvSpPr/>
          <p:nvPr/>
        </p:nvSpPr>
        <p:spPr>
          <a:xfrm>
            <a:off x="7269480" y="4160520"/>
            <a:ext cx="228600" cy="228600"/>
          </a:xfrm>
          <a:prstGeom prst="rect">
            <a:avLst/>
          </a:prstGeom>
          <a:solidFill>
            <a:srgbClr val="3A3D48"/>
          </a:solidFill>
          <a:ln w="9525">
            <a:solidFill>
              <a:srgbClr val="1F2025"/>
            </a:solidFill>
            <a:prstDash val="solid"/>
          </a:ln>
        </p:spPr>
        <p:txBody>
          <a:bodyPr/>
          <a:lstStyle/>
          <a:p>
            <a:endParaRPr lang="en-US"/>
          </a:p>
        </p:txBody>
      </p:sp>
      <p:sp>
        <p:nvSpPr>
          <p:cNvPr id="15" name="Shape 11"/>
          <p:cNvSpPr/>
          <p:nvPr/>
        </p:nvSpPr>
        <p:spPr>
          <a:xfrm>
            <a:off x="7498080" y="4160520"/>
            <a:ext cx="228600" cy="228600"/>
          </a:xfrm>
          <a:prstGeom prst="rect">
            <a:avLst/>
          </a:prstGeom>
          <a:solidFill>
            <a:srgbClr val="323540"/>
          </a:solidFill>
          <a:ln w="9525">
            <a:solidFill>
              <a:srgbClr val="1F2025"/>
            </a:solidFill>
            <a:prstDash val="solid"/>
          </a:ln>
        </p:spPr>
        <p:txBody>
          <a:bodyPr/>
          <a:lstStyle/>
          <a:p>
            <a:endParaRPr lang="en-US"/>
          </a:p>
        </p:txBody>
      </p:sp>
      <p:sp>
        <p:nvSpPr>
          <p:cNvPr id="16" name="Shape 12"/>
          <p:cNvSpPr/>
          <p:nvPr/>
        </p:nvSpPr>
        <p:spPr>
          <a:xfrm>
            <a:off x="7726680" y="4160520"/>
            <a:ext cx="228600" cy="228600"/>
          </a:xfrm>
          <a:prstGeom prst="rect">
            <a:avLst/>
          </a:prstGeom>
          <a:solidFill>
            <a:srgbClr val="3A3D48"/>
          </a:solidFill>
          <a:ln w="9525">
            <a:solidFill>
              <a:srgbClr val="1F2025"/>
            </a:solidFill>
            <a:prstDash val="solid"/>
          </a:ln>
        </p:spPr>
        <p:txBody>
          <a:bodyPr/>
          <a:lstStyle/>
          <a:p>
            <a:endParaRPr lang="en-US"/>
          </a:p>
        </p:txBody>
      </p:sp>
      <p:sp>
        <p:nvSpPr>
          <p:cNvPr id="17" name="Shape 13"/>
          <p:cNvSpPr/>
          <p:nvPr/>
        </p:nvSpPr>
        <p:spPr>
          <a:xfrm>
            <a:off x="7040880" y="4389120"/>
            <a:ext cx="228600" cy="228600"/>
          </a:xfrm>
          <a:prstGeom prst="rect">
            <a:avLst/>
          </a:prstGeom>
          <a:solidFill>
            <a:srgbClr val="3A3D48"/>
          </a:solidFill>
          <a:ln w="9525">
            <a:solidFill>
              <a:srgbClr val="1F2025"/>
            </a:solidFill>
            <a:prstDash val="solid"/>
          </a:ln>
        </p:spPr>
        <p:txBody>
          <a:bodyPr/>
          <a:lstStyle/>
          <a:p>
            <a:endParaRPr lang="en-US"/>
          </a:p>
        </p:txBody>
      </p:sp>
      <p:sp>
        <p:nvSpPr>
          <p:cNvPr id="18" name="Shape 14"/>
          <p:cNvSpPr/>
          <p:nvPr/>
        </p:nvSpPr>
        <p:spPr>
          <a:xfrm>
            <a:off x="7269480" y="4389120"/>
            <a:ext cx="228600" cy="228600"/>
          </a:xfrm>
          <a:prstGeom prst="rect">
            <a:avLst/>
          </a:prstGeom>
          <a:solidFill>
            <a:srgbClr val="323540"/>
          </a:solidFill>
          <a:ln w="9525">
            <a:solidFill>
              <a:srgbClr val="1F2025"/>
            </a:solidFill>
            <a:prstDash val="solid"/>
          </a:ln>
        </p:spPr>
        <p:txBody>
          <a:bodyPr/>
          <a:lstStyle/>
          <a:p>
            <a:endParaRPr lang="en-US"/>
          </a:p>
        </p:txBody>
      </p:sp>
      <p:sp>
        <p:nvSpPr>
          <p:cNvPr id="19" name="Shape 15"/>
          <p:cNvSpPr/>
          <p:nvPr/>
        </p:nvSpPr>
        <p:spPr>
          <a:xfrm>
            <a:off x="7498080" y="4389120"/>
            <a:ext cx="228600" cy="228600"/>
          </a:xfrm>
          <a:prstGeom prst="rect">
            <a:avLst/>
          </a:prstGeom>
          <a:solidFill>
            <a:srgbClr val="3A3D48"/>
          </a:solidFill>
          <a:ln w="9525">
            <a:solidFill>
              <a:srgbClr val="1F2025"/>
            </a:solidFill>
            <a:prstDash val="solid"/>
          </a:ln>
        </p:spPr>
        <p:txBody>
          <a:bodyPr/>
          <a:lstStyle/>
          <a:p>
            <a:endParaRPr lang="en-US"/>
          </a:p>
        </p:txBody>
      </p:sp>
      <p:sp>
        <p:nvSpPr>
          <p:cNvPr id="20" name="Shape 16"/>
          <p:cNvSpPr/>
          <p:nvPr/>
        </p:nvSpPr>
        <p:spPr>
          <a:xfrm>
            <a:off x="7726680" y="4389120"/>
            <a:ext cx="228600" cy="228600"/>
          </a:xfrm>
          <a:prstGeom prst="rect">
            <a:avLst/>
          </a:prstGeom>
          <a:solidFill>
            <a:srgbClr val="323540"/>
          </a:solidFill>
          <a:ln w="9525">
            <a:solidFill>
              <a:srgbClr val="1F2025"/>
            </a:solidFill>
            <a:prstDash val="solid"/>
          </a:ln>
        </p:spPr>
        <p:txBody>
          <a:bodyPr/>
          <a:lstStyle/>
          <a:p>
            <a:endParaRPr lang="en-US"/>
          </a:p>
        </p:txBody>
      </p:sp>
      <p:sp>
        <p:nvSpPr>
          <p:cNvPr id="21" name="Shape 17"/>
          <p:cNvSpPr/>
          <p:nvPr/>
        </p:nvSpPr>
        <p:spPr>
          <a:xfrm>
            <a:off x="7040880" y="4617720"/>
            <a:ext cx="228600" cy="228600"/>
          </a:xfrm>
          <a:prstGeom prst="rect">
            <a:avLst/>
          </a:prstGeom>
          <a:solidFill>
            <a:srgbClr val="323540"/>
          </a:solidFill>
          <a:ln w="9525">
            <a:solidFill>
              <a:srgbClr val="1F2025"/>
            </a:solidFill>
            <a:prstDash val="solid"/>
          </a:ln>
        </p:spPr>
        <p:txBody>
          <a:bodyPr/>
          <a:lstStyle/>
          <a:p>
            <a:endParaRPr lang="en-US"/>
          </a:p>
        </p:txBody>
      </p:sp>
      <p:sp>
        <p:nvSpPr>
          <p:cNvPr id="22" name="Shape 18"/>
          <p:cNvSpPr/>
          <p:nvPr/>
        </p:nvSpPr>
        <p:spPr>
          <a:xfrm>
            <a:off x="7269480" y="4617720"/>
            <a:ext cx="228600" cy="228600"/>
          </a:xfrm>
          <a:prstGeom prst="rect">
            <a:avLst/>
          </a:prstGeom>
          <a:solidFill>
            <a:srgbClr val="3A3D48"/>
          </a:solidFill>
          <a:ln w="9525">
            <a:solidFill>
              <a:srgbClr val="1F2025"/>
            </a:solidFill>
            <a:prstDash val="solid"/>
          </a:ln>
        </p:spPr>
        <p:txBody>
          <a:bodyPr/>
          <a:lstStyle/>
          <a:p>
            <a:endParaRPr lang="en-US"/>
          </a:p>
        </p:txBody>
      </p:sp>
      <p:sp>
        <p:nvSpPr>
          <p:cNvPr id="23" name="Shape 19"/>
          <p:cNvSpPr/>
          <p:nvPr/>
        </p:nvSpPr>
        <p:spPr>
          <a:xfrm>
            <a:off x="7498080" y="4617720"/>
            <a:ext cx="228600" cy="228600"/>
          </a:xfrm>
          <a:prstGeom prst="rect">
            <a:avLst/>
          </a:prstGeom>
          <a:solidFill>
            <a:srgbClr val="323540"/>
          </a:solidFill>
          <a:ln w="9525">
            <a:solidFill>
              <a:srgbClr val="1F2025"/>
            </a:solidFill>
            <a:prstDash val="solid"/>
          </a:ln>
        </p:spPr>
        <p:txBody>
          <a:bodyPr/>
          <a:lstStyle/>
          <a:p>
            <a:endParaRPr lang="en-US"/>
          </a:p>
        </p:txBody>
      </p:sp>
      <p:sp>
        <p:nvSpPr>
          <p:cNvPr id="24" name="Shape 20"/>
          <p:cNvSpPr/>
          <p:nvPr/>
        </p:nvSpPr>
        <p:spPr>
          <a:xfrm>
            <a:off x="7726680" y="4617720"/>
            <a:ext cx="228600" cy="228600"/>
          </a:xfrm>
          <a:prstGeom prst="rect">
            <a:avLst/>
          </a:prstGeom>
          <a:solidFill>
            <a:srgbClr val="3A3D48"/>
          </a:solidFill>
          <a:ln w="9525">
            <a:solidFill>
              <a:srgbClr val="1F2025"/>
            </a:solidFill>
            <a:prstDash val="solid"/>
          </a:ln>
        </p:spPr>
        <p:txBody>
          <a:bodyPr/>
          <a:lstStyle/>
          <a:p>
            <a:endParaRPr lang="en-US"/>
          </a:p>
        </p:txBody>
      </p:sp>
      <p:sp>
        <p:nvSpPr>
          <p:cNvPr id="25" name="Shape 21"/>
          <p:cNvSpPr/>
          <p:nvPr/>
        </p:nvSpPr>
        <p:spPr>
          <a:xfrm>
            <a:off x="7040880" y="4846320"/>
            <a:ext cx="228600" cy="228600"/>
          </a:xfrm>
          <a:prstGeom prst="rect">
            <a:avLst/>
          </a:prstGeom>
          <a:solidFill>
            <a:srgbClr val="3A3D48"/>
          </a:solidFill>
          <a:ln w="9525">
            <a:solidFill>
              <a:srgbClr val="1F2025"/>
            </a:solidFill>
            <a:prstDash val="solid"/>
          </a:ln>
        </p:spPr>
        <p:txBody>
          <a:bodyPr/>
          <a:lstStyle/>
          <a:p>
            <a:endParaRPr lang="en-US"/>
          </a:p>
        </p:txBody>
      </p:sp>
      <p:sp>
        <p:nvSpPr>
          <p:cNvPr id="26" name="Shape 22"/>
          <p:cNvSpPr/>
          <p:nvPr/>
        </p:nvSpPr>
        <p:spPr>
          <a:xfrm>
            <a:off x="7269480" y="4846320"/>
            <a:ext cx="228600" cy="228600"/>
          </a:xfrm>
          <a:prstGeom prst="rect">
            <a:avLst/>
          </a:prstGeom>
          <a:solidFill>
            <a:srgbClr val="323540"/>
          </a:solidFill>
          <a:ln w="9525">
            <a:solidFill>
              <a:srgbClr val="1F2025"/>
            </a:solidFill>
            <a:prstDash val="solid"/>
          </a:ln>
        </p:spPr>
        <p:txBody>
          <a:bodyPr/>
          <a:lstStyle/>
          <a:p>
            <a:endParaRPr lang="en-US"/>
          </a:p>
        </p:txBody>
      </p:sp>
      <p:sp>
        <p:nvSpPr>
          <p:cNvPr id="27" name="Shape 23"/>
          <p:cNvSpPr/>
          <p:nvPr/>
        </p:nvSpPr>
        <p:spPr>
          <a:xfrm>
            <a:off x="7498080" y="4846320"/>
            <a:ext cx="228600" cy="228600"/>
          </a:xfrm>
          <a:prstGeom prst="rect">
            <a:avLst/>
          </a:prstGeom>
          <a:solidFill>
            <a:srgbClr val="3A3D48"/>
          </a:solidFill>
          <a:ln w="9525">
            <a:solidFill>
              <a:srgbClr val="1F2025"/>
            </a:solidFill>
            <a:prstDash val="solid"/>
          </a:ln>
        </p:spPr>
        <p:txBody>
          <a:bodyPr/>
          <a:lstStyle/>
          <a:p>
            <a:endParaRPr lang="en-US"/>
          </a:p>
        </p:txBody>
      </p:sp>
      <p:sp>
        <p:nvSpPr>
          <p:cNvPr id="28" name="Shape 24"/>
          <p:cNvSpPr/>
          <p:nvPr/>
        </p:nvSpPr>
        <p:spPr>
          <a:xfrm>
            <a:off x="7726680" y="4846320"/>
            <a:ext cx="228600" cy="228600"/>
          </a:xfrm>
          <a:prstGeom prst="rect">
            <a:avLst/>
          </a:prstGeom>
          <a:solidFill>
            <a:srgbClr val="323540"/>
          </a:solidFill>
          <a:ln w="9525">
            <a:solidFill>
              <a:srgbClr val="1F2025"/>
            </a:solidFill>
            <a:prstDash val="solid"/>
          </a:ln>
        </p:spPr>
        <p:txBody>
          <a:bodyPr/>
          <a:lstStyle/>
          <a:p>
            <a:endParaRPr lang="en-US"/>
          </a:p>
        </p:txBody>
      </p:sp>
      <p:sp>
        <p:nvSpPr>
          <p:cNvPr id="29" name="Shape 25"/>
          <p:cNvSpPr/>
          <p:nvPr/>
        </p:nvSpPr>
        <p:spPr>
          <a:xfrm>
            <a:off x="8321040" y="3794760"/>
            <a:ext cx="320040" cy="320040"/>
          </a:xfrm>
          <a:prstGeom prst="rect">
            <a:avLst/>
          </a:prstGeom>
          <a:solidFill>
            <a:srgbClr val="323540"/>
          </a:solidFill>
          <a:ln w="9525">
            <a:solidFill>
              <a:srgbClr val="1F2025"/>
            </a:solidFill>
            <a:prstDash val="solid"/>
          </a:ln>
        </p:spPr>
        <p:txBody>
          <a:bodyPr/>
          <a:lstStyle/>
          <a:p>
            <a:endParaRPr lang="en-US"/>
          </a:p>
        </p:txBody>
      </p:sp>
      <p:sp>
        <p:nvSpPr>
          <p:cNvPr id="30" name="Shape 26"/>
          <p:cNvSpPr/>
          <p:nvPr/>
        </p:nvSpPr>
        <p:spPr>
          <a:xfrm>
            <a:off x="8641080" y="3794760"/>
            <a:ext cx="320040" cy="320040"/>
          </a:xfrm>
          <a:prstGeom prst="rect">
            <a:avLst/>
          </a:prstGeom>
          <a:solidFill>
            <a:srgbClr val="3A3D48"/>
          </a:solidFill>
          <a:ln w="9525">
            <a:solidFill>
              <a:srgbClr val="1F2025"/>
            </a:solidFill>
            <a:prstDash val="solid"/>
          </a:ln>
        </p:spPr>
        <p:txBody>
          <a:bodyPr/>
          <a:lstStyle/>
          <a:p>
            <a:endParaRPr lang="en-US"/>
          </a:p>
        </p:txBody>
      </p:sp>
      <p:sp>
        <p:nvSpPr>
          <p:cNvPr id="31" name="Shape 27"/>
          <p:cNvSpPr/>
          <p:nvPr/>
        </p:nvSpPr>
        <p:spPr>
          <a:xfrm>
            <a:off x="8961120" y="3794760"/>
            <a:ext cx="320040" cy="320040"/>
          </a:xfrm>
          <a:prstGeom prst="rect">
            <a:avLst/>
          </a:prstGeom>
          <a:solidFill>
            <a:srgbClr val="323540"/>
          </a:solidFill>
          <a:ln w="9525">
            <a:solidFill>
              <a:srgbClr val="1F2025"/>
            </a:solidFill>
            <a:prstDash val="solid"/>
          </a:ln>
        </p:spPr>
        <p:txBody>
          <a:bodyPr/>
          <a:lstStyle/>
          <a:p>
            <a:endParaRPr lang="en-US"/>
          </a:p>
        </p:txBody>
      </p:sp>
      <p:sp>
        <p:nvSpPr>
          <p:cNvPr id="32" name="Shape 28"/>
          <p:cNvSpPr/>
          <p:nvPr/>
        </p:nvSpPr>
        <p:spPr>
          <a:xfrm>
            <a:off x="9281160" y="3794760"/>
            <a:ext cx="320040" cy="320040"/>
          </a:xfrm>
          <a:prstGeom prst="rect">
            <a:avLst/>
          </a:prstGeom>
          <a:solidFill>
            <a:srgbClr val="3A3D48"/>
          </a:solidFill>
          <a:ln w="9525">
            <a:solidFill>
              <a:srgbClr val="1F2025"/>
            </a:solidFill>
            <a:prstDash val="solid"/>
          </a:ln>
        </p:spPr>
        <p:txBody>
          <a:bodyPr/>
          <a:lstStyle/>
          <a:p>
            <a:endParaRPr lang="en-US"/>
          </a:p>
        </p:txBody>
      </p:sp>
      <p:sp>
        <p:nvSpPr>
          <p:cNvPr id="33" name="Shape 29"/>
          <p:cNvSpPr/>
          <p:nvPr/>
        </p:nvSpPr>
        <p:spPr>
          <a:xfrm>
            <a:off x="8321040" y="4114800"/>
            <a:ext cx="320040" cy="320040"/>
          </a:xfrm>
          <a:prstGeom prst="rect">
            <a:avLst/>
          </a:prstGeom>
          <a:solidFill>
            <a:srgbClr val="3A3D48"/>
          </a:solidFill>
          <a:ln w="9525">
            <a:solidFill>
              <a:srgbClr val="1F2025"/>
            </a:solidFill>
            <a:prstDash val="solid"/>
          </a:ln>
        </p:spPr>
        <p:txBody>
          <a:bodyPr/>
          <a:lstStyle/>
          <a:p>
            <a:endParaRPr lang="en-US"/>
          </a:p>
        </p:txBody>
      </p:sp>
      <p:sp>
        <p:nvSpPr>
          <p:cNvPr id="34" name="Shape 30"/>
          <p:cNvSpPr/>
          <p:nvPr/>
        </p:nvSpPr>
        <p:spPr>
          <a:xfrm>
            <a:off x="8641080" y="4114800"/>
            <a:ext cx="320040" cy="320040"/>
          </a:xfrm>
          <a:prstGeom prst="rect">
            <a:avLst/>
          </a:prstGeom>
          <a:solidFill>
            <a:srgbClr val="323540"/>
          </a:solidFill>
          <a:ln w="9525">
            <a:solidFill>
              <a:srgbClr val="1F2025"/>
            </a:solidFill>
            <a:prstDash val="solid"/>
          </a:ln>
        </p:spPr>
        <p:txBody>
          <a:bodyPr/>
          <a:lstStyle/>
          <a:p>
            <a:endParaRPr lang="en-US"/>
          </a:p>
        </p:txBody>
      </p:sp>
      <p:sp>
        <p:nvSpPr>
          <p:cNvPr id="35" name="Shape 31"/>
          <p:cNvSpPr/>
          <p:nvPr/>
        </p:nvSpPr>
        <p:spPr>
          <a:xfrm>
            <a:off x="8961120" y="4114800"/>
            <a:ext cx="320040" cy="320040"/>
          </a:xfrm>
          <a:prstGeom prst="rect">
            <a:avLst/>
          </a:prstGeom>
          <a:solidFill>
            <a:srgbClr val="3A3D48"/>
          </a:solidFill>
          <a:ln w="9525">
            <a:solidFill>
              <a:srgbClr val="1F2025"/>
            </a:solidFill>
            <a:prstDash val="solid"/>
          </a:ln>
        </p:spPr>
        <p:txBody>
          <a:bodyPr/>
          <a:lstStyle/>
          <a:p>
            <a:endParaRPr lang="en-US"/>
          </a:p>
        </p:txBody>
      </p:sp>
      <p:sp>
        <p:nvSpPr>
          <p:cNvPr id="36" name="Shape 32"/>
          <p:cNvSpPr/>
          <p:nvPr/>
        </p:nvSpPr>
        <p:spPr>
          <a:xfrm>
            <a:off x="9281160" y="4114800"/>
            <a:ext cx="320040" cy="320040"/>
          </a:xfrm>
          <a:prstGeom prst="rect">
            <a:avLst/>
          </a:prstGeom>
          <a:solidFill>
            <a:srgbClr val="323540"/>
          </a:solidFill>
          <a:ln w="9525">
            <a:solidFill>
              <a:srgbClr val="1F2025"/>
            </a:solidFill>
            <a:prstDash val="solid"/>
          </a:ln>
        </p:spPr>
        <p:txBody>
          <a:bodyPr/>
          <a:lstStyle/>
          <a:p>
            <a:endParaRPr lang="en-US"/>
          </a:p>
        </p:txBody>
      </p:sp>
      <p:sp>
        <p:nvSpPr>
          <p:cNvPr id="37" name="Shape 33"/>
          <p:cNvSpPr/>
          <p:nvPr/>
        </p:nvSpPr>
        <p:spPr>
          <a:xfrm>
            <a:off x="8321040" y="4434840"/>
            <a:ext cx="320040" cy="320040"/>
          </a:xfrm>
          <a:prstGeom prst="rect">
            <a:avLst/>
          </a:prstGeom>
          <a:solidFill>
            <a:srgbClr val="323540"/>
          </a:solidFill>
          <a:ln w="9525">
            <a:solidFill>
              <a:srgbClr val="1F2025"/>
            </a:solidFill>
            <a:prstDash val="solid"/>
          </a:ln>
        </p:spPr>
        <p:txBody>
          <a:bodyPr/>
          <a:lstStyle/>
          <a:p>
            <a:endParaRPr lang="en-US"/>
          </a:p>
        </p:txBody>
      </p:sp>
      <p:sp>
        <p:nvSpPr>
          <p:cNvPr id="38" name="Shape 34"/>
          <p:cNvSpPr/>
          <p:nvPr/>
        </p:nvSpPr>
        <p:spPr>
          <a:xfrm>
            <a:off x="8641080" y="4434840"/>
            <a:ext cx="320040" cy="320040"/>
          </a:xfrm>
          <a:prstGeom prst="rect">
            <a:avLst/>
          </a:prstGeom>
          <a:solidFill>
            <a:srgbClr val="3A3D48"/>
          </a:solidFill>
          <a:ln w="9525">
            <a:solidFill>
              <a:srgbClr val="1F2025"/>
            </a:solidFill>
            <a:prstDash val="solid"/>
          </a:ln>
        </p:spPr>
        <p:txBody>
          <a:bodyPr/>
          <a:lstStyle/>
          <a:p>
            <a:endParaRPr lang="en-US"/>
          </a:p>
        </p:txBody>
      </p:sp>
      <p:sp>
        <p:nvSpPr>
          <p:cNvPr id="39" name="Shape 35"/>
          <p:cNvSpPr/>
          <p:nvPr/>
        </p:nvSpPr>
        <p:spPr>
          <a:xfrm>
            <a:off x="8961120" y="4434840"/>
            <a:ext cx="320040" cy="320040"/>
          </a:xfrm>
          <a:prstGeom prst="rect">
            <a:avLst/>
          </a:prstGeom>
          <a:solidFill>
            <a:srgbClr val="323540"/>
          </a:solidFill>
          <a:ln w="9525">
            <a:solidFill>
              <a:srgbClr val="1F2025"/>
            </a:solidFill>
            <a:prstDash val="solid"/>
          </a:ln>
        </p:spPr>
        <p:txBody>
          <a:bodyPr/>
          <a:lstStyle/>
          <a:p>
            <a:endParaRPr lang="en-US"/>
          </a:p>
        </p:txBody>
      </p:sp>
      <p:sp>
        <p:nvSpPr>
          <p:cNvPr id="40" name="Shape 36"/>
          <p:cNvSpPr/>
          <p:nvPr/>
        </p:nvSpPr>
        <p:spPr>
          <a:xfrm>
            <a:off x="9281160" y="4434840"/>
            <a:ext cx="320040" cy="320040"/>
          </a:xfrm>
          <a:prstGeom prst="rect">
            <a:avLst/>
          </a:prstGeom>
          <a:solidFill>
            <a:srgbClr val="3A3D48"/>
          </a:solidFill>
          <a:ln w="9525">
            <a:solidFill>
              <a:srgbClr val="1F2025"/>
            </a:solidFill>
            <a:prstDash val="solid"/>
          </a:ln>
        </p:spPr>
        <p:txBody>
          <a:bodyPr/>
          <a:lstStyle/>
          <a:p>
            <a:endParaRPr lang="en-US"/>
          </a:p>
        </p:txBody>
      </p:sp>
      <p:sp>
        <p:nvSpPr>
          <p:cNvPr id="41" name="Shape 37"/>
          <p:cNvSpPr/>
          <p:nvPr/>
        </p:nvSpPr>
        <p:spPr>
          <a:xfrm>
            <a:off x="8321040" y="4754880"/>
            <a:ext cx="320040" cy="320040"/>
          </a:xfrm>
          <a:prstGeom prst="rect">
            <a:avLst/>
          </a:prstGeom>
          <a:solidFill>
            <a:srgbClr val="3A3D48"/>
          </a:solidFill>
          <a:ln w="9525">
            <a:solidFill>
              <a:srgbClr val="1F2025"/>
            </a:solidFill>
            <a:prstDash val="solid"/>
          </a:ln>
        </p:spPr>
        <p:txBody>
          <a:bodyPr/>
          <a:lstStyle/>
          <a:p>
            <a:endParaRPr lang="en-US"/>
          </a:p>
        </p:txBody>
      </p:sp>
      <p:sp>
        <p:nvSpPr>
          <p:cNvPr id="42" name="Shape 38"/>
          <p:cNvSpPr/>
          <p:nvPr/>
        </p:nvSpPr>
        <p:spPr>
          <a:xfrm>
            <a:off x="8641080" y="4754880"/>
            <a:ext cx="320040" cy="320040"/>
          </a:xfrm>
          <a:prstGeom prst="rect">
            <a:avLst/>
          </a:prstGeom>
          <a:solidFill>
            <a:srgbClr val="323540"/>
          </a:solidFill>
          <a:ln w="9525">
            <a:solidFill>
              <a:srgbClr val="1F2025"/>
            </a:solidFill>
            <a:prstDash val="solid"/>
          </a:ln>
        </p:spPr>
        <p:txBody>
          <a:bodyPr/>
          <a:lstStyle/>
          <a:p>
            <a:endParaRPr lang="en-US"/>
          </a:p>
        </p:txBody>
      </p:sp>
      <p:sp>
        <p:nvSpPr>
          <p:cNvPr id="43" name="Shape 39"/>
          <p:cNvSpPr/>
          <p:nvPr/>
        </p:nvSpPr>
        <p:spPr>
          <a:xfrm>
            <a:off x="8961120" y="4754880"/>
            <a:ext cx="320040" cy="320040"/>
          </a:xfrm>
          <a:prstGeom prst="rect">
            <a:avLst/>
          </a:prstGeom>
          <a:solidFill>
            <a:srgbClr val="3A3D48"/>
          </a:solidFill>
          <a:ln w="9525">
            <a:solidFill>
              <a:srgbClr val="1F2025"/>
            </a:solidFill>
            <a:prstDash val="solid"/>
          </a:ln>
        </p:spPr>
        <p:txBody>
          <a:bodyPr/>
          <a:lstStyle/>
          <a:p>
            <a:endParaRPr lang="en-US"/>
          </a:p>
        </p:txBody>
      </p:sp>
      <p:sp>
        <p:nvSpPr>
          <p:cNvPr id="44" name="Shape 40"/>
          <p:cNvSpPr/>
          <p:nvPr/>
        </p:nvSpPr>
        <p:spPr>
          <a:xfrm>
            <a:off x="9281160" y="4754880"/>
            <a:ext cx="320040" cy="320040"/>
          </a:xfrm>
          <a:prstGeom prst="rect">
            <a:avLst/>
          </a:prstGeom>
          <a:solidFill>
            <a:srgbClr val="323540"/>
          </a:solidFill>
          <a:ln w="9525">
            <a:solidFill>
              <a:srgbClr val="1F2025"/>
            </a:solidFill>
            <a:prstDash val="solid"/>
          </a:ln>
        </p:spPr>
        <p:txBody>
          <a:bodyPr/>
          <a:lstStyle/>
          <a:p>
            <a:endParaRPr lang="en-US"/>
          </a:p>
        </p:txBody>
      </p:sp>
      <p:sp>
        <p:nvSpPr>
          <p:cNvPr id="45" name="Shape 41"/>
          <p:cNvSpPr/>
          <p:nvPr/>
        </p:nvSpPr>
        <p:spPr>
          <a:xfrm>
            <a:off x="9966960" y="3383280"/>
            <a:ext cx="422910" cy="422910"/>
          </a:xfrm>
          <a:prstGeom prst="rect">
            <a:avLst/>
          </a:prstGeom>
          <a:solidFill>
            <a:srgbClr val="323540"/>
          </a:solidFill>
          <a:ln w="9525">
            <a:solidFill>
              <a:srgbClr val="1F2025"/>
            </a:solidFill>
            <a:prstDash val="solid"/>
          </a:ln>
        </p:spPr>
        <p:txBody>
          <a:bodyPr/>
          <a:lstStyle/>
          <a:p>
            <a:endParaRPr lang="en-US"/>
          </a:p>
        </p:txBody>
      </p:sp>
      <p:sp>
        <p:nvSpPr>
          <p:cNvPr id="46" name="Shape 42"/>
          <p:cNvSpPr/>
          <p:nvPr/>
        </p:nvSpPr>
        <p:spPr>
          <a:xfrm>
            <a:off x="10389870" y="3383280"/>
            <a:ext cx="422910" cy="422910"/>
          </a:xfrm>
          <a:prstGeom prst="rect">
            <a:avLst/>
          </a:prstGeom>
          <a:solidFill>
            <a:srgbClr val="3A3D48"/>
          </a:solidFill>
          <a:ln w="9525">
            <a:solidFill>
              <a:srgbClr val="1F2025"/>
            </a:solidFill>
            <a:prstDash val="solid"/>
          </a:ln>
        </p:spPr>
        <p:txBody>
          <a:bodyPr/>
          <a:lstStyle/>
          <a:p>
            <a:endParaRPr lang="en-US"/>
          </a:p>
        </p:txBody>
      </p:sp>
      <p:sp>
        <p:nvSpPr>
          <p:cNvPr id="47" name="Shape 43"/>
          <p:cNvSpPr/>
          <p:nvPr/>
        </p:nvSpPr>
        <p:spPr>
          <a:xfrm>
            <a:off x="10812780" y="3383280"/>
            <a:ext cx="422910" cy="422910"/>
          </a:xfrm>
          <a:prstGeom prst="rect">
            <a:avLst/>
          </a:prstGeom>
          <a:solidFill>
            <a:srgbClr val="323540"/>
          </a:solidFill>
          <a:ln w="9525">
            <a:solidFill>
              <a:srgbClr val="1F2025"/>
            </a:solidFill>
            <a:prstDash val="solid"/>
          </a:ln>
        </p:spPr>
        <p:txBody>
          <a:bodyPr/>
          <a:lstStyle/>
          <a:p>
            <a:endParaRPr lang="en-US"/>
          </a:p>
        </p:txBody>
      </p:sp>
      <p:sp>
        <p:nvSpPr>
          <p:cNvPr id="48" name="Shape 44"/>
          <p:cNvSpPr/>
          <p:nvPr/>
        </p:nvSpPr>
        <p:spPr>
          <a:xfrm>
            <a:off x="11235690" y="3383280"/>
            <a:ext cx="422910" cy="422910"/>
          </a:xfrm>
          <a:prstGeom prst="rect">
            <a:avLst/>
          </a:prstGeom>
          <a:solidFill>
            <a:srgbClr val="3A3D48"/>
          </a:solidFill>
          <a:ln w="9525">
            <a:solidFill>
              <a:srgbClr val="1F2025"/>
            </a:solidFill>
            <a:prstDash val="solid"/>
          </a:ln>
        </p:spPr>
        <p:txBody>
          <a:bodyPr/>
          <a:lstStyle/>
          <a:p>
            <a:endParaRPr lang="en-US"/>
          </a:p>
        </p:txBody>
      </p:sp>
      <p:sp>
        <p:nvSpPr>
          <p:cNvPr id="49" name="Shape 45"/>
          <p:cNvSpPr/>
          <p:nvPr/>
        </p:nvSpPr>
        <p:spPr>
          <a:xfrm>
            <a:off x="9966960" y="3806190"/>
            <a:ext cx="422910" cy="422910"/>
          </a:xfrm>
          <a:prstGeom prst="rect">
            <a:avLst/>
          </a:prstGeom>
          <a:solidFill>
            <a:srgbClr val="3A3D48"/>
          </a:solidFill>
          <a:ln w="9525">
            <a:solidFill>
              <a:srgbClr val="1F2025"/>
            </a:solidFill>
            <a:prstDash val="solid"/>
          </a:ln>
        </p:spPr>
        <p:txBody>
          <a:bodyPr/>
          <a:lstStyle/>
          <a:p>
            <a:endParaRPr lang="en-US"/>
          </a:p>
        </p:txBody>
      </p:sp>
      <p:sp>
        <p:nvSpPr>
          <p:cNvPr id="50" name="Shape 46"/>
          <p:cNvSpPr/>
          <p:nvPr/>
        </p:nvSpPr>
        <p:spPr>
          <a:xfrm>
            <a:off x="10389870" y="3806190"/>
            <a:ext cx="422910" cy="422910"/>
          </a:xfrm>
          <a:prstGeom prst="rect">
            <a:avLst/>
          </a:prstGeom>
          <a:solidFill>
            <a:srgbClr val="323540"/>
          </a:solidFill>
          <a:ln w="9525">
            <a:solidFill>
              <a:srgbClr val="1F2025"/>
            </a:solidFill>
            <a:prstDash val="solid"/>
          </a:ln>
        </p:spPr>
        <p:txBody>
          <a:bodyPr/>
          <a:lstStyle/>
          <a:p>
            <a:endParaRPr lang="en-US"/>
          </a:p>
        </p:txBody>
      </p:sp>
      <p:sp>
        <p:nvSpPr>
          <p:cNvPr id="51" name="Shape 47"/>
          <p:cNvSpPr/>
          <p:nvPr/>
        </p:nvSpPr>
        <p:spPr>
          <a:xfrm>
            <a:off x="10812780" y="3806190"/>
            <a:ext cx="422910" cy="422910"/>
          </a:xfrm>
          <a:prstGeom prst="rect">
            <a:avLst/>
          </a:prstGeom>
          <a:solidFill>
            <a:srgbClr val="3A3D48"/>
          </a:solidFill>
          <a:ln w="9525">
            <a:solidFill>
              <a:srgbClr val="1F2025"/>
            </a:solidFill>
            <a:prstDash val="solid"/>
          </a:ln>
        </p:spPr>
        <p:txBody>
          <a:bodyPr/>
          <a:lstStyle/>
          <a:p>
            <a:endParaRPr lang="en-US"/>
          </a:p>
        </p:txBody>
      </p:sp>
      <p:sp>
        <p:nvSpPr>
          <p:cNvPr id="52" name="Shape 48"/>
          <p:cNvSpPr/>
          <p:nvPr/>
        </p:nvSpPr>
        <p:spPr>
          <a:xfrm>
            <a:off x="11235690" y="3806190"/>
            <a:ext cx="422910" cy="422910"/>
          </a:xfrm>
          <a:prstGeom prst="rect">
            <a:avLst/>
          </a:prstGeom>
          <a:solidFill>
            <a:srgbClr val="323540"/>
          </a:solidFill>
          <a:ln w="9525">
            <a:solidFill>
              <a:srgbClr val="1F2025"/>
            </a:solidFill>
            <a:prstDash val="solid"/>
          </a:ln>
        </p:spPr>
        <p:txBody>
          <a:bodyPr/>
          <a:lstStyle/>
          <a:p>
            <a:endParaRPr lang="en-US"/>
          </a:p>
        </p:txBody>
      </p:sp>
      <p:sp>
        <p:nvSpPr>
          <p:cNvPr id="53" name="Shape 49"/>
          <p:cNvSpPr/>
          <p:nvPr/>
        </p:nvSpPr>
        <p:spPr>
          <a:xfrm>
            <a:off x="9966960" y="4229100"/>
            <a:ext cx="422910" cy="422910"/>
          </a:xfrm>
          <a:prstGeom prst="rect">
            <a:avLst/>
          </a:prstGeom>
          <a:solidFill>
            <a:srgbClr val="323540"/>
          </a:solidFill>
          <a:ln w="9525">
            <a:solidFill>
              <a:srgbClr val="1F2025"/>
            </a:solidFill>
            <a:prstDash val="solid"/>
          </a:ln>
        </p:spPr>
        <p:txBody>
          <a:bodyPr/>
          <a:lstStyle/>
          <a:p>
            <a:endParaRPr lang="en-US"/>
          </a:p>
        </p:txBody>
      </p:sp>
      <p:sp>
        <p:nvSpPr>
          <p:cNvPr id="54" name="Shape 50"/>
          <p:cNvSpPr/>
          <p:nvPr/>
        </p:nvSpPr>
        <p:spPr>
          <a:xfrm>
            <a:off x="10389870" y="4229100"/>
            <a:ext cx="422910" cy="422910"/>
          </a:xfrm>
          <a:prstGeom prst="rect">
            <a:avLst/>
          </a:prstGeom>
          <a:solidFill>
            <a:srgbClr val="3A3D48"/>
          </a:solidFill>
          <a:ln w="9525">
            <a:solidFill>
              <a:srgbClr val="1F2025"/>
            </a:solidFill>
            <a:prstDash val="solid"/>
          </a:ln>
        </p:spPr>
        <p:txBody>
          <a:bodyPr/>
          <a:lstStyle/>
          <a:p>
            <a:endParaRPr lang="en-US"/>
          </a:p>
        </p:txBody>
      </p:sp>
      <p:sp>
        <p:nvSpPr>
          <p:cNvPr id="55" name="Shape 51"/>
          <p:cNvSpPr/>
          <p:nvPr/>
        </p:nvSpPr>
        <p:spPr>
          <a:xfrm>
            <a:off x="10812780" y="4229100"/>
            <a:ext cx="422910" cy="422910"/>
          </a:xfrm>
          <a:prstGeom prst="rect">
            <a:avLst/>
          </a:prstGeom>
          <a:solidFill>
            <a:srgbClr val="323540"/>
          </a:solidFill>
          <a:ln w="9525">
            <a:solidFill>
              <a:srgbClr val="1F2025"/>
            </a:solidFill>
            <a:prstDash val="solid"/>
          </a:ln>
        </p:spPr>
        <p:txBody>
          <a:bodyPr/>
          <a:lstStyle/>
          <a:p>
            <a:endParaRPr lang="en-US"/>
          </a:p>
        </p:txBody>
      </p:sp>
      <p:sp>
        <p:nvSpPr>
          <p:cNvPr id="56" name="Shape 52"/>
          <p:cNvSpPr/>
          <p:nvPr/>
        </p:nvSpPr>
        <p:spPr>
          <a:xfrm>
            <a:off x="11235690" y="4229100"/>
            <a:ext cx="422910" cy="422910"/>
          </a:xfrm>
          <a:prstGeom prst="rect">
            <a:avLst/>
          </a:prstGeom>
          <a:solidFill>
            <a:srgbClr val="3A3D48"/>
          </a:solidFill>
          <a:ln w="9525">
            <a:solidFill>
              <a:srgbClr val="1F2025"/>
            </a:solidFill>
            <a:prstDash val="solid"/>
          </a:ln>
        </p:spPr>
        <p:txBody>
          <a:bodyPr/>
          <a:lstStyle/>
          <a:p>
            <a:endParaRPr lang="en-US"/>
          </a:p>
        </p:txBody>
      </p:sp>
      <p:sp>
        <p:nvSpPr>
          <p:cNvPr id="57" name="Shape 53"/>
          <p:cNvSpPr/>
          <p:nvPr/>
        </p:nvSpPr>
        <p:spPr>
          <a:xfrm>
            <a:off x="9966960" y="4652010"/>
            <a:ext cx="422910" cy="422910"/>
          </a:xfrm>
          <a:prstGeom prst="rect">
            <a:avLst/>
          </a:prstGeom>
          <a:solidFill>
            <a:srgbClr val="3A3D48"/>
          </a:solidFill>
          <a:ln w="9525">
            <a:solidFill>
              <a:srgbClr val="1F2025"/>
            </a:solidFill>
            <a:prstDash val="solid"/>
          </a:ln>
        </p:spPr>
        <p:txBody>
          <a:bodyPr/>
          <a:lstStyle/>
          <a:p>
            <a:endParaRPr lang="en-US"/>
          </a:p>
        </p:txBody>
      </p:sp>
      <p:sp>
        <p:nvSpPr>
          <p:cNvPr id="58" name="Shape 54"/>
          <p:cNvSpPr/>
          <p:nvPr/>
        </p:nvSpPr>
        <p:spPr>
          <a:xfrm>
            <a:off x="10389870" y="4652010"/>
            <a:ext cx="422910" cy="422910"/>
          </a:xfrm>
          <a:prstGeom prst="rect">
            <a:avLst/>
          </a:prstGeom>
          <a:solidFill>
            <a:srgbClr val="323540"/>
          </a:solidFill>
          <a:ln w="9525">
            <a:solidFill>
              <a:srgbClr val="1F2025"/>
            </a:solidFill>
            <a:prstDash val="solid"/>
          </a:ln>
        </p:spPr>
        <p:txBody>
          <a:bodyPr/>
          <a:lstStyle/>
          <a:p>
            <a:endParaRPr lang="en-US"/>
          </a:p>
        </p:txBody>
      </p:sp>
      <p:sp>
        <p:nvSpPr>
          <p:cNvPr id="59" name="Shape 55"/>
          <p:cNvSpPr/>
          <p:nvPr/>
        </p:nvSpPr>
        <p:spPr>
          <a:xfrm>
            <a:off x="10812780" y="4652010"/>
            <a:ext cx="422910" cy="422910"/>
          </a:xfrm>
          <a:prstGeom prst="rect">
            <a:avLst/>
          </a:prstGeom>
          <a:solidFill>
            <a:srgbClr val="3A3D48"/>
          </a:solidFill>
          <a:ln w="9525">
            <a:solidFill>
              <a:srgbClr val="1F2025"/>
            </a:solidFill>
            <a:prstDash val="solid"/>
          </a:ln>
        </p:spPr>
        <p:txBody>
          <a:bodyPr/>
          <a:lstStyle/>
          <a:p>
            <a:endParaRPr lang="en-US"/>
          </a:p>
        </p:txBody>
      </p:sp>
      <p:sp>
        <p:nvSpPr>
          <p:cNvPr id="60" name="Shape 56"/>
          <p:cNvSpPr/>
          <p:nvPr/>
        </p:nvSpPr>
        <p:spPr>
          <a:xfrm>
            <a:off x="11235690" y="4652010"/>
            <a:ext cx="422910" cy="422910"/>
          </a:xfrm>
          <a:prstGeom prst="rect">
            <a:avLst/>
          </a:prstGeom>
          <a:solidFill>
            <a:srgbClr val="323540"/>
          </a:solidFill>
          <a:ln w="9525">
            <a:solidFill>
              <a:srgbClr val="1F2025"/>
            </a:solidFill>
            <a:prstDash val="solid"/>
          </a:ln>
        </p:spPr>
        <p:txBody>
          <a:bodyPr/>
          <a:lstStyle/>
          <a:p>
            <a:endParaRPr lang="en-US"/>
          </a:p>
        </p:txBody>
      </p:sp>
      <p:sp>
        <p:nvSpPr>
          <p:cNvPr id="61" name="Shape 57"/>
          <p:cNvSpPr/>
          <p:nvPr/>
        </p:nvSpPr>
        <p:spPr>
          <a:xfrm>
            <a:off x="7040880" y="5212080"/>
            <a:ext cx="4480560" cy="0"/>
          </a:xfrm>
          <a:prstGeom prst="line">
            <a:avLst/>
          </a:prstGeom>
          <a:noFill/>
          <a:ln w="12700">
            <a:solidFill>
              <a:srgbClr val="3D404A"/>
            </a:solidFill>
            <a:prstDash val="solid"/>
          </a:ln>
        </p:spPr>
        <p:txBody>
          <a:bodyPr/>
          <a:lstStyle/>
          <a:p>
            <a:endParaRPr lang="en-US"/>
          </a:p>
        </p:txBody>
      </p:sp>
      <p:sp>
        <p:nvSpPr>
          <p:cNvPr id="62" name="Text 58"/>
          <p:cNvSpPr txBox="1"/>
          <p:nvPr/>
        </p:nvSpPr>
        <p:spPr>
          <a:xfrm>
            <a:off x="7040880" y="5330952"/>
            <a:ext cx="4480560" cy="320040"/>
          </a:xfrm>
          <a:prstGeom prst="rect">
            <a:avLst/>
          </a:prstGeom>
          <a:noFill/>
          <a:ln/>
        </p:spPr>
        <p:txBody>
          <a:bodyPr wrap="square" lIns="0" tIns="0" rIns="0" bIns="0" rtlCol="0" anchor="ctr"/>
          <a:lstStyle/>
          <a:p>
            <a:pPr marL="0" indent="0" algn="ctr">
              <a:buNone/>
            </a:pPr>
            <a:r>
              <a:rPr lang="en-US" sz="1100" i="1" dirty="0">
                <a:solidFill>
                  <a:srgbClr val="A7ABB4"/>
                </a:solidFill>
                <a:latin typeface="Calibri" pitchFamily="34" charset="0"/>
                <a:ea typeface="Calibri" pitchFamily="34" charset="-122"/>
                <a:cs typeface="Calibri" pitchFamily="34" charset="-120"/>
              </a:rPr>
              <a:t>Bàn cờ tự co giãn theo chiều rộng thiết bị</a:t>
            </a:r>
            <a:endParaRPr lang="en-US" sz="1100" dirty="0"/>
          </a:p>
        </p:txBody>
      </p:sp>
      <p:sp>
        <p:nvSpPr>
          <p:cNvPr id="63" name="Text 59"/>
          <p:cNvSpPr txBox="1"/>
          <p:nvPr/>
        </p:nvSpPr>
        <p:spPr>
          <a:xfrm>
            <a:off x="457200" y="6528816"/>
            <a:ext cx="6400800" cy="274320"/>
          </a:xfrm>
          <a:prstGeom prst="rect">
            <a:avLst/>
          </a:prstGeom>
          <a:noFill/>
          <a:ln/>
        </p:spPr>
        <p:txBody>
          <a:bodyPr wrap="square" lIns="0" tIns="0" rIns="0" bIns="0" rtlCol="0" anchor="ctr"/>
          <a:lstStyle/>
          <a:p>
            <a:pPr marL="0" indent="0" algn="l">
              <a:buNone/>
            </a:pPr>
            <a:r>
              <a:rPr lang="en-US" sz="900" kern="0" spc="100" dirty="0">
                <a:solidFill>
                  <a:srgbClr val="A7ABB4"/>
                </a:solidFill>
                <a:latin typeface="Calibri" pitchFamily="34" charset="0"/>
                <a:ea typeface="Calibri" pitchFamily="34" charset="-122"/>
                <a:cs typeface="Calibri" pitchFamily="34" charset="-120"/>
              </a:rPr>
              <a:t>ỨNG DỤNG CHESS GAME TRÊN ANDROID</a:t>
            </a:r>
            <a:endParaRPr lang="en-US" sz="900" dirty="0"/>
          </a:p>
        </p:txBody>
      </p:sp>
      <p:sp>
        <p:nvSpPr>
          <p:cNvPr id="64" name="Text 60"/>
          <p:cNvSpPr txBox="1"/>
          <p:nvPr/>
        </p:nvSpPr>
        <p:spPr>
          <a:xfrm>
            <a:off x="11338560" y="6528816"/>
            <a:ext cx="457200" cy="274320"/>
          </a:xfrm>
          <a:prstGeom prst="rect">
            <a:avLst/>
          </a:prstGeom>
          <a:noFill/>
          <a:ln/>
        </p:spPr>
        <p:txBody>
          <a:bodyPr wrap="square" lIns="0" tIns="0" rIns="0" bIns="0" rtlCol="0" anchor="ctr"/>
          <a:lstStyle/>
          <a:p>
            <a:pPr marL="0" indent="0" algn="r">
              <a:buNone/>
            </a:pPr>
            <a:r>
              <a:rPr lang="en-US" sz="900" dirty="0">
                <a:solidFill>
                  <a:srgbClr val="A7ABB4"/>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025"/>
        </a:solidFill>
        <a:effectLst/>
      </p:bgPr>
    </p:bg>
    <p:spTree>
      <p:nvGrpSpPr>
        <p:cNvPr id="1" name=""/>
        <p:cNvGrpSpPr/>
        <p:nvPr/>
      </p:nvGrpSpPr>
      <p:grpSpPr>
        <a:xfrm>
          <a:off x="0" y="0"/>
          <a:ext cx="0" cy="0"/>
          <a:chOff x="0" y="0"/>
          <a:chExt cx="0" cy="0"/>
        </a:xfrm>
      </p:grpSpPr>
      <p:pic>
        <p:nvPicPr>
          <p:cNvPr id="2" name="Image 0" descr="/home/claude/unpacked/ppt/media/image3.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F2025">
              <a:alpha val="62000"/>
            </a:srgbClr>
          </a:solidFill>
          <a:ln/>
        </p:spPr>
        <p:txBody>
          <a:bodyPr/>
          <a:lstStyle/>
          <a:p>
            <a:endParaRPr lang="en-US"/>
          </a:p>
        </p:txBody>
      </p:sp>
      <p:sp>
        <p:nvSpPr>
          <p:cNvPr id="4" name="Text 1"/>
          <p:cNvSpPr txBox="1"/>
          <p:nvPr/>
        </p:nvSpPr>
        <p:spPr>
          <a:xfrm>
            <a:off x="822960" y="2743200"/>
            <a:ext cx="5486400" cy="320040"/>
          </a:xfrm>
          <a:prstGeom prst="rect">
            <a:avLst/>
          </a:prstGeom>
          <a:noFill/>
          <a:ln/>
        </p:spPr>
        <p:txBody>
          <a:bodyPr wrap="square" lIns="0" tIns="0" rIns="0" bIns="0" rtlCol="0" anchor="ctr"/>
          <a:lstStyle/>
          <a:p>
            <a:pPr marL="0" indent="0">
              <a:buNone/>
            </a:pPr>
            <a:r>
              <a:rPr lang="en-US" sz="1400" b="1" kern="0" spc="300" dirty="0">
                <a:solidFill>
                  <a:srgbClr val="D4AF37"/>
                </a:solidFill>
                <a:latin typeface="Calibri" pitchFamily="34" charset="0"/>
                <a:ea typeface="Calibri" pitchFamily="34" charset="-122"/>
                <a:cs typeface="Calibri" pitchFamily="34" charset="-120"/>
              </a:rPr>
              <a:t>PHẦN 04</a:t>
            </a:r>
            <a:endParaRPr lang="en-US" sz="1400" dirty="0"/>
          </a:p>
        </p:txBody>
      </p:sp>
      <p:sp>
        <p:nvSpPr>
          <p:cNvPr id="5" name="Text 2"/>
          <p:cNvSpPr txBox="1"/>
          <p:nvPr/>
        </p:nvSpPr>
        <p:spPr>
          <a:xfrm>
            <a:off x="777240" y="3108960"/>
            <a:ext cx="91440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Giao diện ứng dụng</a:t>
            </a:r>
            <a:endParaRPr lang="en-US" sz="4400" dirty="0"/>
          </a:p>
        </p:txBody>
      </p:sp>
      <p:sp>
        <p:nvSpPr>
          <p:cNvPr id="6" name="Text 3"/>
          <p:cNvSpPr txBox="1"/>
          <p:nvPr/>
        </p:nvSpPr>
        <p:spPr>
          <a:xfrm>
            <a:off x="822960" y="3977640"/>
            <a:ext cx="8686800" cy="365760"/>
          </a:xfrm>
          <a:prstGeom prst="rect">
            <a:avLst/>
          </a:prstGeom>
          <a:noFill/>
          <a:ln/>
        </p:spPr>
        <p:txBody>
          <a:bodyPr wrap="square" lIns="0" tIns="0" rIns="0" bIns="0" rtlCol="0" anchor="ctr"/>
          <a:lstStyle/>
          <a:p>
            <a:pPr marL="0" indent="0">
              <a:buNone/>
            </a:pPr>
            <a:r>
              <a:rPr lang="en-US" sz="1400" dirty="0">
                <a:solidFill>
                  <a:srgbClr val="E4E6EA"/>
                </a:solidFill>
                <a:latin typeface="Calibri" pitchFamily="34" charset="0"/>
                <a:ea typeface="Calibri" pitchFamily="34" charset="-122"/>
                <a:cs typeface="Calibri" pitchFamily="34" charset="-120"/>
              </a:rPr>
              <a:t>Menu chính  •  Chơi với người  •  Chơi với Bot  •  Cài đặt âm thanh  •  Thông báo hằng ngày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2025"/>
        </a:solidFill>
        <a:effectLst/>
      </p:bgPr>
    </p:bg>
    <p:spTree>
      <p:nvGrpSpPr>
        <p:cNvPr id="1" name=""/>
        <p:cNvGrpSpPr/>
        <p:nvPr/>
      </p:nvGrpSpPr>
      <p:grpSpPr>
        <a:xfrm>
          <a:off x="0" y="0"/>
          <a:ext cx="0" cy="0"/>
          <a:chOff x="0" y="0"/>
          <a:chExt cx="0" cy="0"/>
        </a:xfrm>
      </p:grpSpPr>
      <p:sp>
        <p:nvSpPr>
          <p:cNvPr id="2" name="Text 0"/>
          <p:cNvSpPr txBox="1"/>
          <p:nvPr/>
        </p:nvSpPr>
        <p:spPr>
          <a:xfrm>
            <a:off x="621792" y="118872"/>
            <a:ext cx="9144000" cy="292608"/>
          </a:xfrm>
          <a:prstGeom prst="rect">
            <a:avLst/>
          </a:prstGeom>
          <a:noFill/>
          <a:ln/>
        </p:spPr>
        <p:txBody>
          <a:bodyPr wrap="square" lIns="0" tIns="0" rIns="0" bIns="0" rtlCol="0" anchor="ctr"/>
          <a:lstStyle/>
          <a:p>
            <a:pPr marL="0" indent="0">
              <a:buNone/>
            </a:pPr>
            <a:r>
              <a:rPr lang="en-US" sz="1300" b="1" kern="0" spc="200" dirty="0">
                <a:solidFill>
                  <a:srgbClr val="D4AF37"/>
                </a:solidFill>
                <a:latin typeface="Calibri" pitchFamily="34" charset="0"/>
                <a:ea typeface="Calibri" pitchFamily="34" charset="-122"/>
                <a:cs typeface="Calibri" pitchFamily="34" charset="-120"/>
              </a:rPr>
              <a:t>PHẦN 04 — GIAO DIỆN</a:t>
            </a:r>
            <a:endParaRPr lang="en-US" sz="1300" dirty="0"/>
          </a:p>
        </p:txBody>
      </p:sp>
      <p:sp>
        <p:nvSpPr>
          <p:cNvPr id="3" name="Text 1"/>
          <p:cNvSpPr txBox="1"/>
          <p:nvPr/>
        </p:nvSpPr>
        <p:spPr>
          <a:xfrm>
            <a:off x="621792" y="402336"/>
            <a:ext cx="1088136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Menu chính &amp; Chơi với người</a:t>
            </a:r>
            <a:endParaRPr lang="en-US" sz="3200" dirty="0"/>
          </a:p>
        </p:txBody>
      </p:sp>
      <p:sp>
        <p:nvSpPr>
          <p:cNvPr id="4" name="Shape 2"/>
          <p:cNvSpPr/>
          <p:nvPr/>
        </p:nvSpPr>
        <p:spPr>
          <a:xfrm>
            <a:off x="713232" y="1115420"/>
            <a:ext cx="4727448" cy="5029347"/>
          </a:xfrm>
          <a:prstGeom prst="roundRect">
            <a:avLst>
              <a:gd name="adj" fmla="val 2947"/>
            </a:avLst>
          </a:prstGeom>
          <a:solidFill>
            <a:srgbClr val="292B31"/>
          </a:solidFill>
          <a:ln w="19050">
            <a:solidFill>
              <a:srgbClr val="D4AF37"/>
            </a:solidFill>
            <a:prstDash val="dash"/>
          </a:ln>
          <a:effectLst>
            <a:outerShdw blurRad="101600" dist="38100" dir="5400000" algn="bl" rotWithShape="0">
              <a:srgbClr val="000000">
                <a:alpha val="35000"/>
              </a:srgbClr>
            </a:outerShdw>
          </a:effectLst>
        </p:spPr>
        <p:txBody>
          <a:bodyPr/>
          <a:lstStyle/>
          <a:p>
            <a:endParaRPr lang="en-US"/>
          </a:p>
        </p:txBody>
      </p:sp>
      <p:pic>
        <p:nvPicPr>
          <p:cNvPr id="5" name="Image 0" descr="/home/claude/icons/mobile.png"/>
          <p:cNvPicPr>
            <a:picLocks noChangeAspect="1"/>
          </p:cNvPicPr>
          <p:nvPr/>
        </p:nvPicPr>
        <p:blipFill>
          <a:blip r:embed="rId3">
            <a:alphaModFix amt="75000"/>
          </a:blip>
          <a:stretch>
            <a:fillRect/>
          </a:stretch>
        </p:blipFill>
        <p:spPr>
          <a:xfrm>
            <a:off x="2752344" y="3387852"/>
            <a:ext cx="621792" cy="621792"/>
          </a:xfrm>
          <a:prstGeom prst="rect">
            <a:avLst/>
          </a:prstGeom>
        </p:spPr>
      </p:pic>
      <p:sp>
        <p:nvSpPr>
          <p:cNvPr id="6" name="Text 3"/>
          <p:cNvSpPr txBox="1"/>
          <p:nvPr/>
        </p:nvSpPr>
        <p:spPr>
          <a:xfrm>
            <a:off x="1005840" y="4046220"/>
            <a:ext cx="4114800" cy="292608"/>
          </a:xfrm>
          <a:prstGeom prst="rect">
            <a:avLst/>
          </a:prstGeom>
          <a:noFill/>
          <a:ln/>
        </p:spPr>
        <p:txBody>
          <a:bodyPr wrap="square" lIns="0" tIns="0" rIns="0" bIns="0" rtlCol="0" anchor="ctr"/>
          <a:lstStyle/>
          <a:p>
            <a:pPr marL="0" indent="0" algn="ctr">
              <a:buNone/>
            </a:pPr>
            <a:r>
              <a:rPr lang="en-US" sz="1200" i="1" dirty="0">
                <a:solidFill>
                  <a:srgbClr val="A7ABB4"/>
                </a:solidFill>
                <a:latin typeface="Calibri" pitchFamily="34" charset="0"/>
                <a:ea typeface="Calibri" pitchFamily="34" charset="-122"/>
                <a:cs typeface="Calibri" pitchFamily="34" charset="-120"/>
              </a:rPr>
              <a:t>Chèn ảnh giao diện tại đây</a:t>
            </a:r>
            <a:endParaRPr lang="en-US" sz="1200" dirty="0"/>
          </a:p>
        </p:txBody>
      </p:sp>
      <p:sp>
        <p:nvSpPr>
          <p:cNvPr id="7" name="Text 4"/>
          <p:cNvSpPr txBox="1"/>
          <p:nvPr/>
        </p:nvSpPr>
        <p:spPr>
          <a:xfrm>
            <a:off x="1019556" y="5806048"/>
            <a:ext cx="41148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Giao diện Menu</a:t>
            </a:r>
            <a:endParaRPr lang="en-US" sz="1300" dirty="0"/>
          </a:p>
        </p:txBody>
      </p:sp>
      <p:sp>
        <p:nvSpPr>
          <p:cNvPr id="8" name="Shape 5"/>
          <p:cNvSpPr/>
          <p:nvPr/>
        </p:nvSpPr>
        <p:spPr>
          <a:xfrm>
            <a:off x="5623559" y="1060704"/>
            <a:ext cx="5172259" cy="5065776"/>
          </a:xfrm>
          <a:prstGeom prst="roundRect">
            <a:avLst>
              <a:gd name="adj" fmla="val 2947"/>
            </a:avLst>
          </a:prstGeom>
          <a:solidFill>
            <a:srgbClr val="292B31"/>
          </a:solidFill>
          <a:ln w="19050">
            <a:solidFill>
              <a:srgbClr val="D4AF37"/>
            </a:solidFill>
            <a:prstDash val="dash"/>
          </a:ln>
          <a:effectLst>
            <a:outerShdw blurRad="101600" dist="38100" dir="5400000" algn="bl" rotWithShape="0">
              <a:srgbClr val="000000">
                <a:alpha val="35000"/>
              </a:srgbClr>
            </a:outerShdw>
          </a:effectLst>
        </p:spPr>
        <p:txBody>
          <a:bodyPr/>
          <a:lstStyle/>
          <a:p>
            <a:endParaRPr lang="en-US"/>
          </a:p>
        </p:txBody>
      </p:sp>
      <p:pic>
        <p:nvPicPr>
          <p:cNvPr id="9" name="Image 1" descr="/home/claude/icons/mobile.png"/>
          <p:cNvPicPr>
            <a:picLocks noChangeAspect="1"/>
          </p:cNvPicPr>
          <p:nvPr/>
        </p:nvPicPr>
        <p:blipFill>
          <a:blip r:embed="rId3">
            <a:alphaModFix amt="75000"/>
          </a:blip>
          <a:stretch>
            <a:fillRect/>
          </a:stretch>
        </p:blipFill>
        <p:spPr>
          <a:xfrm>
            <a:off x="7863840" y="3332988"/>
            <a:ext cx="621792" cy="621792"/>
          </a:xfrm>
          <a:prstGeom prst="rect">
            <a:avLst/>
          </a:prstGeom>
        </p:spPr>
      </p:pic>
      <p:sp>
        <p:nvSpPr>
          <p:cNvPr id="10" name="Text 6"/>
          <p:cNvSpPr txBox="1"/>
          <p:nvPr/>
        </p:nvSpPr>
        <p:spPr>
          <a:xfrm>
            <a:off x="6096000" y="4009644"/>
            <a:ext cx="4114800" cy="292608"/>
          </a:xfrm>
          <a:prstGeom prst="rect">
            <a:avLst/>
          </a:prstGeom>
          <a:noFill/>
          <a:ln/>
        </p:spPr>
        <p:txBody>
          <a:bodyPr wrap="square" lIns="0" tIns="0" rIns="0" bIns="0" rtlCol="0" anchor="ctr"/>
          <a:lstStyle/>
          <a:p>
            <a:pPr marL="0" indent="0" algn="ctr">
              <a:buNone/>
            </a:pPr>
            <a:r>
              <a:rPr lang="en-US" sz="1200" i="1" dirty="0">
                <a:solidFill>
                  <a:srgbClr val="A7ABB4"/>
                </a:solidFill>
                <a:latin typeface="Calibri" pitchFamily="34" charset="0"/>
                <a:ea typeface="Calibri" pitchFamily="34" charset="-122"/>
                <a:cs typeface="Calibri" pitchFamily="34" charset="-120"/>
              </a:rPr>
              <a:t>Chèn ảnh giao diện tại đây</a:t>
            </a:r>
            <a:endParaRPr lang="en-US" sz="1200" dirty="0"/>
          </a:p>
        </p:txBody>
      </p:sp>
      <p:sp>
        <p:nvSpPr>
          <p:cNvPr id="11" name="Text 7"/>
          <p:cNvSpPr txBox="1"/>
          <p:nvPr/>
        </p:nvSpPr>
        <p:spPr>
          <a:xfrm>
            <a:off x="6133854" y="5734781"/>
            <a:ext cx="41148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Giao diện chơi với người (Play with Friend)</a:t>
            </a:r>
            <a:endParaRPr lang="en-US" sz="1300" dirty="0"/>
          </a:p>
        </p:txBody>
      </p:sp>
      <p:sp>
        <p:nvSpPr>
          <p:cNvPr id="12" name="Text 8"/>
          <p:cNvSpPr txBox="1"/>
          <p:nvPr/>
        </p:nvSpPr>
        <p:spPr>
          <a:xfrm>
            <a:off x="822960" y="6286500"/>
            <a:ext cx="4480560" cy="274320"/>
          </a:xfrm>
          <a:prstGeom prst="rect">
            <a:avLst/>
          </a:prstGeom>
          <a:noFill/>
          <a:ln/>
        </p:spPr>
        <p:txBody>
          <a:bodyPr wrap="square" lIns="0" tIns="0" rIns="0" bIns="0" rtlCol="0" anchor="ctr"/>
          <a:lstStyle/>
          <a:p>
            <a:pPr marL="0" indent="0" algn="ctr">
              <a:buNone/>
            </a:pPr>
            <a:r>
              <a:rPr lang="en-US" sz="1050" dirty="0">
                <a:solidFill>
                  <a:srgbClr val="A7ABB4"/>
                </a:solidFill>
                <a:latin typeface="Calibri" pitchFamily="34" charset="0"/>
                <a:ea typeface="Calibri" pitchFamily="34" charset="-122"/>
                <a:cs typeface="Calibri" pitchFamily="34" charset="-120"/>
              </a:rPr>
              <a:t>Màn hình khởi đầu, nơi người chơi chọn chế độ</a:t>
            </a:r>
            <a:endParaRPr lang="en-US" sz="1050" dirty="0"/>
          </a:p>
        </p:txBody>
      </p:sp>
      <p:sp>
        <p:nvSpPr>
          <p:cNvPr id="13" name="Text 9"/>
          <p:cNvSpPr txBox="1"/>
          <p:nvPr/>
        </p:nvSpPr>
        <p:spPr>
          <a:xfrm>
            <a:off x="5870935" y="6318504"/>
            <a:ext cx="4480560" cy="274320"/>
          </a:xfrm>
          <a:prstGeom prst="rect">
            <a:avLst/>
          </a:prstGeom>
          <a:noFill/>
          <a:ln/>
        </p:spPr>
        <p:txBody>
          <a:bodyPr wrap="square" lIns="0" tIns="0" rIns="0" bIns="0" rtlCol="0" anchor="ctr"/>
          <a:lstStyle/>
          <a:p>
            <a:pPr marL="0" indent="0" algn="ctr">
              <a:buNone/>
            </a:pPr>
            <a:r>
              <a:rPr lang="en-US" sz="1050" dirty="0">
                <a:solidFill>
                  <a:srgbClr val="A7ABB4"/>
                </a:solidFill>
                <a:latin typeface="Calibri" pitchFamily="34" charset="0"/>
                <a:ea typeface="Calibri" pitchFamily="34" charset="-122"/>
                <a:cs typeface="Calibri" pitchFamily="34" charset="-120"/>
              </a:rPr>
              <a:t>Hai người chơi luân phiên trên cùng một thiết bị</a:t>
            </a:r>
            <a:endParaRPr lang="en-US" sz="1050" dirty="0"/>
          </a:p>
        </p:txBody>
      </p:sp>
      <p:sp>
        <p:nvSpPr>
          <p:cNvPr id="14" name="Text 10"/>
          <p:cNvSpPr txBox="1"/>
          <p:nvPr/>
        </p:nvSpPr>
        <p:spPr>
          <a:xfrm>
            <a:off x="457200" y="6528816"/>
            <a:ext cx="6400800" cy="274320"/>
          </a:xfrm>
          <a:prstGeom prst="rect">
            <a:avLst/>
          </a:prstGeom>
          <a:noFill/>
          <a:ln/>
        </p:spPr>
        <p:txBody>
          <a:bodyPr wrap="square" lIns="0" tIns="0" rIns="0" bIns="0" rtlCol="0" anchor="ctr"/>
          <a:lstStyle/>
          <a:p>
            <a:pPr marL="0" indent="0" algn="l">
              <a:buNone/>
            </a:pPr>
            <a:r>
              <a:rPr lang="en-US" sz="900" kern="0" spc="100" dirty="0">
                <a:solidFill>
                  <a:srgbClr val="A7ABB4"/>
                </a:solidFill>
                <a:latin typeface="Calibri" pitchFamily="34" charset="0"/>
                <a:ea typeface="Calibri" pitchFamily="34" charset="-122"/>
                <a:cs typeface="Calibri" pitchFamily="34" charset="-120"/>
              </a:rPr>
              <a:t>ỨNG DỤNG CHESS GAME TRÊN ANDROID</a:t>
            </a:r>
            <a:endParaRPr lang="en-US" sz="900" dirty="0"/>
          </a:p>
        </p:txBody>
      </p:sp>
      <p:sp>
        <p:nvSpPr>
          <p:cNvPr id="15" name="Text 11"/>
          <p:cNvSpPr txBox="1"/>
          <p:nvPr/>
        </p:nvSpPr>
        <p:spPr>
          <a:xfrm>
            <a:off x="11338560" y="6528816"/>
            <a:ext cx="457200" cy="274320"/>
          </a:xfrm>
          <a:prstGeom prst="rect">
            <a:avLst/>
          </a:prstGeom>
          <a:noFill/>
          <a:ln/>
        </p:spPr>
        <p:txBody>
          <a:bodyPr wrap="square" lIns="0" tIns="0" rIns="0" bIns="0" rtlCol="0" anchor="ctr"/>
          <a:lstStyle/>
          <a:p>
            <a:pPr marL="0" indent="0" algn="r">
              <a:buNone/>
            </a:pPr>
            <a:r>
              <a:rPr lang="en-US" sz="900" dirty="0">
                <a:solidFill>
                  <a:srgbClr val="A7ABB4"/>
                </a:solidFill>
                <a:latin typeface="Calibri" pitchFamily="34" charset="0"/>
                <a:ea typeface="Calibri" pitchFamily="34" charset="-122"/>
                <a:cs typeface="Calibri" pitchFamily="34" charset="-120"/>
              </a:rPr>
              <a:t>11</a:t>
            </a:r>
            <a:endParaRPr lang="en-US" sz="900" dirty="0"/>
          </a:p>
        </p:txBody>
      </p:sp>
      <p:pic>
        <p:nvPicPr>
          <p:cNvPr id="17" name="Picture 16">
            <a:extLst>
              <a:ext uri="{FF2B5EF4-FFF2-40B4-BE49-F238E27FC236}">
                <a16:creationId xmlns:a16="http://schemas.microsoft.com/office/drawing/2014/main" id="{BB528792-2B71-EB6F-B5A2-20B2C510696D}"/>
              </a:ext>
            </a:extLst>
          </p:cNvPr>
          <p:cNvPicPr>
            <a:picLocks noChangeAspect="1"/>
          </p:cNvPicPr>
          <p:nvPr/>
        </p:nvPicPr>
        <p:blipFill>
          <a:blip r:embed="rId4"/>
          <a:stretch>
            <a:fillRect/>
          </a:stretch>
        </p:blipFill>
        <p:spPr>
          <a:xfrm>
            <a:off x="2030010" y="1165415"/>
            <a:ext cx="2121380" cy="4714177"/>
          </a:xfrm>
          <a:prstGeom prst="rect">
            <a:avLst/>
          </a:prstGeom>
        </p:spPr>
      </p:pic>
      <p:pic>
        <p:nvPicPr>
          <p:cNvPr id="19" name="Picture 18">
            <a:extLst>
              <a:ext uri="{FF2B5EF4-FFF2-40B4-BE49-F238E27FC236}">
                <a16:creationId xmlns:a16="http://schemas.microsoft.com/office/drawing/2014/main" id="{7B913DE9-781C-0359-76F8-CA3E03FC1D6D}"/>
              </a:ext>
            </a:extLst>
          </p:cNvPr>
          <p:cNvPicPr>
            <a:picLocks noChangeAspect="1"/>
          </p:cNvPicPr>
          <p:nvPr/>
        </p:nvPicPr>
        <p:blipFill>
          <a:blip r:embed="rId5"/>
          <a:stretch>
            <a:fillRect/>
          </a:stretch>
        </p:blipFill>
        <p:spPr>
          <a:xfrm>
            <a:off x="7167018" y="1075962"/>
            <a:ext cx="2117734" cy="47060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025"/>
        </a:solidFill>
        <a:effectLst/>
      </p:bgPr>
    </p:bg>
    <p:spTree>
      <p:nvGrpSpPr>
        <p:cNvPr id="1" name=""/>
        <p:cNvGrpSpPr/>
        <p:nvPr/>
      </p:nvGrpSpPr>
      <p:grpSpPr>
        <a:xfrm>
          <a:off x="0" y="0"/>
          <a:ext cx="0" cy="0"/>
          <a:chOff x="0" y="0"/>
          <a:chExt cx="0" cy="0"/>
        </a:xfrm>
      </p:grpSpPr>
      <p:sp>
        <p:nvSpPr>
          <p:cNvPr id="2" name="Text 0"/>
          <p:cNvSpPr txBox="1"/>
          <p:nvPr/>
        </p:nvSpPr>
        <p:spPr>
          <a:xfrm>
            <a:off x="640080" y="237744"/>
            <a:ext cx="9144000" cy="292608"/>
          </a:xfrm>
          <a:prstGeom prst="rect">
            <a:avLst/>
          </a:prstGeom>
          <a:noFill/>
          <a:ln/>
        </p:spPr>
        <p:txBody>
          <a:bodyPr wrap="square" lIns="0" tIns="0" rIns="0" bIns="0" rtlCol="0" anchor="ctr"/>
          <a:lstStyle/>
          <a:p>
            <a:pPr marL="0" indent="0">
              <a:buNone/>
            </a:pPr>
            <a:r>
              <a:rPr lang="en-US" sz="1300" b="1" kern="0" spc="200" dirty="0">
                <a:solidFill>
                  <a:srgbClr val="D4AF37"/>
                </a:solidFill>
                <a:latin typeface="Calibri" pitchFamily="34" charset="0"/>
                <a:ea typeface="Calibri" pitchFamily="34" charset="-122"/>
                <a:cs typeface="Calibri" pitchFamily="34" charset="-120"/>
              </a:rPr>
              <a:t>PHẦN 04 — GIAO DIỆN</a:t>
            </a:r>
            <a:endParaRPr lang="en-US" sz="1300" dirty="0"/>
          </a:p>
        </p:txBody>
      </p:sp>
      <p:sp>
        <p:nvSpPr>
          <p:cNvPr id="3" name="Text 1"/>
          <p:cNvSpPr txBox="1"/>
          <p:nvPr/>
        </p:nvSpPr>
        <p:spPr>
          <a:xfrm>
            <a:off x="621792" y="399350"/>
            <a:ext cx="1088136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Chơi với Bot &amp; Cài đặt âm thanh</a:t>
            </a:r>
            <a:endParaRPr lang="en-US" sz="3200" dirty="0"/>
          </a:p>
        </p:txBody>
      </p:sp>
      <p:sp>
        <p:nvSpPr>
          <p:cNvPr id="4" name="Shape 2"/>
          <p:cNvSpPr/>
          <p:nvPr/>
        </p:nvSpPr>
        <p:spPr>
          <a:xfrm>
            <a:off x="822960" y="1063690"/>
            <a:ext cx="4480560" cy="5062790"/>
          </a:xfrm>
          <a:prstGeom prst="roundRect">
            <a:avLst>
              <a:gd name="adj" fmla="val 2947"/>
            </a:avLst>
          </a:prstGeom>
          <a:solidFill>
            <a:srgbClr val="292B31"/>
          </a:solidFill>
          <a:ln w="19050">
            <a:solidFill>
              <a:srgbClr val="D4AF37"/>
            </a:solidFill>
            <a:prstDash val="dash"/>
          </a:ln>
          <a:effectLst>
            <a:outerShdw blurRad="101600" dist="38100" dir="5400000" algn="bl" rotWithShape="0">
              <a:srgbClr val="000000">
                <a:alpha val="35000"/>
              </a:srgbClr>
            </a:outerShdw>
          </a:effectLst>
        </p:spPr>
        <p:txBody>
          <a:bodyPr/>
          <a:lstStyle/>
          <a:p>
            <a:endParaRPr lang="en-US" dirty="0"/>
          </a:p>
        </p:txBody>
      </p:sp>
      <p:pic>
        <p:nvPicPr>
          <p:cNvPr id="5" name="Image 0" descr="/home/claude/icons/mobile.png"/>
          <p:cNvPicPr>
            <a:picLocks noChangeAspect="1"/>
          </p:cNvPicPr>
          <p:nvPr/>
        </p:nvPicPr>
        <p:blipFill>
          <a:blip r:embed="rId3">
            <a:alphaModFix amt="75000"/>
          </a:blip>
          <a:stretch>
            <a:fillRect/>
          </a:stretch>
        </p:blipFill>
        <p:spPr>
          <a:xfrm>
            <a:off x="2752344" y="3387852"/>
            <a:ext cx="621792" cy="621792"/>
          </a:xfrm>
          <a:prstGeom prst="rect">
            <a:avLst/>
          </a:prstGeom>
        </p:spPr>
      </p:pic>
      <p:sp>
        <p:nvSpPr>
          <p:cNvPr id="6" name="Text 3"/>
          <p:cNvSpPr txBox="1"/>
          <p:nvPr/>
        </p:nvSpPr>
        <p:spPr>
          <a:xfrm>
            <a:off x="1005840" y="4046220"/>
            <a:ext cx="4114800" cy="292608"/>
          </a:xfrm>
          <a:prstGeom prst="rect">
            <a:avLst/>
          </a:prstGeom>
          <a:noFill/>
          <a:ln/>
        </p:spPr>
        <p:txBody>
          <a:bodyPr wrap="square" lIns="0" tIns="0" rIns="0" bIns="0" rtlCol="0" anchor="ctr"/>
          <a:lstStyle/>
          <a:p>
            <a:pPr marL="0" indent="0" algn="ctr">
              <a:buNone/>
            </a:pPr>
            <a:r>
              <a:rPr lang="en-US" sz="1200" i="1" dirty="0">
                <a:solidFill>
                  <a:srgbClr val="A7ABB4"/>
                </a:solidFill>
                <a:latin typeface="Calibri" pitchFamily="34" charset="0"/>
                <a:ea typeface="Calibri" pitchFamily="34" charset="-122"/>
                <a:cs typeface="Calibri" pitchFamily="34" charset="-120"/>
              </a:rPr>
              <a:t>Chèn ảnh giao diện tại đây</a:t>
            </a:r>
            <a:endParaRPr lang="en-US" sz="1200" dirty="0"/>
          </a:p>
        </p:txBody>
      </p:sp>
      <p:sp>
        <p:nvSpPr>
          <p:cNvPr id="7" name="Text 4"/>
          <p:cNvSpPr txBox="1"/>
          <p:nvPr/>
        </p:nvSpPr>
        <p:spPr>
          <a:xfrm>
            <a:off x="897685" y="5770553"/>
            <a:ext cx="41148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Giao diện chơi với Bot</a:t>
            </a:r>
            <a:endParaRPr lang="en-US" sz="1300" dirty="0"/>
          </a:p>
        </p:txBody>
      </p:sp>
      <p:sp>
        <p:nvSpPr>
          <p:cNvPr id="8" name="Shape 5"/>
          <p:cNvSpPr/>
          <p:nvPr/>
        </p:nvSpPr>
        <p:spPr>
          <a:xfrm>
            <a:off x="5623560" y="998376"/>
            <a:ext cx="4480560" cy="5128104"/>
          </a:xfrm>
          <a:prstGeom prst="roundRect">
            <a:avLst>
              <a:gd name="adj" fmla="val 2947"/>
            </a:avLst>
          </a:prstGeom>
          <a:solidFill>
            <a:srgbClr val="292B31"/>
          </a:solidFill>
          <a:ln w="19050">
            <a:solidFill>
              <a:srgbClr val="D4AF37"/>
            </a:solidFill>
            <a:prstDash val="dash"/>
          </a:ln>
          <a:effectLst>
            <a:outerShdw blurRad="101600" dist="38100" dir="5400000" algn="bl" rotWithShape="0">
              <a:srgbClr val="000000">
                <a:alpha val="35000"/>
              </a:srgbClr>
            </a:outerShdw>
          </a:effectLst>
        </p:spPr>
        <p:txBody>
          <a:bodyPr/>
          <a:lstStyle/>
          <a:p>
            <a:endParaRPr lang="en-US"/>
          </a:p>
        </p:txBody>
      </p:sp>
      <p:pic>
        <p:nvPicPr>
          <p:cNvPr id="9" name="Image 1" descr="/home/claude/icons/mobile.png"/>
          <p:cNvPicPr>
            <a:picLocks noChangeAspect="1"/>
          </p:cNvPicPr>
          <p:nvPr/>
        </p:nvPicPr>
        <p:blipFill>
          <a:blip r:embed="rId3">
            <a:alphaModFix amt="75000"/>
          </a:blip>
          <a:stretch>
            <a:fillRect/>
          </a:stretch>
        </p:blipFill>
        <p:spPr>
          <a:xfrm>
            <a:off x="7552944" y="3387852"/>
            <a:ext cx="621792" cy="621792"/>
          </a:xfrm>
          <a:prstGeom prst="rect">
            <a:avLst/>
          </a:prstGeom>
        </p:spPr>
      </p:pic>
      <p:sp>
        <p:nvSpPr>
          <p:cNvPr id="10" name="Text 6"/>
          <p:cNvSpPr txBox="1"/>
          <p:nvPr/>
        </p:nvSpPr>
        <p:spPr>
          <a:xfrm>
            <a:off x="5806440" y="4046220"/>
            <a:ext cx="4114800" cy="292608"/>
          </a:xfrm>
          <a:prstGeom prst="rect">
            <a:avLst/>
          </a:prstGeom>
          <a:noFill/>
          <a:ln/>
        </p:spPr>
        <p:txBody>
          <a:bodyPr wrap="square" lIns="0" tIns="0" rIns="0" bIns="0" rtlCol="0" anchor="ctr"/>
          <a:lstStyle/>
          <a:p>
            <a:pPr marL="0" indent="0" algn="ctr">
              <a:buNone/>
            </a:pPr>
            <a:r>
              <a:rPr lang="en-US" sz="1200" i="1" dirty="0">
                <a:solidFill>
                  <a:srgbClr val="A7ABB4"/>
                </a:solidFill>
                <a:latin typeface="Calibri" pitchFamily="34" charset="0"/>
                <a:ea typeface="Calibri" pitchFamily="34" charset="-122"/>
                <a:cs typeface="Calibri" pitchFamily="34" charset="-120"/>
              </a:rPr>
              <a:t>Chèn ảnh giao diện tại đây</a:t>
            </a:r>
            <a:endParaRPr lang="en-US" sz="1200" dirty="0"/>
          </a:p>
        </p:txBody>
      </p:sp>
      <p:sp>
        <p:nvSpPr>
          <p:cNvPr id="11" name="Text 7"/>
          <p:cNvSpPr txBox="1"/>
          <p:nvPr/>
        </p:nvSpPr>
        <p:spPr>
          <a:xfrm>
            <a:off x="5806440" y="5770553"/>
            <a:ext cx="41148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Modal điều chỉnh âm thanh</a:t>
            </a:r>
            <a:endParaRPr lang="en-US" sz="1300" dirty="0"/>
          </a:p>
        </p:txBody>
      </p:sp>
      <p:sp>
        <p:nvSpPr>
          <p:cNvPr id="12" name="Text 8"/>
          <p:cNvSpPr txBox="1"/>
          <p:nvPr/>
        </p:nvSpPr>
        <p:spPr>
          <a:xfrm>
            <a:off x="822960" y="6300216"/>
            <a:ext cx="4480560" cy="274320"/>
          </a:xfrm>
          <a:prstGeom prst="rect">
            <a:avLst/>
          </a:prstGeom>
          <a:noFill/>
          <a:ln/>
        </p:spPr>
        <p:txBody>
          <a:bodyPr wrap="square" lIns="0" tIns="0" rIns="0" bIns="0" rtlCol="0" anchor="ctr"/>
          <a:lstStyle/>
          <a:p>
            <a:pPr marL="0" indent="0" algn="ctr">
              <a:buNone/>
            </a:pPr>
            <a:r>
              <a:rPr lang="en-US" sz="1050" dirty="0">
                <a:solidFill>
                  <a:srgbClr val="A7ABB4"/>
                </a:solidFill>
                <a:latin typeface="Calibri" pitchFamily="34" charset="0"/>
                <a:ea typeface="Calibri" pitchFamily="34" charset="-122"/>
                <a:cs typeface="Calibri" pitchFamily="34" charset="-120"/>
              </a:rPr>
              <a:t>Đấu với AI qua ChessBotApiClient (FEN)</a:t>
            </a:r>
            <a:endParaRPr lang="en-US" sz="1050" dirty="0"/>
          </a:p>
        </p:txBody>
      </p:sp>
      <p:sp>
        <p:nvSpPr>
          <p:cNvPr id="13" name="Text 9"/>
          <p:cNvSpPr txBox="1"/>
          <p:nvPr/>
        </p:nvSpPr>
        <p:spPr>
          <a:xfrm>
            <a:off x="5623560" y="6234831"/>
            <a:ext cx="4480560" cy="274320"/>
          </a:xfrm>
          <a:prstGeom prst="rect">
            <a:avLst/>
          </a:prstGeom>
          <a:noFill/>
          <a:ln/>
        </p:spPr>
        <p:txBody>
          <a:bodyPr wrap="square" lIns="0" tIns="0" rIns="0" bIns="0" rtlCol="0" anchor="ctr"/>
          <a:lstStyle/>
          <a:p>
            <a:pPr marL="0" indent="0" algn="ctr">
              <a:buNone/>
            </a:pPr>
            <a:r>
              <a:rPr lang="en-US" sz="1050" dirty="0">
                <a:solidFill>
                  <a:srgbClr val="A7ABB4"/>
                </a:solidFill>
                <a:latin typeface="Calibri" pitchFamily="34" charset="0"/>
                <a:ea typeface="Calibri" pitchFamily="34" charset="-122"/>
                <a:cs typeface="Calibri" pitchFamily="34" charset="-120"/>
              </a:rPr>
              <a:t>Cho phép bật/tắt và tinh chỉnh âm lượng trong game</a:t>
            </a:r>
            <a:endParaRPr lang="en-US" sz="1050" dirty="0"/>
          </a:p>
        </p:txBody>
      </p:sp>
      <p:sp>
        <p:nvSpPr>
          <p:cNvPr id="14" name="Text 10"/>
          <p:cNvSpPr txBox="1"/>
          <p:nvPr/>
        </p:nvSpPr>
        <p:spPr>
          <a:xfrm>
            <a:off x="457200" y="6528816"/>
            <a:ext cx="6400800" cy="274320"/>
          </a:xfrm>
          <a:prstGeom prst="rect">
            <a:avLst/>
          </a:prstGeom>
          <a:noFill/>
          <a:ln/>
        </p:spPr>
        <p:txBody>
          <a:bodyPr wrap="square" lIns="0" tIns="0" rIns="0" bIns="0" rtlCol="0" anchor="ctr"/>
          <a:lstStyle/>
          <a:p>
            <a:pPr marL="0" indent="0" algn="l">
              <a:buNone/>
            </a:pPr>
            <a:r>
              <a:rPr lang="en-US" sz="900" kern="0" spc="100" dirty="0">
                <a:solidFill>
                  <a:srgbClr val="A7ABB4"/>
                </a:solidFill>
                <a:latin typeface="Calibri" pitchFamily="34" charset="0"/>
                <a:ea typeface="Calibri" pitchFamily="34" charset="-122"/>
                <a:cs typeface="Calibri" pitchFamily="34" charset="-120"/>
              </a:rPr>
              <a:t>ỨNG DỤNG CHESS GAME TRÊN ANDROID</a:t>
            </a:r>
            <a:endParaRPr lang="en-US" sz="900" dirty="0"/>
          </a:p>
        </p:txBody>
      </p:sp>
      <p:sp>
        <p:nvSpPr>
          <p:cNvPr id="15" name="Text 11"/>
          <p:cNvSpPr txBox="1"/>
          <p:nvPr/>
        </p:nvSpPr>
        <p:spPr>
          <a:xfrm>
            <a:off x="11338560" y="6528816"/>
            <a:ext cx="457200" cy="274320"/>
          </a:xfrm>
          <a:prstGeom prst="rect">
            <a:avLst/>
          </a:prstGeom>
          <a:noFill/>
          <a:ln/>
        </p:spPr>
        <p:txBody>
          <a:bodyPr wrap="square" lIns="0" tIns="0" rIns="0" bIns="0" rtlCol="0" anchor="ctr"/>
          <a:lstStyle/>
          <a:p>
            <a:pPr marL="0" indent="0" algn="r">
              <a:buNone/>
            </a:pPr>
            <a:r>
              <a:rPr lang="en-US" sz="900" dirty="0">
                <a:solidFill>
                  <a:srgbClr val="A7ABB4"/>
                </a:solidFill>
                <a:latin typeface="Calibri" pitchFamily="34" charset="0"/>
                <a:ea typeface="Calibri" pitchFamily="34" charset="-122"/>
                <a:cs typeface="Calibri" pitchFamily="34" charset="-120"/>
              </a:rPr>
              <a:t>12</a:t>
            </a:r>
            <a:endParaRPr lang="en-US" sz="900" dirty="0"/>
          </a:p>
        </p:txBody>
      </p:sp>
      <p:pic>
        <p:nvPicPr>
          <p:cNvPr id="17" name="Picture 16">
            <a:extLst>
              <a:ext uri="{FF2B5EF4-FFF2-40B4-BE49-F238E27FC236}">
                <a16:creationId xmlns:a16="http://schemas.microsoft.com/office/drawing/2014/main" id="{55D7B12F-B111-BCCE-4F6B-22AC5211B114}"/>
              </a:ext>
            </a:extLst>
          </p:cNvPr>
          <p:cNvPicPr>
            <a:picLocks noChangeAspect="1"/>
          </p:cNvPicPr>
          <p:nvPr/>
        </p:nvPicPr>
        <p:blipFill>
          <a:blip r:embed="rId4"/>
          <a:stretch>
            <a:fillRect/>
          </a:stretch>
        </p:blipFill>
        <p:spPr>
          <a:xfrm>
            <a:off x="6829907" y="988543"/>
            <a:ext cx="2067865" cy="4840073"/>
          </a:xfrm>
          <a:prstGeom prst="rect">
            <a:avLst/>
          </a:prstGeom>
        </p:spPr>
      </p:pic>
      <p:pic>
        <p:nvPicPr>
          <p:cNvPr id="19" name="Picture 18">
            <a:extLst>
              <a:ext uri="{FF2B5EF4-FFF2-40B4-BE49-F238E27FC236}">
                <a16:creationId xmlns:a16="http://schemas.microsoft.com/office/drawing/2014/main" id="{F171F6CF-07BD-447B-1EBB-DCC66FDC594A}"/>
              </a:ext>
            </a:extLst>
          </p:cNvPr>
          <p:cNvPicPr>
            <a:picLocks noChangeAspect="1"/>
          </p:cNvPicPr>
          <p:nvPr/>
        </p:nvPicPr>
        <p:blipFill>
          <a:blip r:embed="rId5"/>
          <a:stretch>
            <a:fillRect/>
          </a:stretch>
        </p:blipFill>
        <p:spPr>
          <a:xfrm>
            <a:off x="1938878" y="1049880"/>
            <a:ext cx="2119878" cy="47108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2025"/>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marL="0" indent="0">
              <a:buNone/>
            </a:pPr>
            <a:r>
              <a:rPr lang="en-US" sz="1300" b="1" kern="0" spc="200" dirty="0">
                <a:solidFill>
                  <a:srgbClr val="D4AF37"/>
                </a:solidFill>
                <a:latin typeface="Calibri" pitchFamily="34" charset="0"/>
                <a:ea typeface="Calibri" pitchFamily="34" charset="-122"/>
                <a:cs typeface="Calibri" pitchFamily="34" charset="-120"/>
              </a:rPr>
              <a:t>PHẦN 04 — GIAO DIỆN</a:t>
            </a:r>
            <a:endParaRPr lang="en-US" sz="1300" dirty="0"/>
          </a:p>
        </p:txBody>
      </p:sp>
      <p:sp>
        <p:nvSpPr>
          <p:cNvPr id="3" name="Text 1"/>
          <p:cNvSpPr txBox="1"/>
          <p:nvPr/>
        </p:nvSpPr>
        <p:spPr>
          <a:xfrm>
            <a:off x="621792" y="768096"/>
            <a:ext cx="1088136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Thông báo Pop-up nhắc chơi hằng ngày</a:t>
            </a:r>
            <a:endParaRPr lang="en-US" sz="3200" dirty="0"/>
          </a:p>
        </p:txBody>
      </p:sp>
      <p:sp>
        <p:nvSpPr>
          <p:cNvPr id="4" name="Text 2"/>
          <p:cNvSpPr txBox="1"/>
          <p:nvPr/>
        </p:nvSpPr>
        <p:spPr>
          <a:xfrm>
            <a:off x="640080" y="1691640"/>
            <a:ext cx="10881360" cy="457200"/>
          </a:xfrm>
          <a:prstGeom prst="rect">
            <a:avLst/>
          </a:prstGeom>
          <a:noFill/>
          <a:ln/>
        </p:spPr>
        <p:txBody>
          <a:bodyPr wrap="square" lIns="0" tIns="0" rIns="0" bIns="0" rtlCol="0" anchor="ctr"/>
          <a:lstStyle/>
          <a:p>
            <a:pPr marL="0" indent="0">
              <a:lnSpc>
                <a:spcPct val="120000"/>
              </a:lnSpc>
              <a:buNone/>
            </a:pPr>
            <a:r>
              <a:rPr lang="en-US" sz="1300" dirty="0">
                <a:solidFill>
                  <a:srgbClr val="E4E6EA"/>
                </a:solidFill>
                <a:latin typeface="Calibri" pitchFamily="34" charset="0"/>
                <a:ea typeface="Calibri" pitchFamily="34" charset="-122"/>
                <a:cs typeface="Calibri" pitchFamily="34" charset="-120"/>
              </a:rPr>
              <a:t>Popup nhắc nhở người dùng quay lại chơi mỗi ngày, giúp tăng mức độ tương tác (engagement) với ứng dụng.</a:t>
            </a:r>
            <a:endParaRPr lang="en-US" sz="1300" dirty="0"/>
          </a:p>
        </p:txBody>
      </p:sp>
      <p:sp>
        <p:nvSpPr>
          <p:cNvPr id="5" name="Shape 3"/>
          <p:cNvSpPr/>
          <p:nvPr/>
        </p:nvSpPr>
        <p:spPr>
          <a:xfrm>
            <a:off x="4270248" y="2286000"/>
            <a:ext cx="3657600" cy="3977640"/>
          </a:xfrm>
          <a:prstGeom prst="roundRect">
            <a:avLst>
              <a:gd name="adj" fmla="val 3500"/>
            </a:avLst>
          </a:prstGeom>
          <a:solidFill>
            <a:srgbClr val="292B31"/>
          </a:solidFill>
          <a:ln w="19050">
            <a:solidFill>
              <a:srgbClr val="D4AF37"/>
            </a:solidFill>
            <a:prstDash val="dash"/>
          </a:ln>
          <a:effectLst>
            <a:outerShdw blurRad="101600" dist="38100" dir="5400000" algn="bl" rotWithShape="0">
              <a:srgbClr val="000000">
                <a:alpha val="35000"/>
              </a:srgbClr>
            </a:outerShdw>
          </a:effectLst>
        </p:spPr>
        <p:txBody>
          <a:bodyPr/>
          <a:lstStyle/>
          <a:p>
            <a:endParaRPr lang="en-US"/>
          </a:p>
        </p:txBody>
      </p:sp>
      <p:pic>
        <p:nvPicPr>
          <p:cNvPr id="6" name="Image 0" descr="/home/claude/icons/mobile.png"/>
          <p:cNvPicPr>
            <a:picLocks noChangeAspect="1"/>
          </p:cNvPicPr>
          <p:nvPr/>
        </p:nvPicPr>
        <p:blipFill>
          <a:blip r:embed="rId3">
            <a:alphaModFix amt="75000"/>
          </a:blip>
          <a:stretch>
            <a:fillRect/>
          </a:stretch>
        </p:blipFill>
        <p:spPr>
          <a:xfrm>
            <a:off x="5788152" y="3707892"/>
            <a:ext cx="621792" cy="621792"/>
          </a:xfrm>
          <a:prstGeom prst="rect">
            <a:avLst/>
          </a:prstGeom>
        </p:spPr>
      </p:pic>
      <p:sp>
        <p:nvSpPr>
          <p:cNvPr id="7" name="Text 4"/>
          <p:cNvSpPr txBox="1"/>
          <p:nvPr/>
        </p:nvSpPr>
        <p:spPr>
          <a:xfrm>
            <a:off x="4453128" y="4366260"/>
            <a:ext cx="3291840" cy="292608"/>
          </a:xfrm>
          <a:prstGeom prst="rect">
            <a:avLst/>
          </a:prstGeom>
          <a:noFill/>
          <a:ln/>
        </p:spPr>
        <p:txBody>
          <a:bodyPr wrap="square" lIns="0" tIns="0" rIns="0" bIns="0" rtlCol="0" anchor="ctr"/>
          <a:lstStyle/>
          <a:p>
            <a:pPr marL="0" indent="0" algn="ctr">
              <a:buNone/>
            </a:pPr>
            <a:r>
              <a:rPr lang="en-US" sz="1200" i="1" dirty="0">
                <a:solidFill>
                  <a:srgbClr val="A7ABB4"/>
                </a:solidFill>
                <a:latin typeface="Calibri" pitchFamily="34" charset="0"/>
                <a:ea typeface="Calibri" pitchFamily="34" charset="-122"/>
                <a:cs typeface="Calibri" pitchFamily="34" charset="-120"/>
              </a:rPr>
              <a:t>Chèn ảnh giao diện tại đây</a:t>
            </a:r>
            <a:endParaRPr lang="en-US" sz="1200" dirty="0"/>
          </a:p>
        </p:txBody>
      </p:sp>
      <p:sp>
        <p:nvSpPr>
          <p:cNvPr id="8" name="Text 5"/>
          <p:cNvSpPr txBox="1"/>
          <p:nvPr/>
        </p:nvSpPr>
        <p:spPr>
          <a:xfrm>
            <a:off x="4453128" y="5806440"/>
            <a:ext cx="32918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Daily Reminder Pop-up</a:t>
            </a:r>
            <a:endParaRPr lang="en-US" sz="1300" dirty="0"/>
          </a:p>
        </p:txBody>
      </p:sp>
      <p:sp>
        <p:nvSpPr>
          <p:cNvPr id="9" name="Text 6"/>
          <p:cNvSpPr txBox="1"/>
          <p:nvPr/>
        </p:nvSpPr>
        <p:spPr>
          <a:xfrm>
            <a:off x="457200" y="6528816"/>
            <a:ext cx="6400800" cy="274320"/>
          </a:xfrm>
          <a:prstGeom prst="rect">
            <a:avLst/>
          </a:prstGeom>
          <a:noFill/>
          <a:ln/>
        </p:spPr>
        <p:txBody>
          <a:bodyPr wrap="square" lIns="0" tIns="0" rIns="0" bIns="0" rtlCol="0" anchor="ctr"/>
          <a:lstStyle/>
          <a:p>
            <a:pPr marL="0" indent="0" algn="l">
              <a:buNone/>
            </a:pPr>
            <a:r>
              <a:rPr lang="en-US" sz="900" kern="0" spc="100" dirty="0">
                <a:solidFill>
                  <a:srgbClr val="A7ABB4"/>
                </a:solidFill>
                <a:latin typeface="Calibri" pitchFamily="34" charset="0"/>
                <a:ea typeface="Calibri" pitchFamily="34" charset="-122"/>
                <a:cs typeface="Calibri" pitchFamily="34" charset="-120"/>
              </a:rPr>
              <a:t>ỨNG DỤNG CHESS GAME TRÊN ANDROID</a:t>
            </a:r>
            <a:endParaRPr lang="en-US" sz="900" dirty="0"/>
          </a:p>
        </p:txBody>
      </p:sp>
      <p:sp>
        <p:nvSpPr>
          <p:cNvPr id="10" name="Text 7"/>
          <p:cNvSpPr txBox="1"/>
          <p:nvPr/>
        </p:nvSpPr>
        <p:spPr>
          <a:xfrm>
            <a:off x="11338560" y="6528816"/>
            <a:ext cx="457200" cy="274320"/>
          </a:xfrm>
          <a:prstGeom prst="rect">
            <a:avLst/>
          </a:prstGeom>
          <a:noFill/>
          <a:ln/>
        </p:spPr>
        <p:txBody>
          <a:bodyPr wrap="square" lIns="0" tIns="0" rIns="0" bIns="0" rtlCol="0" anchor="ctr"/>
          <a:lstStyle/>
          <a:p>
            <a:pPr marL="0" indent="0" algn="r">
              <a:buNone/>
            </a:pPr>
            <a:r>
              <a:rPr lang="en-US" sz="900" dirty="0">
                <a:solidFill>
                  <a:srgbClr val="A7ABB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2025"/>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marL="0" indent="0">
              <a:buNone/>
            </a:pPr>
            <a:r>
              <a:rPr lang="en-US" sz="1300" b="1" kern="0" spc="200" dirty="0">
                <a:solidFill>
                  <a:srgbClr val="D4AF37"/>
                </a:solidFill>
                <a:latin typeface="Calibri" pitchFamily="34" charset="0"/>
                <a:ea typeface="Calibri" pitchFamily="34" charset="-122"/>
                <a:cs typeface="Calibri" pitchFamily="34" charset="-120"/>
              </a:rPr>
              <a:t>PHẦN 05</a:t>
            </a:r>
            <a:endParaRPr lang="en-US" sz="1300" dirty="0"/>
          </a:p>
        </p:txBody>
      </p:sp>
      <p:sp>
        <p:nvSpPr>
          <p:cNvPr id="3" name="Text 1"/>
          <p:cNvSpPr txBox="1"/>
          <p:nvPr/>
        </p:nvSpPr>
        <p:spPr>
          <a:xfrm>
            <a:off x="621792" y="768096"/>
            <a:ext cx="10881360" cy="658368"/>
          </a:xfrm>
          <a:prstGeom prst="rect">
            <a:avLst/>
          </a:prstGeom>
          <a:noFill/>
          <a:ln/>
        </p:spPr>
        <p:txBody>
          <a:bodyPr wrap="square" lIns="0" tIns="0" rIns="0" bIns="0" rtlCol="0" anchor="ctr"/>
          <a:lstStyle/>
          <a:p>
            <a:pPr marL="0" indent="0">
              <a:buNone/>
            </a:pPr>
            <a:r>
              <a:rPr lang="en-US" sz="3200" b="1" dirty="0" err="1">
                <a:solidFill>
                  <a:srgbClr val="FFFFFF"/>
                </a:solidFill>
                <a:latin typeface="Cambria" pitchFamily="34" charset="0"/>
                <a:ea typeface="Cambria" pitchFamily="34" charset="-122"/>
                <a:cs typeface="Cambria" pitchFamily="34" charset="-120"/>
              </a:rPr>
              <a:t>Tổng</a:t>
            </a:r>
            <a:r>
              <a:rPr lang="en-US" sz="3200" b="1" dirty="0">
                <a:solidFill>
                  <a:srgbClr val="FFFFFF"/>
                </a:solidFill>
                <a:latin typeface="Cambria" pitchFamily="34" charset="0"/>
                <a:ea typeface="Cambria" pitchFamily="34" charset="-122"/>
                <a:cs typeface="Cambria" pitchFamily="34" charset="-120"/>
              </a:rPr>
              <a:t> </a:t>
            </a:r>
            <a:r>
              <a:rPr lang="en-US" sz="3200" b="1" dirty="0" err="1">
                <a:solidFill>
                  <a:srgbClr val="FFFFFF"/>
                </a:solidFill>
                <a:latin typeface="Cambria" pitchFamily="34" charset="0"/>
                <a:ea typeface="Cambria" pitchFamily="34" charset="-122"/>
                <a:cs typeface="Cambria" pitchFamily="34" charset="-120"/>
              </a:rPr>
              <a:t>kết</a:t>
            </a:r>
            <a:r>
              <a:rPr lang="en-US" sz="3200" b="1" dirty="0">
                <a:solidFill>
                  <a:srgbClr val="FFFFFF"/>
                </a:solidFill>
                <a:latin typeface="Cambria" pitchFamily="34" charset="0"/>
                <a:ea typeface="Cambria" pitchFamily="34" charset="-122"/>
                <a:cs typeface="Cambria" pitchFamily="34" charset="-120"/>
              </a:rPr>
              <a:t> </a:t>
            </a:r>
            <a:r>
              <a:rPr lang="en-US" sz="3200" b="1" dirty="0" err="1">
                <a:solidFill>
                  <a:srgbClr val="FFFFFF"/>
                </a:solidFill>
                <a:latin typeface="Cambria" pitchFamily="34" charset="0"/>
                <a:ea typeface="Cambria" pitchFamily="34" charset="-122"/>
                <a:cs typeface="Cambria" pitchFamily="34" charset="-120"/>
              </a:rPr>
              <a:t>đánh</a:t>
            </a:r>
            <a:r>
              <a:rPr lang="en-US" sz="3200" b="1" dirty="0">
                <a:solidFill>
                  <a:srgbClr val="FFFFFF"/>
                </a:solidFill>
                <a:latin typeface="Cambria" pitchFamily="34" charset="0"/>
                <a:ea typeface="Cambria" pitchFamily="34" charset="-122"/>
                <a:cs typeface="Cambria" pitchFamily="34" charset="-120"/>
              </a:rPr>
              <a:t> </a:t>
            </a:r>
            <a:r>
              <a:rPr lang="en-US" sz="3200" b="1" dirty="0" err="1">
                <a:solidFill>
                  <a:srgbClr val="FFFFFF"/>
                </a:solidFill>
                <a:latin typeface="Cambria" pitchFamily="34" charset="0"/>
                <a:ea typeface="Cambria" pitchFamily="34" charset="-122"/>
                <a:cs typeface="Cambria" pitchFamily="34" charset="-120"/>
              </a:rPr>
              <a:t>giá</a:t>
            </a:r>
            <a:endParaRPr lang="en-US" sz="3200" dirty="0"/>
          </a:p>
        </p:txBody>
      </p:sp>
      <p:sp>
        <p:nvSpPr>
          <p:cNvPr id="4" name="Shape 2"/>
          <p:cNvSpPr/>
          <p:nvPr/>
        </p:nvSpPr>
        <p:spPr>
          <a:xfrm>
            <a:off x="640080" y="1828800"/>
            <a:ext cx="10881360" cy="1234440"/>
          </a:xfrm>
          <a:prstGeom prst="roundRect">
            <a:avLst>
              <a:gd name="adj" fmla="val 8889"/>
            </a:avLst>
          </a:prstGeom>
          <a:solidFill>
            <a:srgbClr val="292B31"/>
          </a:solidFill>
          <a:ln/>
        </p:spPr>
        <p:txBody>
          <a:bodyPr/>
          <a:lstStyle/>
          <a:p>
            <a:endParaRPr lang="en-US"/>
          </a:p>
        </p:txBody>
      </p:sp>
      <p:sp>
        <p:nvSpPr>
          <p:cNvPr id="5" name="Shape 3"/>
          <p:cNvSpPr/>
          <p:nvPr/>
        </p:nvSpPr>
        <p:spPr>
          <a:xfrm>
            <a:off x="896112" y="2157984"/>
            <a:ext cx="566928" cy="566928"/>
          </a:xfrm>
          <a:prstGeom prst="ellipse">
            <a:avLst/>
          </a:prstGeom>
          <a:solidFill>
            <a:srgbClr val="1F2025"/>
          </a:solidFill>
          <a:ln w="15875">
            <a:solidFill>
              <a:srgbClr val="D4AF37"/>
            </a:solidFill>
            <a:prstDash val="solid"/>
          </a:ln>
        </p:spPr>
        <p:txBody>
          <a:bodyPr/>
          <a:lstStyle/>
          <a:p>
            <a:endParaRPr lang="en-US"/>
          </a:p>
        </p:txBody>
      </p:sp>
      <p:pic>
        <p:nvPicPr>
          <p:cNvPr id="6" name="Image 0" descr="/home/claude/icons/check.png"/>
          <p:cNvPicPr>
            <a:picLocks noChangeAspect="1"/>
          </p:cNvPicPr>
          <p:nvPr/>
        </p:nvPicPr>
        <p:blipFill>
          <a:blip r:embed="rId3"/>
          <a:stretch>
            <a:fillRect/>
          </a:stretch>
        </p:blipFill>
        <p:spPr>
          <a:xfrm>
            <a:off x="1051560" y="2304288"/>
            <a:ext cx="274320" cy="274320"/>
          </a:xfrm>
          <a:prstGeom prst="rect">
            <a:avLst/>
          </a:prstGeom>
        </p:spPr>
      </p:pic>
      <p:sp>
        <p:nvSpPr>
          <p:cNvPr id="7" name="Text 4"/>
          <p:cNvSpPr txBox="1"/>
          <p:nvPr/>
        </p:nvSpPr>
        <p:spPr>
          <a:xfrm>
            <a:off x="1783080" y="1993392"/>
            <a:ext cx="905256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Ứng dụng hoàn chỉnh</a:t>
            </a:r>
            <a:endParaRPr lang="en-US" sz="1500" dirty="0"/>
          </a:p>
        </p:txBody>
      </p:sp>
      <p:sp>
        <p:nvSpPr>
          <p:cNvPr id="8" name="Text 5"/>
          <p:cNvSpPr txBox="1"/>
          <p:nvPr/>
        </p:nvSpPr>
        <p:spPr>
          <a:xfrm>
            <a:off x="1783080" y="2340864"/>
            <a:ext cx="9052560" cy="594360"/>
          </a:xfrm>
          <a:prstGeom prst="rect">
            <a:avLst/>
          </a:prstGeom>
          <a:noFill/>
          <a:ln/>
        </p:spPr>
        <p:txBody>
          <a:bodyPr wrap="square" lIns="0" tIns="0" rIns="0" bIns="0" rtlCol="0" anchor="ctr"/>
          <a:lstStyle/>
          <a:p>
            <a:pPr marL="0" indent="0">
              <a:lnSpc>
                <a:spcPct val="118000"/>
              </a:lnSpc>
              <a:buNone/>
            </a:pPr>
            <a:r>
              <a:rPr lang="en-US" sz="1200" dirty="0">
                <a:solidFill>
                  <a:srgbClr val="A7ABB4"/>
                </a:solidFill>
                <a:latin typeface="Calibri" pitchFamily="34" charset="0"/>
                <a:ea typeface="Calibri" pitchFamily="34" charset="-122"/>
                <a:cs typeface="Calibri" pitchFamily="34" charset="-120"/>
              </a:rPr>
              <a:t>Xây dựng thành công một Game Cờ Vua trên Android với giao diện đẹp mắt, mượt mà.</a:t>
            </a:r>
            <a:endParaRPr lang="en-US" sz="1200" dirty="0"/>
          </a:p>
        </p:txBody>
      </p:sp>
      <p:sp>
        <p:nvSpPr>
          <p:cNvPr id="9" name="Shape 6"/>
          <p:cNvSpPr/>
          <p:nvPr/>
        </p:nvSpPr>
        <p:spPr>
          <a:xfrm>
            <a:off x="640080" y="3246120"/>
            <a:ext cx="10881360" cy="1234440"/>
          </a:xfrm>
          <a:prstGeom prst="roundRect">
            <a:avLst>
              <a:gd name="adj" fmla="val 8889"/>
            </a:avLst>
          </a:prstGeom>
          <a:solidFill>
            <a:srgbClr val="292B31"/>
          </a:solidFill>
          <a:ln/>
        </p:spPr>
        <p:txBody>
          <a:bodyPr/>
          <a:lstStyle/>
          <a:p>
            <a:endParaRPr lang="en-US"/>
          </a:p>
        </p:txBody>
      </p:sp>
      <p:sp>
        <p:nvSpPr>
          <p:cNvPr id="10" name="Shape 7"/>
          <p:cNvSpPr/>
          <p:nvPr/>
        </p:nvSpPr>
        <p:spPr>
          <a:xfrm>
            <a:off x="896112" y="3575304"/>
            <a:ext cx="566928" cy="566928"/>
          </a:xfrm>
          <a:prstGeom prst="ellipse">
            <a:avLst/>
          </a:prstGeom>
          <a:solidFill>
            <a:srgbClr val="1F2025"/>
          </a:solidFill>
          <a:ln w="15875">
            <a:solidFill>
              <a:srgbClr val="D4AF37"/>
            </a:solidFill>
            <a:prstDash val="solid"/>
          </a:ln>
        </p:spPr>
        <p:txBody>
          <a:bodyPr/>
          <a:lstStyle/>
          <a:p>
            <a:endParaRPr lang="en-US"/>
          </a:p>
        </p:txBody>
      </p:sp>
      <p:pic>
        <p:nvPicPr>
          <p:cNvPr id="11" name="Image 1" descr="/home/claude/icons/shield.png"/>
          <p:cNvPicPr>
            <a:picLocks noChangeAspect="1"/>
          </p:cNvPicPr>
          <p:nvPr/>
        </p:nvPicPr>
        <p:blipFill>
          <a:blip r:embed="rId4"/>
          <a:stretch>
            <a:fillRect/>
          </a:stretch>
        </p:blipFill>
        <p:spPr>
          <a:xfrm>
            <a:off x="1051560" y="3721608"/>
            <a:ext cx="274320" cy="274320"/>
          </a:xfrm>
          <a:prstGeom prst="rect">
            <a:avLst/>
          </a:prstGeom>
        </p:spPr>
      </p:pic>
      <p:sp>
        <p:nvSpPr>
          <p:cNvPr id="12" name="Text 8"/>
          <p:cNvSpPr txBox="1"/>
          <p:nvPr/>
        </p:nvSpPr>
        <p:spPr>
          <a:xfrm>
            <a:off x="1783080" y="3410712"/>
            <a:ext cx="905256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Engine chính xác tuyệt đối</a:t>
            </a:r>
            <a:endParaRPr lang="en-US" sz="1500" dirty="0"/>
          </a:p>
        </p:txBody>
      </p:sp>
      <p:sp>
        <p:nvSpPr>
          <p:cNvPr id="13" name="Text 9"/>
          <p:cNvSpPr txBox="1"/>
          <p:nvPr/>
        </p:nvSpPr>
        <p:spPr>
          <a:xfrm>
            <a:off x="1783080" y="3758184"/>
            <a:ext cx="9052560" cy="594360"/>
          </a:xfrm>
          <a:prstGeom prst="rect">
            <a:avLst/>
          </a:prstGeom>
          <a:noFill/>
          <a:ln/>
        </p:spPr>
        <p:txBody>
          <a:bodyPr wrap="square" lIns="0" tIns="0" rIns="0" bIns="0" rtlCol="0" anchor="ctr"/>
          <a:lstStyle/>
          <a:p>
            <a:pPr marL="0" indent="0">
              <a:lnSpc>
                <a:spcPct val="118000"/>
              </a:lnSpc>
              <a:buNone/>
            </a:pPr>
            <a:r>
              <a:rPr lang="en-US" sz="1200" dirty="0">
                <a:solidFill>
                  <a:srgbClr val="A7ABB4"/>
                </a:solidFill>
                <a:latin typeface="Calibri" pitchFamily="34" charset="0"/>
                <a:ea typeface="Calibri" pitchFamily="34" charset="-122"/>
                <a:cs typeface="Calibri" pitchFamily="34" charset="-120"/>
              </a:rPr>
              <a:t>Hệ thống Engine tự code 100% bằng Java, bao quát toàn bộ luật cờ phức tạp nhất: En Passant, Castling, Stalemate.</a:t>
            </a:r>
            <a:endParaRPr lang="en-US" sz="1200" dirty="0"/>
          </a:p>
        </p:txBody>
      </p:sp>
      <p:sp>
        <p:nvSpPr>
          <p:cNvPr id="14" name="Shape 10"/>
          <p:cNvSpPr/>
          <p:nvPr/>
        </p:nvSpPr>
        <p:spPr>
          <a:xfrm>
            <a:off x="640080" y="4663440"/>
            <a:ext cx="10881360" cy="1234440"/>
          </a:xfrm>
          <a:prstGeom prst="roundRect">
            <a:avLst>
              <a:gd name="adj" fmla="val 8889"/>
            </a:avLst>
          </a:prstGeom>
          <a:solidFill>
            <a:srgbClr val="292B31"/>
          </a:solidFill>
          <a:ln/>
        </p:spPr>
        <p:txBody>
          <a:bodyPr/>
          <a:lstStyle/>
          <a:p>
            <a:endParaRPr lang="en-US"/>
          </a:p>
        </p:txBody>
      </p:sp>
      <p:sp>
        <p:nvSpPr>
          <p:cNvPr id="15" name="Shape 11"/>
          <p:cNvSpPr/>
          <p:nvPr/>
        </p:nvSpPr>
        <p:spPr>
          <a:xfrm>
            <a:off x="896112" y="4992624"/>
            <a:ext cx="566928" cy="566928"/>
          </a:xfrm>
          <a:prstGeom prst="ellipse">
            <a:avLst/>
          </a:prstGeom>
          <a:solidFill>
            <a:srgbClr val="1F2025"/>
          </a:solidFill>
          <a:ln w="15875">
            <a:solidFill>
              <a:srgbClr val="D4AF37"/>
            </a:solidFill>
            <a:prstDash val="solid"/>
          </a:ln>
        </p:spPr>
        <p:txBody>
          <a:bodyPr/>
          <a:lstStyle/>
          <a:p>
            <a:endParaRPr lang="en-US"/>
          </a:p>
        </p:txBody>
      </p:sp>
      <p:pic>
        <p:nvPicPr>
          <p:cNvPr id="16" name="Image 2" descr="/home/claude/icons/sitemap.png"/>
          <p:cNvPicPr>
            <a:picLocks noChangeAspect="1"/>
          </p:cNvPicPr>
          <p:nvPr/>
        </p:nvPicPr>
        <p:blipFill>
          <a:blip r:embed="rId5"/>
          <a:stretch>
            <a:fillRect/>
          </a:stretch>
        </p:blipFill>
        <p:spPr>
          <a:xfrm>
            <a:off x="1051560" y="5138928"/>
            <a:ext cx="274320" cy="274320"/>
          </a:xfrm>
          <a:prstGeom prst="rect">
            <a:avLst/>
          </a:prstGeom>
        </p:spPr>
      </p:pic>
      <p:sp>
        <p:nvSpPr>
          <p:cNvPr id="17" name="Text 12"/>
          <p:cNvSpPr txBox="1"/>
          <p:nvPr/>
        </p:nvSpPr>
        <p:spPr>
          <a:xfrm>
            <a:off x="1783080" y="4828032"/>
            <a:ext cx="905256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Kiến trúc chuẩn mực</a:t>
            </a:r>
            <a:endParaRPr lang="en-US" sz="1500" dirty="0"/>
          </a:p>
        </p:txBody>
      </p:sp>
      <p:sp>
        <p:nvSpPr>
          <p:cNvPr id="18" name="Text 13"/>
          <p:cNvSpPr txBox="1"/>
          <p:nvPr/>
        </p:nvSpPr>
        <p:spPr>
          <a:xfrm>
            <a:off x="1783080" y="5175504"/>
            <a:ext cx="9052560" cy="594360"/>
          </a:xfrm>
          <a:prstGeom prst="rect">
            <a:avLst/>
          </a:prstGeom>
          <a:noFill/>
          <a:ln/>
        </p:spPr>
        <p:txBody>
          <a:bodyPr wrap="square" lIns="0" tIns="0" rIns="0" bIns="0" rtlCol="0" anchor="ctr"/>
          <a:lstStyle/>
          <a:p>
            <a:pPr marL="0" indent="0">
              <a:lnSpc>
                <a:spcPct val="118000"/>
              </a:lnSpc>
              <a:buNone/>
            </a:pPr>
            <a:r>
              <a:rPr lang="en-US" sz="1200" dirty="0">
                <a:solidFill>
                  <a:srgbClr val="A7ABB4"/>
                </a:solidFill>
                <a:latin typeface="Calibri" pitchFamily="34" charset="0"/>
                <a:ea typeface="Calibri" pitchFamily="34" charset="-122"/>
                <a:cs typeface="Calibri" pitchFamily="34" charset="-120"/>
              </a:rPr>
              <a:t>Mã nguồn tách biệt hoàn toàn giữa giao diện và thuật toán cốt lõi, dễ bảo trì và mở rộng.</a:t>
            </a:r>
            <a:endParaRPr lang="en-US" sz="1200" dirty="0"/>
          </a:p>
        </p:txBody>
      </p:sp>
      <p:sp>
        <p:nvSpPr>
          <p:cNvPr id="19" name="Text 14"/>
          <p:cNvSpPr txBox="1"/>
          <p:nvPr/>
        </p:nvSpPr>
        <p:spPr>
          <a:xfrm>
            <a:off x="457200" y="6528816"/>
            <a:ext cx="6400800" cy="274320"/>
          </a:xfrm>
          <a:prstGeom prst="rect">
            <a:avLst/>
          </a:prstGeom>
          <a:noFill/>
          <a:ln/>
        </p:spPr>
        <p:txBody>
          <a:bodyPr wrap="square" lIns="0" tIns="0" rIns="0" bIns="0" rtlCol="0" anchor="ctr"/>
          <a:lstStyle/>
          <a:p>
            <a:pPr marL="0" indent="0" algn="l">
              <a:buNone/>
            </a:pPr>
            <a:r>
              <a:rPr lang="en-US" sz="900" kern="0" spc="100" dirty="0">
                <a:solidFill>
                  <a:srgbClr val="A7ABB4"/>
                </a:solidFill>
                <a:latin typeface="Calibri" pitchFamily="34" charset="0"/>
                <a:ea typeface="Calibri" pitchFamily="34" charset="-122"/>
                <a:cs typeface="Calibri" pitchFamily="34" charset="-120"/>
              </a:rPr>
              <a:t>ỨNG DỤNG CHESS GAME TRÊN ANDROID</a:t>
            </a:r>
            <a:endParaRPr lang="en-US" sz="900" dirty="0"/>
          </a:p>
        </p:txBody>
      </p:sp>
      <p:sp>
        <p:nvSpPr>
          <p:cNvPr id="20" name="Text 15"/>
          <p:cNvSpPr txBox="1"/>
          <p:nvPr/>
        </p:nvSpPr>
        <p:spPr>
          <a:xfrm>
            <a:off x="11338560" y="6528816"/>
            <a:ext cx="457200" cy="274320"/>
          </a:xfrm>
          <a:prstGeom prst="rect">
            <a:avLst/>
          </a:prstGeom>
          <a:noFill/>
          <a:ln/>
        </p:spPr>
        <p:txBody>
          <a:bodyPr wrap="square" lIns="0" tIns="0" rIns="0" bIns="0" rtlCol="0" anchor="ctr"/>
          <a:lstStyle/>
          <a:p>
            <a:pPr marL="0" indent="0" algn="r">
              <a:buNone/>
            </a:pPr>
            <a:r>
              <a:rPr lang="en-US" sz="900" dirty="0">
                <a:solidFill>
                  <a:srgbClr val="A7ABB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2025"/>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marL="0" indent="0">
              <a:buNone/>
            </a:pPr>
            <a:r>
              <a:rPr lang="en-US" sz="1300" b="1" kern="0" spc="200" dirty="0">
                <a:solidFill>
                  <a:srgbClr val="D4AF37"/>
                </a:solidFill>
                <a:latin typeface="Calibri" pitchFamily="34" charset="0"/>
                <a:ea typeface="Calibri" pitchFamily="34" charset="-122"/>
                <a:cs typeface="Calibri" pitchFamily="34" charset="-120"/>
              </a:rPr>
              <a:t>PHẦN 05</a:t>
            </a:r>
            <a:endParaRPr lang="en-US" sz="1300" dirty="0"/>
          </a:p>
        </p:txBody>
      </p:sp>
      <p:sp>
        <p:nvSpPr>
          <p:cNvPr id="3" name="Text 1"/>
          <p:cNvSpPr txBox="1"/>
          <p:nvPr/>
        </p:nvSpPr>
        <p:spPr>
          <a:xfrm>
            <a:off x="621792" y="768096"/>
            <a:ext cx="1088136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Hướng phát triển</a:t>
            </a:r>
            <a:endParaRPr lang="en-US" sz="3200" dirty="0"/>
          </a:p>
        </p:txBody>
      </p:sp>
      <p:sp>
        <p:nvSpPr>
          <p:cNvPr id="4" name="Text 2"/>
          <p:cNvSpPr txBox="1"/>
          <p:nvPr/>
        </p:nvSpPr>
        <p:spPr>
          <a:xfrm>
            <a:off x="640080" y="1783080"/>
            <a:ext cx="2587752" cy="502920"/>
          </a:xfrm>
          <a:prstGeom prst="rect">
            <a:avLst/>
          </a:prstGeom>
          <a:noFill/>
          <a:ln/>
        </p:spPr>
        <p:txBody>
          <a:bodyPr wrap="square" lIns="0" tIns="0" rIns="0" bIns="0" rtlCol="0" anchor="ctr"/>
          <a:lstStyle/>
          <a:p>
            <a:pPr marL="0" indent="0">
              <a:buNone/>
            </a:pPr>
            <a:r>
              <a:rPr lang="en-US" sz="2600" b="1" dirty="0">
                <a:solidFill>
                  <a:srgbClr val="D4AF37"/>
                </a:solidFill>
                <a:latin typeface="Cambria" pitchFamily="34" charset="0"/>
                <a:ea typeface="Cambria" pitchFamily="34" charset="-122"/>
                <a:cs typeface="Cambria" pitchFamily="34" charset="-120"/>
              </a:rPr>
              <a:t>01</a:t>
            </a:r>
            <a:endParaRPr lang="en-US" sz="2600" dirty="0"/>
          </a:p>
        </p:txBody>
      </p:sp>
      <p:pic>
        <p:nvPicPr>
          <p:cNvPr id="5" name="Image 0" descr="/home/claude/icons/robot.png"/>
          <p:cNvPicPr>
            <a:picLocks noChangeAspect="1"/>
          </p:cNvPicPr>
          <p:nvPr/>
        </p:nvPicPr>
        <p:blipFill>
          <a:blip r:embed="rId3"/>
          <a:stretch>
            <a:fillRect/>
          </a:stretch>
        </p:blipFill>
        <p:spPr>
          <a:xfrm>
            <a:off x="2468880" y="1847088"/>
            <a:ext cx="365760" cy="365760"/>
          </a:xfrm>
          <a:prstGeom prst="rect">
            <a:avLst/>
          </a:prstGeom>
        </p:spPr>
      </p:pic>
      <p:sp>
        <p:nvSpPr>
          <p:cNvPr id="6" name="Shape 3"/>
          <p:cNvSpPr/>
          <p:nvPr/>
        </p:nvSpPr>
        <p:spPr>
          <a:xfrm>
            <a:off x="640080" y="2395728"/>
            <a:ext cx="2587752" cy="0"/>
          </a:xfrm>
          <a:prstGeom prst="line">
            <a:avLst/>
          </a:prstGeom>
          <a:noFill/>
          <a:ln w="12700">
            <a:solidFill>
              <a:srgbClr val="3D404A"/>
            </a:solidFill>
            <a:prstDash val="solid"/>
          </a:ln>
        </p:spPr>
        <p:txBody>
          <a:bodyPr/>
          <a:lstStyle/>
          <a:p>
            <a:endParaRPr lang="en-US"/>
          </a:p>
        </p:txBody>
      </p:sp>
      <p:sp>
        <p:nvSpPr>
          <p:cNvPr id="7" name="Text 4"/>
          <p:cNvSpPr txBox="1"/>
          <p:nvPr/>
        </p:nvSpPr>
        <p:spPr>
          <a:xfrm>
            <a:off x="640080" y="2542032"/>
            <a:ext cx="2587752" cy="594360"/>
          </a:xfrm>
          <a:prstGeom prst="rect">
            <a:avLst/>
          </a:prstGeom>
          <a:noFill/>
          <a:ln/>
        </p:spPr>
        <p:txBody>
          <a:bodyPr wrap="square" lIns="0" tIns="0" rIns="0" bIns="0" rtlCol="0" anchor="ctr"/>
          <a:lstStyle/>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Play with Bot</a:t>
            </a:r>
            <a:endParaRPr lang="en-US" sz="1400" dirty="0"/>
          </a:p>
        </p:txBody>
      </p:sp>
      <p:sp>
        <p:nvSpPr>
          <p:cNvPr id="8" name="Text 5"/>
          <p:cNvSpPr txBox="1"/>
          <p:nvPr/>
        </p:nvSpPr>
        <p:spPr>
          <a:xfrm>
            <a:off x="640080" y="3127248"/>
            <a:ext cx="2587752" cy="2468880"/>
          </a:xfrm>
          <a:prstGeom prst="rect">
            <a:avLst/>
          </a:prstGeom>
          <a:noFill/>
          <a:ln/>
        </p:spPr>
        <p:txBody>
          <a:bodyPr wrap="square" lIns="0" tIns="0" rIns="0" bIns="0" rtlCol="0" anchor="ctr"/>
          <a:lstStyle/>
          <a:p>
            <a:pPr marL="0" indent="0">
              <a:lnSpc>
                <a:spcPct val="125000"/>
              </a:lnSpc>
              <a:buNone/>
            </a:pPr>
            <a:r>
              <a:rPr lang="en-US" sz="1080" dirty="0">
                <a:solidFill>
                  <a:srgbClr val="A7ABB4"/>
                </a:solidFill>
                <a:latin typeface="Calibri" pitchFamily="34" charset="0"/>
                <a:ea typeface="Calibri" pitchFamily="34" charset="-122"/>
                <a:cs typeface="Calibri" pitchFamily="34" charset="-120"/>
              </a:rPr>
              <a:t>Kết nối &amp; kích hoạt ChessBotApiClient — gửi trạng thái bàn cờ (FEN) lên server, nhận nước đi tốt nhất từ Stockfish hoặc AI tự phát triển.</a:t>
            </a:r>
            <a:endParaRPr lang="en-US" sz="1080" dirty="0"/>
          </a:p>
        </p:txBody>
      </p:sp>
      <p:sp>
        <p:nvSpPr>
          <p:cNvPr id="9" name="Text 6"/>
          <p:cNvSpPr txBox="1"/>
          <p:nvPr/>
        </p:nvSpPr>
        <p:spPr>
          <a:xfrm>
            <a:off x="3456432" y="1783080"/>
            <a:ext cx="2587752" cy="502920"/>
          </a:xfrm>
          <a:prstGeom prst="rect">
            <a:avLst/>
          </a:prstGeom>
          <a:noFill/>
          <a:ln/>
        </p:spPr>
        <p:txBody>
          <a:bodyPr wrap="square" lIns="0" tIns="0" rIns="0" bIns="0" rtlCol="0" anchor="ctr"/>
          <a:lstStyle/>
          <a:p>
            <a:pPr marL="0" indent="0">
              <a:buNone/>
            </a:pPr>
            <a:r>
              <a:rPr lang="en-US" sz="2600" b="1" dirty="0">
                <a:solidFill>
                  <a:srgbClr val="D4AF37"/>
                </a:solidFill>
                <a:latin typeface="Cambria" pitchFamily="34" charset="0"/>
                <a:ea typeface="Cambria" pitchFamily="34" charset="-122"/>
                <a:cs typeface="Cambria" pitchFamily="34" charset="-120"/>
              </a:rPr>
              <a:t>02</a:t>
            </a:r>
            <a:endParaRPr lang="en-US" sz="2600" dirty="0"/>
          </a:p>
        </p:txBody>
      </p:sp>
      <p:pic>
        <p:nvPicPr>
          <p:cNvPr id="10" name="Image 1" descr="/home/claude/icons/wifi.png"/>
          <p:cNvPicPr>
            <a:picLocks noChangeAspect="1"/>
          </p:cNvPicPr>
          <p:nvPr/>
        </p:nvPicPr>
        <p:blipFill>
          <a:blip r:embed="rId4"/>
          <a:stretch>
            <a:fillRect/>
          </a:stretch>
        </p:blipFill>
        <p:spPr>
          <a:xfrm>
            <a:off x="5285232" y="1847088"/>
            <a:ext cx="365760" cy="365760"/>
          </a:xfrm>
          <a:prstGeom prst="rect">
            <a:avLst/>
          </a:prstGeom>
        </p:spPr>
      </p:pic>
      <p:sp>
        <p:nvSpPr>
          <p:cNvPr id="11" name="Shape 7"/>
          <p:cNvSpPr/>
          <p:nvPr/>
        </p:nvSpPr>
        <p:spPr>
          <a:xfrm>
            <a:off x="3456432" y="2395728"/>
            <a:ext cx="2587752" cy="0"/>
          </a:xfrm>
          <a:prstGeom prst="line">
            <a:avLst/>
          </a:prstGeom>
          <a:noFill/>
          <a:ln w="12700">
            <a:solidFill>
              <a:srgbClr val="3D404A"/>
            </a:solidFill>
            <a:prstDash val="solid"/>
          </a:ln>
        </p:spPr>
        <p:txBody>
          <a:bodyPr/>
          <a:lstStyle/>
          <a:p>
            <a:endParaRPr lang="en-US"/>
          </a:p>
        </p:txBody>
      </p:sp>
      <p:sp>
        <p:nvSpPr>
          <p:cNvPr id="12" name="Text 8"/>
          <p:cNvSpPr txBox="1"/>
          <p:nvPr/>
        </p:nvSpPr>
        <p:spPr>
          <a:xfrm>
            <a:off x="3456432" y="2542032"/>
            <a:ext cx="2587752" cy="594360"/>
          </a:xfrm>
          <a:prstGeom prst="rect">
            <a:avLst/>
          </a:prstGeom>
          <a:noFill/>
          <a:ln/>
        </p:spPr>
        <p:txBody>
          <a:bodyPr wrap="square" lIns="0" tIns="0" rIns="0" bIns="0" rtlCol="0" anchor="ctr"/>
          <a:lstStyle/>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Multiplayer trực tuyến</a:t>
            </a:r>
            <a:endParaRPr lang="en-US" sz="1400" dirty="0"/>
          </a:p>
        </p:txBody>
      </p:sp>
      <p:sp>
        <p:nvSpPr>
          <p:cNvPr id="13" name="Text 9"/>
          <p:cNvSpPr txBox="1"/>
          <p:nvPr/>
        </p:nvSpPr>
        <p:spPr>
          <a:xfrm>
            <a:off x="3456432" y="3127248"/>
            <a:ext cx="2587752" cy="2468880"/>
          </a:xfrm>
          <a:prstGeom prst="rect">
            <a:avLst/>
          </a:prstGeom>
          <a:noFill/>
          <a:ln/>
        </p:spPr>
        <p:txBody>
          <a:bodyPr wrap="square" lIns="0" tIns="0" rIns="0" bIns="0" rtlCol="0" anchor="ctr"/>
          <a:lstStyle/>
          <a:p>
            <a:pPr marL="0" indent="0">
              <a:lnSpc>
                <a:spcPct val="125000"/>
              </a:lnSpc>
              <a:buNone/>
            </a:pPr>
            <a:r>
              <a:rPr lang="en-US" sz="1080" dirty="0">
                <a:solidFill>
                  <a:srgbClr val="A7ABB4"/>
                </a:solidFill>
                <a:latin typeface="Calibri" pitchFamily="34" charset="0"/>
                <a:ea typeface="Calibri" pitchFamily="34" charset="-122"/>
                <a:cs typeface="Calibri" pitchFamily="34" charset="-120"/>
              </a:rPr>
              <a:t>Tích hợp Firebase Realtime Database hoặc WebSocket để người chơi thi đấu online.</a:t>
            </a:r>
            <a:endParaRPr lang="en-US" sz="1080" dirty="0"/>
          </a:p>
        </p:txBody>
      </p:sp>
      <p:sp>
        <p:nvSpPr>
          <p:cNvPr id="14" name="Text 10"/>
          <p:cNvSpPr txBox="1"/>
          <p:nvPr/>
        </p:nvSpPr>
        <p:spPr>
          <a:xfrm>
            <a:off x="6272784" y="1783080"/>
            <a:ext cx="2587752" cy="502920"/>
          </a:xfrm>
          <a:prstGeom prst="rect">
            <a:avLst/>
          </a:prstGeom>
          <a:noFill/>
          <a:ln/>
        </p:spPr>
        <p:txBody>
          <a:bodyPr wrap="square" lIns="0" tIns="0" rIns="0" bIns="0" rtlCol="0" anchor="ctr"/>
          <a:lstStyle/>
          <a:p>
            <a:pPr marL="0" indent="0">
              <a:buNone/>
            </a:pPr>
            <a:r>
              <a:rPr lang="en-US" sz="2600" b="1" dirty="0">
                <a:solidFill>
                  <a:srgbClr val="D4AF37"/>
                </a:solidFill>
                <a:latin typeface="Cambria" pitchFamily="34" charset="0"/>
                <a:ea typeface="Cambria" pitchFamily="34" charset="-122"/>
                <a:cs typeface="Cambria" pitchFamily="34" charset="-120"/>
              </a:rPr>
              <a:t>03</a:t>
            </a:r>
            <a:endParaRPr lang="en-US" sz="2600" dirty="0"/>
          </a:p>
        </p:txBody>
      </p:sp>
      <p:pic>
        <p:nvPicPr>
          <p:cNvPr id="15" name="Image 2" descr="/home/claude/icons/clock.png"/>
          <p:cNvPicPr>
            <a:picLocks noChangeAspect="1"/>
          </p:cNvPicPr>
          <p:nvPr/>
        </p:nvPicPr>
        <p:blipFill>
          <a:blip r:embed="rId5"/>
          <a:stretch>
            <a:fillRect/>
          </a:stretch>
        </p:blipFill>
        <p:spPr>
          <a:xfrm>
            <a:off x="8101584" y="1847088"/>
            <a:ext cx="365760" cy="365760"/>
          </a:xfrm>
          <a:prstGeom prst="rect">
            <a:avLst/>
          </a:prstGeom>
        </p:spPr>
      </p:pic>
      <p:sp>
        <p:nvSpPr>
          <p:cNvPr id="16" name="Shape 11"/>
          <p:cNvSpPr/>
          <p:nvPr/>
        </p:nvSpPr>
        <p:spPr>
          <a:xfrm>
            <a:off x="6272784" y="2395728"/>
            <a:ext cx="2587752" cy="0"/>
          </a:xfrm>
          <a:prstGeom prst="line">
            <a:avLst/>
          </a:prstGeom>
          <a:noFill/>
          <a:ln w="12700">
            <a:solidFill>
              <a:srgbClr val="3D404A"/>
            </a:solidFill>
            <a:prstDash val="solid"/>
          </a:ln>
        </p:spPr>
        <p:txBody>
          <a:bodyPr/>
          <a:lstStyle/>
          <a:p>
            <a:endParaRPr lang="en-US"/>
          </a:p>
        </p:txBody>
      </p:sp>
      <p:sp>
        <p:nvSpPr>
          <p:cNvPr id="17" name="Text 12"/>
          <p:cNvSpPr txBox="1"/>
          <p:nvPr/>
        </p:nvSpPr>
        <p:spPr>
          <a:xfrm>
            <a:off x="6272784" y="2542032"/>
            <a:ext cx="2587752" cy="594360"/>
          </a:xfrm>
          <a:prstGeom prst="rect">
            <a:avLst/>
          </a:prstGeom>
          <a:noFill/>
          <a:ln/>
        </p:spPr>
        <p:txBody>
          <a:bodyPr wrap="square" lIns="0" tIns="0" rIns="0" bIns="0" rtlCol="0" anchor="ctr"/>
          <a:lstStyle/>
          <a:p>
            <a:pPr marL="0" indent="0">
              <a:lnSpc>
                <a:spcPct val="110000"/>
              </a:lnSpc>
              <a:buNone/>
            </a:pPr>
            <a:r>
              <a:rPr lang="en-US" sz="1400" b="1" dirty="0" err="1">
                <a:solidFill>
                  <a:srgbClr val="FFFFFF"/>
                </a:solidFill>
                <a:latin typeface="Calibri" pitchFamily="34" charset="0"/>
                <a:ea typeface="Calibri" pitchFamily="34" charset="-122"/>
                <a:cs typeface="Calibri" pitchFamily="34" charset="-120"/>
              </a:rPr>
              <a:t>Thể</a:t>
            </a:r>
            <a:r>
              <a:rPr lang="en-US" sz="1400" b="1" dirty="0">
                <a:solidFill>
                  <a:srgbClr val="FFFFFF"/>
                </a:solidFill>
                <a:latin typeface="Calibri" pitchFamily="34" charset="0"/>
                <a:ea typeface="Calibri" pitchFamily="34" charset="-122"/>
                <a:cs typeface="Calibri" pitchFamily="34" charset="-120"/>
              </a:rPr>
              <a:t> </a:t>
            </a:r>
            <a:r>
              <a:rPr lang="en-US" sz="1400" b="1" dirty="0" err="1">
                <a:solidFill>
                  <a:srgbClr val="FFFFFF"/>
                </a:solidFill>
                <a:latin typeface="Calibri" pitchFamily="34" charset="0"/>
                <a:ea typeface="Calibri" pitchFamily="34" charset="-122"/>
                <a:cs typeface="Calibri" pitchFamily="34" charset="-120"/>
              </a:rPr>
              <a:t>thức</a:t>
            </a:r>
            <a:r>
              <a:rPr lang="en-US" sz="1400" b="1" dirty="0">
                <a:solidFill>
                  <a:srgbClr val="FFFFFF"/>
                </a:solidFill>
                <a:latin typeface="Calibri" pitchFamily="34" charset="0"/>
                <a:ea typeface="Calibri" pitchFamily="34" charset="-122"/>
                <a:cs typeface="Calibri" pitchFamily="34" charset="-120"/>
              </a:rPr>
              <a:t> </a:t>
            </a:r>
            <a:r>
              <a:rPr lang="en-US" sz="1400" b="1" dirty="0" err="1">
                <a:solidFill>
                  <a:srgbClr val="FFFFFF"/>
                </a:solidFill>
                <a:latin typeface="Calibri" pitchFamily="34" charset="0"/>
                <a:ea typeface="Calibri" pitchFamily="34" charset="-122"/>
                <a:cs typeface="Calibri" pitchFamily="34" charset="-120"/>
              </a:rPr>
              <a:t>tính</a:t>
            </a:r>
            <a:r>
              <a:rPr lang="en-US" sz="1400" b="1" dirty="0">
                <a:solidFill>
                  <a:srgbClr val="FFFFFF"/>
                </a:solidFill>
                <a:latin typeface="Calibri" pitchFamily="34" charset="0"/>
                <a:ea typeface="Calibri" pitchFamily="34" charset="-122"/>
                <a:cs typeface="Calibri" pitchFamily="34" charset="-120"/>
              </a:rPr>
              <a:t> </a:t>
            </a:r>
            <a:r>
              <a:rPr lang="en-US" sz="1400" b="1" dirty="0" err="1">
                <a:solidFill>
                  <a:srgbClr val="FFFFFF"/>
                </a:solidFill>
                <a:latin typeface="Calibri" pitchFamily="34" charset="0"/>
                <a:ea typeface="Calibri" pitchFamily="34" charset="-122"/>
                <a:cs typeface="Calibri" pitchFamily="34" charset="-120"/>
              </a:rPr>
              <a:t>giờ</a:t>
            </a:r>
            <a:r>
              <a:rPr lang="en-US" sz="1400" b="1" dirty="0">
                <a:solidFill>
                  <a:srgbClr val="FFFFFF"/>
                </a:solidFill>
                <a:latin typeface="Calibri" pitchFamily="34" charset="0"/>
                <a:ea typeface="Calibri" pitchFamily="34" charset="-122"/>
                <a:cs typeface="Calibri" pitchFamily="34" charset="-120"/>
              </a:rPr>
              <a:t> </a:t>
            </a:r>
            <a:r>
              <a:rPr lang="en-US" sz="1400" b="1" dirty="0" err="1">
                <a:solidFill>
                  <a:srgbClr val="FFFFFF"/>
                </a:solidFill>
                <a:latin typeface="Calibri" pitchFamily="34" charset="0"/>
                <a:ea typeface="Calibri" pitchFamily="34" charset="-122"/>
                <a:cs typeface="Calibri" pitchFamily="34" charset="-120"/>
              </a:rPr>
              <a:t>khác</a:t>
            </a:r>
            <a:endParaRPr lang="en-US" sz="1400" dirty="0"/>
          </a:p>
        </p:txBody>
      </p:sp>
      <p:sp>
        <p:nvSpPr>
          <p:cNvPr id="18" name="Text 13"/>
          <p:cNvSpPr txBox="1"/>
          <p:nvPr/>
        </p:nvSpPr>
        <p:spPr>
          <a:xfrm>
            <a:off x="6272784" y="3127248"/>
            <a:ext cx="2587752" cy="2468880"/>
          </a:xfrm>
          <a:prstGeom prst="rect">
            <a:avLst/>
          </a:prstGeom>
          <a:noFill/>
          <a:ln/>
        </p:spPr>
        <p:txBody>
          <a:bodyPr wrap="square" lIns="0" tIns="0" rIns="0" bIns="0" rtlCol="0" anchor="ctr"/>
          <a:lstStyle/>
          <a:p>
            <a:pPr marL="0" indent="0">
              <a:lnSpc>
                <a:spcPct val="125000"/>
              </a:lnSpc>
              <a:buNone/>
            </a:pPr>
            <a:r>
              <a:rPr lang="en-US" sz="1080" dirty="0">
                <a:solidFill>
                  <a:srgbClr val="A7ABB4"/>
                </a:solidFill>
                <a:latin typeface="Calibri" pitchFamily="34" charset="0"/>
                <a:ea typeface="Calibri" pitchFamily="34" charset="-122"/>
                <a:cs typeface="Calibri" pitchFamily="34" charset="-120"/>
              </a:rPr>
              <a:t>Bổ sung </a:t>
            </a:r>
            <a:r>
              <a:rPr lang="en-US" sz="1080" dirty="0" err="1">
                <a:solidFill>
                  <a:srgbClr val="A7ABB4"/>
                </a:solidFill>
                <a:latin typeface="Calibri" pitchFamily="34" charset="0"/>
                <a:ea typeface="Calibri" pitchFamily="34" charset="-122"/>
                <a:cs typeface="Calibri" pitchFamily="34" charset="-120"/>
              </a:rPr>
              <a:t>các</a:t>
            </a:r>
            <a:r>
              <a:rPr lang="en-US" sz="1080" dirty="0">
                <a:solidFill>
                  <a:srgbClr val="A7ABB4"/>
                </a:solidFill>
                <a:latin typeface="Calibri" pitchFamily="34" charset="0"/>
                <a:ea typeface="Calibri" pitchFamily="34" charset="-122"/>
                <a:cs typeface="Calibri" pitchFamily="34" charset="-120"/>
              </a:rPr>
              <a:t> thể thức Rapid, Blitz, Bullet — UI đã có sẵn vùng hiển thị thời gian (10:00).</a:t>
            </a:r>
            <a:endParaRPr lang="en-US" sz="1080" dirty="0"/>
          </a:p>
        </p:txBody>
      </p:sp>
      <p:sp>
        <p:nvSpPr>
          <p:cNvPr id="19" name="Text 14"/>
          <p:cNvSpPr txBox="1"/>
          <p:nvPr/>
        </p:nvSpPr>
        <p:spPr>
          <a:xfrm>
            <a:off x="9089136" y="1783080"/>
            <a:ext cx="2587752" cy="502920"/>
          </a:xfrm>
          <a:prstGeom prst="rect">
            <a:avLst/>
          </a:prstGeom>
          <a:noFill/>
          <a:ln/>
        </p:spPr>
        <p:txBody>
          <a:bodyPr wrap="square" lIns="0" tIns="0" rIns="0" bIns="0" rtlCol="0" anchor="ctr"/>
          <a:lstStyle/>
          <a:p>
            <a:pPr marL="0" indent="0">
              <a:buNone/>
            </a:pPr>
            <a:r>
              <a:rPr lang="en-US" sz="2600" b="1" dirty="0">
                <a:solidFill>
                  <a:srgbClr val="D4AF37"/>
                </a:solidFill>
                <a:latin typeface="Cambria" pitchFamily="34" charset="0"/>
                <a:ea typeface="Cambria" pitchFamily="34" charset="-122"/>
                <a:cs typeface="Cambria" pitchFamily="34" charset="-120"/>
              </a:rPr>
              <a:t>04</a:t>
            </a:r>
            <a:endParaRPr lang="en-US" sz="2600" dirty="0"/>
          </a:p>
        </p:txBody>
      </p:sp>
      <p:pic>
        <p:nvPicPr>
          <p:cNvPr id="20" name="Image 3" descr="/home/claude/icons/palette.png"/>
          <p:cNvPicPr>
            <a:picLocks noChangeAspect="1"/>
          </p:cNvPicPr>
          <p:nvPr/>
        </p:nvPicPr>
        <p:blipFill>
          <a:blip r:embed="rId6"/>
          <a:stretch>
            <a:fillRect/>
          </a:stretch>
        </p:blipFill>
        <p:spPr>
          <a:xfrm>
            <a:off x="10917936" y="1847088"/>
            <a:ext cx="365760" cy="365760"/>
          </a:xfrm>
          <a:prstGeom prst="rect">
            <a:avLst/>
          </a:prstGeom>
        </p:spPr>
      </p:pic>
      <p:sp>
        <p:nvSpPr>
          <p:cNvPr id="21" name="Shape 15"/>
          <p:cNvSpPr/>
          <p:nvPr/>
        </p:nvSpPr>
        <p:spPr>
          <a:xfrm>
            <a:off x="9089136" y="2395728"/>
            <a:ext cx="2587752" cy="0"/>
          </a:xfrm>
          <a:prstGeom prst="line">
            <a:avLst/>
          </a:prstGeom>
          <a:noFill/>
          <a:ln w="12700">
            <a:solidFill>
              <a:srgbClr val="3D404A"/>
            </a:solidFill>
            <a:prstDash val="solid"/>
          </a:ln>
        </p:spPr>
        <p:txBody>
          <a:bodyPr/>
          <a:lstStyle/>
          <a:p>
            <a:endParaRPr lang="en-US"/>
          </a:p>
        </p:txBody>
      </p:sp>
      <p:sp>
        <p:nvSpPr>
          <p:cNvPr id="22" name="Text 16"/>
          <p:cNvSpPr txBox="1"/>
          <p:nvPr/>
        </p:nvSpPr>
        <p:spPr>
          <a:xfrm>
            <a:off x="9089136" y="2542032"/>
            <a:ext cx="2587752" cy="594360"/>
          </a:xfrm>
          <a:prstGeom prst="rect">
            <a:avLst/>
          </a:prstGeom>
          <a:noFill/>
          <a:ln/>
        </p:spPr>
        <p:txBody>
          <a:bodyPr wrap="square" lIns="0" tIns="0" rIns="0" bIns="0" rtlCol="0" anchor="ctr"/>
          <a:lstStyle/>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Tùy biến </a:t>
            </a:r>
            <a:r>
              <a:rPr lang="en-US" sz="1400" b="1" dirty="0" err="1">
                <a:solidFill>
                  <a:srgbClr val="FFFFFF"/>
                </a:solidFill>
                <a:latin typeface="Calibri" pitchFamily="34" charset="0"/>
                <a:ea typeface="Calibri" pitchFamily="34" charset="-122"/>
                <a:cs typeface="Calibri" pitchFamily="34" charset="-120"/>
              </a:rPr>
              <a:t>giao</a:t>
            </a:r>
            <a:r>
              <a:rPr lang="en-US" sz="1400" b="1" dirty="0">
                <a:solidFill>
                  <a:srgbClr val="FFFFFF"/>
                </a:solidFill>
                <a:latin typeface="Calibri" pitchFamily="34" charset="0"/>
                <a:ea typeface="Calibri" pitchFamily="34" charset="-122"/>
                <a:cs typeface="Calibri" pitchFamily="34" charset="-120"/>
              </a:rPr>
              <a:t> </a:t>
            </a:r>
            <a:r>
              <a:rPr lang="en-US" sz="1400" b="1" dirty="0" err="1">
                <a:solidFill>
                  <a:srgbClr val="FFFFFF"/>
                </a:solidFill>
                <a:latin typeface="Calibri" pitchFamily="34" charset="0"/>
                <a:ea typeface="Calibri" pitchFamily="34" charset="-122"/>
                <a:cs typeface="Calibri" pitchFamily="34" charset="-120"/>
              </a:rPr>
              <a:t>diện</a:t>
            </a:r>
            <a:r>
              <a:rPr lang="en-US" sz="1400" b="1" dirty="0">
                <a:solidFill>
                  <a:srgbClr val="FFFFFF"/>
                </a:solidFill>
                <a:latin typeface="Calibri" pitchFamily="34" charset="0"/>
                <a:ea typeface="Calibri" pitchFamily="34" charset="-122"/>
                <a:cs typeface="Calibri" pitchFamily="34" charset="-120"/>
              </a:rPr>
              <a:t>, </a:t>
            </a:r>
            <a:r>
              <a:rPr lang="en-US" sz="1400" b="1" dirty="0" err="1">
                <a:solidFill>
                  <a:srgbClr val="FFFFFF"/>
                </a:solidFill>
                <a:latin typeface="Calibri" pitchFamily="34" charset="0"/>
                <a:ea typeface="Calibri" pitchFamily="34" charset="-122"/>
                <a:cs typeface="Calibri" pitchFamily="34" charset="-120"/>
              </a:rPr>
              <a:t>âm</a:t>
            </a:r>
            <a:r>
              <a:rPr lang="en-US" sz="1400" b="1" dirty="0">
                <a:solidFill>
                  <a:srgbClr val="FFFFFF"/>
                </a:solidFill>
                <a:latin typeface="Calibri" pitchFamily="34" charset="0"/>
                <a:ea typeface="Calibri" pitchFamily="34" charset="-122"/>
                <a:cs typeface="Calibri" pitchFamily="34" charset="-120"/>
              </a:rPr>
              <a:t> </a:t>
            </a:r>
            <a:r>
              <a:rPr lang="en-US" sz="1400" b="1" dirty="0" err="1">
                <a:solidFill>
                  <a:srgbClr val="FFFFFF"/>
                </a:solidFill>
                <a:latin typeface="Calibri" pitchFamily="34" charset="0"/>
                <a:ea typeface="Calibri" pitchFamily="34" charset="-122"/>
                <a:cs typeface="Calibri" pitchFamily="34" charset="-120"/>
              </a:rPr>
              <a:t>thanh</a:t>
            </a:r>
            <a:endParaRPr lang="en-US" sz="1400" dirty="0"/>
          </a:p>
        </p:txBody>
      </p:sp>
      <p:sp>
        <p:nvSpPr>
          <p:cNvPr id="23" name="Text 17"/>
          <p:cNvSpPr txBox="1"/>
          <p:nvPr/>
        </p:nvSpPr>
        <p:spPr>
          <a:xfrm>
            <a:off x="9089136" y="3127248"/>
            <a:ext cx="2587752" cy="2468880"/>
          </a:xfrm>
          <a:prstGeom prst="rect">
            <a:avLst/>
          </a:prstGeom>
          <a:noFill/>
          <a:ln/>
        </p:spPr>
        <p:txBody>
          <a:bodyPr wrap="square" lIns="0" tIns="0" rIns="0" bIns="0" rtlCol="0" anchor="ctr"/>
          <a:lstStyle/>
          <a:p>
            <a:pPr marL="0" indent="0">
              <a:lnSpc>
                <a:spcPct val="125000"/>
              </a:lnSpc>
              <a:buNone/>
            </a:pPr>
            <a:r>
              <a:rPr lang="en-US" sz="1080" dirty="0">
                <a:solidFill>
                  <a:srgbClr val="A7ABB4"/>
                </a:solidFill>
                <a:latin typeface="Calibri" pitchFamily="34" charset="0"/>
                <a:ea typeface="Calibri" pitchFamily="34" charset="-122"/>
                <a:cs typeface="Calibri" pitchFamily="34" charset="-120"/>
              </a:rPr>
              <a:t>Cho phép người dùng thay đổi hình ảnh bàn cờ (Board Theme) và quân cờ (Piece Theme) </a:t>
            </a:r>
            <a:r>
              <a:rPr lang="en-US" sz="1080" dirty="0" err="1">
                <a:solidFill>
                  <a:srgbClr val="A7ABB4"/>
                </a:solidFill>
                <a:latin typeface="Calibri" pitchFamily="34" charset="0"/>
                <a:ea typeface="Calibri" pitchFamily="34" charset="-122"/>
                <a:cs typeface="Calibri" pitchFamily="34" charset="-120"/>
              </a:rPr>
              <a:t>cũng</a:t>
            </a:r>
            <a:r>
              <a:rPr lang="en-US" sz="1080" dirty="0">
                <a:solidFill>
                  <a:srgbClr val="A7ABB4"/>
                </a:solidFill>
                <a:latin typeface="Calibri" pitchFamily="34" charset="0"/>
                <a:ea typeface="Calibri" pitchFamily="34" charset="-122"/>
                <a:cs typeface="Calibri" pitchFamily="34" charset="-120"/>
              </a:rPr>
              <a:t> </a:t>
            </a:r>
            <a:r>
              <a:rPr lang="en-US" sz="1080" dirty="0" err="1">
                <a:solidFill>
                  <a:srgbClr val="A7ABB4"/>
                </a:solidFill>
                <a:latin typeface="Calibri" pitchFamily="34" charset="0"/>
                <a:ea typeface="Calibri" pitchFamily="34" charset="-122"/>
                <a:cs typeface="Calibri" pitchFamily="34" charset="-120"/>
              </a:rPr>
              <a:t>như</a:t>
            </a:r>
            <a:r>
              <a:rPr lang="en-US" sz="1080" dirty="0">
                <a:solidFill>
                  <a:srgbClr val="A7ABB4"/>
                </a:solidFill>
                <a:latin typeface="Calibri" pitchFamily="34" charset="0"/>
                <a:ea typeface="Calibri" pitchFamily="34" charset="-122"/>
                <a:cs typeface="Calibri" pitchFamily="34" charset="-120"/>
              </a:rPr>
              <a:t> </a:t>
            </a:r>
            <a:r>
              <a:rPr lang="en-US" sz="1080" dirty="0" err="1">
                <a:solidFill>
                  <a:srgbClr val="A7ABB4"/>
                </a:solidFill>
                <a:latin typeface="Calibri" pitchFamily="34" charset="0"/>
                <a:ea typeface="Calibri" pitchFamily="34" charset="-122"/>
                <a:cs typeface="Calibri" pitchFamily="34" charset="-120"/>
              </a:rPr>
              <a:t>âm</a:t>
            </a:r>
            <a:r>
              <a:rPr lang="en-US" sz="1080" dirty="0">
                <a:solidFill>
                  <a:srgbClr val="A7ABB4"/>
                </a:solidFill>
                <a:latin typeface="Calibri" pitchFamily="34" charset="0"/>
                <a:ea typeface="Calibri" pitchFamily="34" charset="-122"/>
                <a:cs typeface="Calibri" pitchFamily="34" charset="-120"/>
              </a:rPr>
              <a:t> </a:t>
            </a:r>
            <a:r>
              <a:rPr lang="en-US" sz="1080" dirty="0" err="1">
                <a:solidFill>
                  <a:srgbClr val="A7ABB4"/>
                </a:solidFill>
                <a:latin typeface="Calibri" pitchFamily="34" charset="0"/>
                <a:ea typeface="Calibri" pitchFamily="34" charset="-122"/>
                <a:cs typeface="Calibri" pitchFamily="34" charset="-120"/>
              </a:rPr>
              <a:t>thanh</a:t>
            </a:r>
            <a:r>
              <a:rPr lang="en-US" sz="1080" dirty="0">
                <a:solidFill>
                  <a:srgbClr val="A7ABB4"/>
                </a:solidFill>
                <a:latin typeface="Calibri" pitchFamily="34" charset="0"/>
                <a:ea typeface="Calibri" pitchFamily="34" charset="-122"/>
                <a:cs typeface="Calibri" pitchFamily="34" charset="-120"/>
              </a:rPr>
              <a:t> </a:t>
            </a:r>
            <a:r>
              <a:rPr lang="en-US" sz="1080" dirty="0" err="1">
                <a:solidFill>
                  <a:srgbClr val="A7ABB4"/>
                </a:solidFill>
                <a:latin typeface="Calibri" pitchFamily="34" charset="0"/>
                <a:ea typeface="Calibri" pitchFamily="34" charset="-122"/>
                <a:cs typeface="Calibri" pitchFamily="34" charset="-120"/>
              </a:rPr>
              <a:t>ứng</a:t>
            </a:r>
            <a:r>
              <a:rPr lang="en-US" sz="1080" dirty="0">
                <a:solidFill>
                  <a:srgbClr val="A7ABB4"/>
                </a:solidFill>
                <a:latin typeface="Calibri" pitchFamily="34" charset="0"/>
                <a:ea typeface="Calibri" pitchFamily="34" charset="-122"/>
                <a:cs typeface="Calibri" pitchFamily="34" charset="-120"/>
              </a:rPr>
              <a:t> </a:t>
            </a:r>
            <a:r>
              <a:rPr lang="en-US" sz="1080" dirty="0" err="1">
                <a:solidFill>
                  <a:srgbClr val="A7ABB4"/>
                </a:solidFill>
                <a:latin typeface="Calibri" pitchFamily="34" charset="0"/>
                <a:ea typeface="Calibri" pitchFamily="34" charset="-122"/>
                <a:cs typeface="Calibri" pitchFamily="34" charset="-120"/>
              </a:rPr>
              <a:t>dụng</a:t>
            </a:r>
            <a:endParaRPr lang="en-US" sz="1080" dirty="0"/>
          </a:p>
        </p:txBody>
      </p:sp>
      <p:sp>
        <p:nvSpPr>
          <p:cNvPr id="24" name="Text 18"/>
          <p:cNvSpPr txBox="1"/>
          <p:nvPr/>
        </p:nvSpPr>
        <p:spPr>
          <a:xfrm>
            <a:off x="457200" y="6528816"/>
            <a:ext cx="6400800" cy="274320"/>
          </a:xfrm>
          <a:prstGeom prst="rect">
            <a:avLst/>
          </a:prstGeom>
          <a:noFill/>
          <a:ln/>
        </p:spPr>
        <p:txBody>
          <a:bodyPr wrap="square" lIns="0" tIns="0" rIns="0" bIns="0" rtlCol="0" anchor="ctr"/>
          <a:lstStyle/>
          <a:p>
            <a:pPr marL="0" indent="0" algn="l">
              <a:buNone/>
            </a:pPr>
            <a:r>
              <a:rPr lang="en-US" sz="900" kern="0" spc="100" dirty="0">
                <a:solidFill>
                  <a:srgbClr val="A7ABB4"/>
                </a:solidFill>
                <a:latin typeface="Calibri" pitchFamily="34" charset="0"/>
                <a:ea typeface="Calibri" pitchFamily="34" charset="-122"/>
                <a:cs typeface="Calibri" pitchFamily="34" charset="-120"/>
              </a:rPr>
              <a:t>ỨNG DỤNG CHESS GAME TRÊN ANDROID</a:t>
            </a:r>
            <a:endParaRPr lang="en-US" sz="900" dirty="0"/>
          </a:p>
        </p:txBody>
      </p:sp>
      <p:sp>
        <p:nvSpPr>
          <p:cNvPr id="25" name="Text 19"/>
          <p:cNvSpPr txBox="1"/>
          <p:nvPr/>
        </p:nvSpPr>
        <p:spPr>
          <a:xfrm>
            <a:off x="11338560" y="6528816"/>
            <a:ext cx="457200" cy="274320"/>
          </a:xfrm>
          <a:prstGeom prst="rect">
            <a:avLst/>
          </a:prstGeom>
          <a:noFill/>
          <a:ln/>
        </p:spPr>
        <p:txBody>
          <a:bodyPr wrap="square" lIns="0" tIns="0" rIns="0" bIns="0" rtlCol="0" anchor="ctr"/>
          <a:lstStyle/>
          <a:p>
            <a:pPr marL="0" indent="0" algn="r">
              <a:buNone/>
            </a:pPr>
            <a:r>
              <a:rPr lang="en-US" sz="900" dirty="0">
                <a:solidFill>
                  <a:srgbClr val="A7ABB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2025"/>
        </a:solidFill>
        <a:effectLst/>
      </p:bgPr>
    </p:bg>
    <p:spTree>
      <p:nvGrpSpPr>
        <p:cNvPr id="1" name=""/>
        <p:cNvGrpSpPr/>
        <p:nvPr/>
      </p:nvGrpSpPr>
      <p:grpSpPr>
        <a:xfrm>
          <a:off x="0" y="0"/>
          <a:ext cx="0" cy="0"/>
          <a:chOff x="0" y="0"/>
          <a:chExt cx="0" cy="0"/>
        </a:xfrm>
      </p:grpSpPr>
      <p:pic>
        <p:nvPicPr>
          <p:cNvPr id="2" name="Image 0" descr="/home/claude/unpacked/ppt/media/image3.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F2025">
              <a:alpha val="55000"/>
            </a:srgbClr>
          </a:solidFill>
          <a:ln/>
        </p:spPr>
        <p:txBody>
          <a:bodyPr/>
          <a:lstStyle/>
          <a:p>
            <a:endParaRPr lang="en-US"/>
          </a:p>
        </p:txBody>
      </p:sp>
      <p:pic>
        <p:nvPicPr>
          <p:cNvPr id="4" name="Image 1" descr="/home/claude/icons/chess.png"/>
          <p:cNvPicPr>
            <a:picLocks noChangeAspect="1"/>
          </p:cNvPicPr>
          <p:nvPr/>
        </p:nvPicPr>
        <p:blipFill>
          <a:blip r:embed="rId4"/>
          <a:stretch>
            <a:fillRect/>
          </a:stretch>
        </p:blipFill>
        <p:spPr>
          <a:xfrm>
            <a:off x="822960" y="2331720"/>
            <a:ext cx="640080" cy="640080"/>
          </a:xfrm>
          <a:prstGeom prst="rect">
            <a:avLst/>
          </a:prstGeom>
        </p:spPr>
      </p:pic>
      <p:sp>
        <p:nvSpPr>
          <p:cNvPr id="5" name="Text 1"/>
          <p:cNvSpPr txBox="1"/>
          <p:nvPr/>
        </p:nvSpPr>
        <p:spPr>
          <a:xfrm>
            <a:off x="777240" y="3063240"/>
            <a:ext cx="914400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Cảm ơn đã theo dõi</a:t>
            </a:r>
            <a:endParaRPr lang="en-US" sz="4600" dirty="0"/>
          </a:p>
        </p:txBody>
      </p:sp>
      <p:pic>
        <p:nvPicPr>
          <p:cNvPr id="8" name="Picture 7" descr="SamsungVietnam RnD | Hanoi">
            <a:extLst>
              <a:ext uri="{FF2B5EF4-FFF2-40B4-BE49-F238E27FC236}">
                <a16:creationId xmlns:a16="http://schemas.microsoft.com/office/drawing/2014/main" id="{EC32C96C-3C19-FD4C-7FF3-8CC7EBD2DE23}"/>
              </a:ext>
            </a:extLst>
          </p:cNvPr>
          <p:cNvPicPr>
            <a:picLocks noChangeAspect="1"/>
          </p:cNvPicPr>
          <p:nvPr/>
        </p:nvPicPr>
        <p:blipFill>
          <a:blip r:embed="rId5"/>
          <a:stretch>
            <a:fillRect/>
          </a:stretch>
        </p:blipFill>
        <p:spPr>
          <a:xfrm>
            <a:off x="822960" y="4069080"/>
            <a:ext cx="3882045" cy="22564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1434</Words>
  <Application>Microsoft Office PowerPoint</Application>
  <PresentationFormat>Widescreen</PresentationFormat>
  <Paragraphs>190</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Ngụy Quang Hùng</cp:lastModifiedBy>
  <cp:revision>2</cp:revision>
  <dcterms:created xsi:type="dcterms:W3CDTF">2026-08-26T11:46:15Z</dcterms:created>
  <dcterms:modified xsi:type="dcterms:W3CDTF">2026-08-26T12:43:14Z</dcterms:modified>
</cp:coreProperties>
</file>